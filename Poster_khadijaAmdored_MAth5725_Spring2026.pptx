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48" r:id="rId1"/>
  </p:sldMasterIdLst>
  <p:notesMasterIdLst>
    <p:notesMasterId r:id="rId3"/>
  </p:notesMasterIdLst>
  <p:handoutMasterIdLst>
    <p:handoutMasterId r:id="rId4"/>
  </p:handoutMasterIdLst>
  <p:sldIdLst>
    <p:sldId id="256" r:id="rId2"/>
  </p:sldIdLst>
  <p:sldSz cx="43891200" cy="32918400"/>
  <p:notesSz cx="9239250" cy="11982450"/>
  <p:embeddedFontLst>
    <p:embeddedFont>
      <p:font typeface="Cambria Math" panose="02040503050406030204" pitchFamily="18" charset="0"/>
      <p:regular r:id="rId5"/>
    </p:embeddedFont>
    <p:embeddedFont>
      <p:font typeface="Quattrocento" panose="02020502030000000404" pitchFamily="18" charset="0"/>
      <p:regular r:id="rId6"/>
      <p:bold r:id="rId7"/>
    </p:embeddedFont>
    <p:embeddedFont>
      <p:font typeface="Quattrocento Sans" panose="020B0502050000020003" pitchFamily="34" charset="0"/>
      <p:regular r:id="rId8"/>
      <p:bold r:id="rId9"/>
      <p:italic r:id="rId10"/>
      <p:boldItalic r:id="rId11"/>
    </p:embeddedFont>
  </p:embeddedFontLst>
  <p:custDataLst>
    <p:tags r:id="rId12"/>
  </p:custDataLst>
  <p:defaultTex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p:defaultTextStyle>
  <p:extLst>
    <p:ext uri="{EFAFB233-063F-42B5-8137-9DF3F51BA10A}">
      <p15:sldGuideLst xmlns:p15="http://schemas.microsoft.com/office/powerpoint/2012/main">
        <p15:guide id="1" orient="horz" pos="11088">
          <p15:clr>
            <a:srgbClr val="A4A3A4"/>
          </p15:clr>
        </p15:guide>
        <p15:guide id="2" pos="13440">
          <p15:clr>
            <a:srgbClr val="A4A3A4"/>
          </p15:clr>
        </p15:guide>
      </p15:sldGuideLst>
    </p:ext>
    <p:ext uri="{2D200454-40CA-4A62-9FC3-DE9A4176ACB9}">
      <p15:notesGuideLst xmlns:p15="http://schemas.microsoft.com/office/powerpoint/2012/main">
        <p15:guide id="1" orient="horz" pos="3774">
          <p15:clr>
            <a:srgbClr val="A4A3A4"/>
          </p15:clr>
        </p15:guide>
        <p15:guide id="2" pos="290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9C6B29-E6AF-43AF-948C-7ED59D0658A3}" v="87" dt="2026-05-01T20:41:23.5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3654" autoAdjust="0"/>
  </p:normalViewPr>
  <p:slideViewPr>
    <p:cSldViewPr>
      <p:cViewPr>
        <p:scale>
          <a:sx n="50" d="100"/>
          <a:sy n="50" d="100"/>
        </p:scale>
        <p:origin x="-8190" y="-7260"/>
      </p:cViewPr>
      <p:guideLst>
        <p:guide orient="horz" pos="11088"/>
        <p:guide pos="134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73" d="100"/>
          <a:sy n="73" d="100"/>
        </p:scale>
        <p:origin x="3984" y="72"/>
      </p:cViewPr>
      <p:guideLst>
        <p:guide orient="horz" pos="3774"/>
        <p:guide pos="29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font" Target="fonts/font3.fntdata"/><Relationship Id="rId12" Type="http://schemas.openxmlformats.org/officeDocument/2006/relationships/tags" Target="tags/tag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theme" Target="theme/theme1.xml"/><Relationship Id="rId10" Type="http://schemas.openxmlformats.org/officeDocument/2006/relationships/font" Target="fonts/font6.fntdata"/><Relationship Id="rId4" Type="http://schemas.openxmlformats.org/officeDocument/2006/relationships/handoutMaster" Target="handoutMasters/handoutMaster1.xml"/><Relationship Id="rId9" Type="http://schemas.openxmlformats.org/officeDocument/2006/relationships/font" Target="fonts/font5.fntdata"/><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dored, Khadija" userId="bb59755f-30d6-4799-8062-7885ca5ec016" providerId="ADAL" clId="{2F9A9883-65AA-47E1-B219-6C16B6601ADE}"/>
    <pc:docChg chg="undo custSel modSld">
      <pc:chgData name="Amdored, Khadija" userId="bb59755f-30d6-4799-8062-7885ca5ec016" providerId="ADAL" clId="{2F9A9883-65AA-47E1-B219-6C16B6601ADE}" dt="2026-05-01T20:41:23.582" v="1714" actId="164"/>
      <pc:docMkLst>
        <pc:docMk/>
      </pc:docMkLst>
      <pc:sldChg chg="addSp delSp modSp mod">
        <pc:chgData name="Amdored, Khadija" userId="bb59755f-30d6-4799-8062-7885ca5ec016" providerId="ADAL" clId="{2F9A9883-65AA-47E1-B219-6C16B6601ADE}" dt="2026-05-01T20:41:23.582" v="1714" actId="164"/>
        <pc:sldMkLst>
          <pc:docMk/>
          <pc:sldMk cId="0" sldId="256"/>
        </pc:sldMkLst>
        <pc:spChg chg="add del mod">
          <ac:chgData name="Amdored, Khadija" userId="bb59755f-30d6-4799-8062-7885ca5ec016" providerId="ADAL" clId="{2F9A9883-65AA-47E1-B219-6C16B6601ADE}" dt="2026-04-30T03:08:48.723" v="839" actId="1035"/>
          <ac:spMkLst>
            <pc:docMk/>
            <pc:sldMk cId="0" sldId="256"/>
            <ac:spMk id="2" creationId="{6E1480F0-EDD2-7390-8689-4E0E8867F6D6}"/>
          </ac:spMkLst>
        </pc:spChg>
        <pc:spChg chg="add del mod">
          <ac:chgData name="Amdored, Khadija" userId="bb59755f-30d6-4799-8062-7885ca5ec016" providerId="ADAL" clId="{2F9A9883-65AA-47E1-B219-6C16B6601ADE}" dt="2026-05-01T20:14:44.338" v="1509" actId="207"/>
          <ac:spMkLst>
            <pc:docMk/>
            <pc:sldMk cId="0" sldId="256"/>
            <ac:spMk id="3" creationId="{F4C495F6-34EB-90E2-0BB8-ABA46BCD82A9}"/>
          </ac:spMkLst>
        </pc:spChg>
        <pc:spChg chg="add mod">
          <ac:chgData name="Amdored, Khadija" userId="bb59755f-30d6-4799-8062-7885ca5ec016" providerId="ADAL" clId="{2F9A9883-65AA-47E1-B219-6C16B6601ADE}" dt="2026-04-30T03:08:48.723" v="839" actId="1035"/>
          <ac:spMkLst>
            <pc:docMk/>
            <pc:sldMk cId="0" sldId="256"/>
            <ac:spMk id="4" creationId="{39BF1848-614D-58FD-E26E-4D61E711199F}"/>
          </ac:spMkLst>
        </pc:spChg>
        <pc:spChg chg="add mod">
          <ac:chgData name="Amdored, Khadija" userId="bb59755f-30d6-4799-8062-7885ca5ec016" providerId="ADAL" clId="{2F9A9883-65AA-47E1-B219-6C16B6601ADE}" dt="2026-05-01T20:40:58.645" v="1712" actId="164"/>
          <ac:spMkLst>
            <pc:docMk/>
            <pc:sldMk cId="0" sldId="256"/>
            <ac:spMk id="5" creationId="{28C8D112-96DB-6053-7C25-83F73007BE9D}"/>
          </ac:spMkLst>
        </pc:spChg>
        <pc:spChg chg="add del">
          <ac:chgData name="Amdored, Khadija" userId="bb59755f-30d6-4799-8062-7885ca5ec016" providerId="ADAL" clId="{2F9A9883-65AA-47E1-B219-6C16B6601ADE}" dt="2026-05-01T20:12:10.286" v="1496" actId="478"/>
          <ac:spMkLst>
            <pc:docMk/>
            <pc:sldMk cId="0" sldId="256"/>
            <ac:spMk id="7" creationId="{C881DC36-5879-A4AE-56C9-EEFAED79225F}"/>
          </ac:spMkLst>
        </pc:spChg>
        <pc:spChg chg="add del mod">
          <ac:chgData name="Amdored, Khadija" userId="bb59755f-30d6-4799-8062-7885ca5ec016" providerId="ADAL" clId="{2F9A9883-65AA-47E1-B219-6C16B6601ADE}" dt="2026-05-01T20:12:04.676" v="1495" actId="478"/>
          <ac:spMkLst>
            <pc:docMk/>
            <pc:sldMk cId="0" sldId="256"/>
            <ac:spMk id="8" creationId="{AC2C5881-45C4-1EE3-3DE2-B54FFDF222E4}"/>
          </ac:spMkLst>
        </pc:spChg>
        <pc:spChg chg="del">
          <ac:chgData name="Amdored, Khadija" userId="bb59755f-30d6-4799-8062-7885ca5ec016" providerId="ADAL" clId="{2F9A9883-65AA-47E1-B219-6C16B6601ADE}" dt="2026-05-01T20:12:20.037" v="1497" actId="478"/>
          <ac:spMkLst>
            <pc:docMk/>
            <pc:sldMk cId="0" sldId="256"/>
            <ac:spMk id="9" creationId="{17689224-7B67-12E5-A07F-EDA97FCB308A}"/>
          </ac:spMkLst>
        </pc:spChg>
        <pc:spChg chg="del mod">
          <ac:chgData name="Amdored, Khadija" userId="bb59755f-30d6-4799-8062-7885ca5ec016" providerId="ADAL" clId="{2F9A9883-65AA-47E1-B219-6C16B6601ADE}" dt="2026-04-30T03:02:46.453" v="775" actId="478"/>
          <ac:spMkLst>
            <pc:docMk/>
            <pc:sldMk cId="0" sldId="256"/>
            <ac:spMk id="10" creationId="{748956A0-7809-0D5C-177F-80D7DA7B4F84}"/>
          </ac:spMkLst>
        </pc:spChg>
        <pc:spChg chg="add del mod">
          <ac:chgData name="Amdored, Khadija" userId="bb59755f-30d6-4799-8062-7885ca5ec016" providerId="ADAL" clId="{2F9A9883-65AA-47E1-B219-6C16B6601ADE}" dt="2026-05-01T20:12:23.217" v="1498" actId="478"/>
          <ac:spMkLst>
            <pc:docMk/>
            <pc:sldMk cId="0" sldId="256"/>
            <ac:spMk id="11" creationId="{0FC75745-B2DB-F3A9-46DF-43EB1BAF88FA}"/>
          </ac:spMkLst>
        </pc:spChg>
        <pc:spChg chg="add del mod">
          <ac:chgData name="Amdored, Khadija" userId="bb59755f-30d6-4799-8062-7885ca5ec016" providerId="ADAL" clId="{2F9A9883-65AA-47E1-B219-6C16B6601ADE}" dt="2026-04-30T01:52:50.118" v="535" actId="478"/>
          <ac:spMkLst>
            <pc:docMk/>
            <pc:sldMk cId="0" sldId="256"/>
            <ac:spMk id="13" creationId="{83DFE1AE-F319-7F40-1BFD-814D4E7DD021}"/>
          </ac:spMkLst>
        </pc:spChg>
        <pc:spChg chg="add mod">
          <ac:chgData name="Amdored, Khadija" userId="bb59755f-30d6-4799-8062-7885ca5ec016" providerId="ADAL" clId="{2F9A9883-65AA-47E1-B219-6C16B6601ADE}" dt="2026-04-30T03:31:06.587" v="966" actId="164"/>
          <ac:spMkLst>
            <pc:docMk/>
            <pc:sldMk cId="0" sldId="256"/>
            <ac:spMk id="14" creationId="{27CA813D-3E48-85D0-A2E5-239663B04C9D}"/>
          </ac:spMkLst>
        </pc:spChg>
        <pc:spChg chg="add mod">
          <ac:chgData name="Amdored, Khadija" userId="bb59755f-30d6-4799-8062-7885ca5ec016" providerId="ADAL" clId="{2F9A9883-65AA-47E1-B219-6C16B6601ADE}" dt="2026-04-30T03:34:02.578" v="1001" actId="164"/>
          <ac:spMkLst>
            <pc:docMk/>
            <pc:sldMk cId="0" sldId="256"/>
            <ac:spMk id="15" creationId="{A7B78241-CFFE-6F49-2503-ACCAB5913CE2}"/>
          </ac:spMkLst>
        </pc:spChg>
        <pc:spChg chg="del">
          <ac:chgData name="Amdored, Khadija" userId="bb59755f-30d6-4799-8062-7885ca5ec016" providerId="ADAL" clId="{2F9A9883-65AA-47E1-B219-6C16B6601ADE}" dt="2026-04-30T03:02:50.586" v="777" actId="478"/>
          <ac:spMkLst>
            <pc:docMk/>
            <pc:sldMk cId="0" sldId="256"/>
            <ac:spMk id="16" creationId="{7411A7F3-5162-2D5A-D42B-15AA0C599D89}"/>
          </ac:spMkLst>
        </pc:spChg>
        <pc:spChg chg="del mod">
          <ac:chgData name="Amdored, Khadija" userId="bb59755f-30d6-4799-8062-7885ca5ec016" providerId="ADAL" clId="{2F9A9883-65AA-47E1-B219-6C16B6601ADE}" dt="2026-05-01T20:12:02.831" v="1494" actId="478"/>
          <ac:spMkLst>
            <pc:docMk/>
            <pc:sldMk cId="0" sldId="256"/>
            <ac:spMk id="17" creationId="{AB91D05E-C142-AFFC-88B5-0B37E7CD0186}"/>
          </ac:spMkLst>
        </pc:spChg>
        <pc:spChg chg="add del mod">
          <ac:chgData name="Amdored, Khadija" userId="bb59755f-30d6-4799-8062-7885ca5ec016" providerId="ADAL" clId="{2F9A9883-65AA-47E1-B219-6C16B6601ADE}" dt="2026-04-30T03:02:48.055" v="776" actId="478"/>
          <ac:spMkLst>
            <pc:docMk/>
            <pc:sldMk cId="0" sldId="256"/>
            <ac:spMk id="20" creationId="{9332F137-85E1-1101-2635-34CE7CFCAB13}"/>
          </ac:spMkLst>
        </pc:spChg>
        <pc:spChg chg="add del mod">
          <ac:chgData name="Amdored, Khadija" userId="bb59755f-30d6-4799-8062-7885ca5ec016" providerId="ADAL" clId="{2F9A9883-65AA-47E1-B219-6C16B6601ADE}" dt="2026-04-30T03:02:39.957" v="772" actId="478"/>
          <ac:spMkLst>
            <pc:docMk/>
            <pc:sldMk cId="0" sldId="256"/>
            <ac:spMk id="21" creationId="{4AC5538D-A034-4775-D168-84FA1EBCE146}"/>
          </ac:spMkLst>
        </pc:spChg>
        <pc:spChg chg="add mod">
          <ac:chgData name="Amdored, Khadija" userId="bb59755f-30d6-4799-8062-7885ca5ec016" providerId="ADAL" clId="{2F9A9883-65AA-47E1-B219-6C16B6601ADE}" dt="2026-04-30T03:11:52.190" v="938" actId="14100"/>
          <ac:spMkLst>
            <pc:docMk/>
            <pc:sldMk cId="0" sldId="256"/>
            <ac:spMk id="23" creationId="{0BBC2049-E8B0-61A8-0F2A-AA4040CE7437}"/>
          </ac:spMkLst>
        </pc:spChg>
        <pc:spChg chg="add mod">
          <ac:chgData name="Amdored, Khadija" userId="bb59755f-30d6-4799-8062-7885ca5ec016" providerId="ADAL" clId="{2F9A9883-65AA-47E1-B219-6C16B6601ADE}" dt="2026-04-30T08:35:20.488" v="1465" actId="207"/>
          <ac:spMkLst>
            <pc:docMk/>
            <pc:sldMk cId="0" sldId="256"/>
            <ac:spMk id="24" creationId="{7F9C11DA-3E41-27F0-69A0-DA714CCF9B2A}"/>
          </ac:spMkLst>
        </pc:spChg>
        <pc:spChg chg="add mod">
          <ac:chgData name="Amdored, Khadija" userId="bb59755f-30d6-4799-8062-7885ca5ec016" providerId="ADAL" clId="{2F9A9883-65AA-47E1-B219-6C16B6601ADE}" dt="2026-04-30T03:11:45.707" v="937" actId="113"/>
          <ac:spMkLst>
            <pc:docMk/>
            <pc:sldMk cId="0" sldId="256"/>
            <ac:spMk id="25" creationId="{C53A4F6A-2BCD-446F-2AA7-D54349221F56}"/>
          </ac:spMkLst>
        </pc:spChg>
        <pc:spChg chg="add del">
          <ac:chgData name="Amdored, Khadija" userId="bb59755f-30d6-4799-8062-7885ca5ec016" providerId="ADAL" clId="{2F9A9883-65AA-47E1-B219-6C16B6601ADE}" dt="2026-05-01T20:11:45.605" v="1490" actId="478"/>
          <ac:spMkLst>
            <pc:docMk/>
            <pc:sldMk cId="0" sldId="256"/>
            <ac:spMk id="28" creationId="{00000000-0000-0000-0000-000000000000}"/>
          </ac:spMkLst>
        </pc:spChg>
        <pc:spChg chg="add mod">
          <ac:chgData name="Amdored, Khadija" userId="bb59755f-30d6-4799-8062-7885ca5ec016" providerId="ADAL" clId="{2F9A9883-65AA-47E1-B219-6C16B6601ADE}" dt="2026-05-01T20:39:51.194" v="1708" actId="164"/>
          <ac:spMkLst>
            <pc:docMk/>
            <pc:sldMk cId="0" sldId="256"/>
            <ac:spMk id="32" creationId="{B7E00574-4114-4C97-5D65-10519145ABD2}"/>
          </ac:spMkLst>
        </pc:spChg>
        <pc:spChg chg="add mod">
          <ac:chgData name="Amdored, Khadija" userId="bb59755f-30d6-4799-8062-7885ca5ec016" providerId="ADAL" clId="{2F9A9883-65AA-47E1-B219-6C16B6601ADE}" dt="2026-05-01T20:39:58.501" v="1709" actId="164"/>
          <ac:spMkLst>
            <pc:docMk/>
            <pc:sldMk cId="0" sldId="256"/>
            <ac:spMk id="33" creationId="{11362DC1-1E43-7DF1-0FCF-477D3EBC0855}"/>
          </ac:spMkLst>
        </pc:spChg>
        <pc:spChg chg="add mod">
          <ac:chgData name="Amdored, Khadija" userId="bb59755f-30d6-4799-8062-7885ca5ec016" providerId="ADAL" clId="{2F9A9883-65AA-47E1-B219-6C16B6601ADE}" dt="2026-05-01T20:40:04.138" v="1710" actId="164"/>
          <ac:spMkLst>
            <pc:docMk/>
            <pc:sldMk cId="0" sldId="256"/>
            <ac:spMk id="34" creationId="{13FF278B-2C51-2028-83F9-17EA1DF2A0B8}"/>
          </ac:spMkLst>
        </pc:spChg>
        <pc:spChg chg="add mod">
          <ac:chgData name="Amdored, Khadija" userId="bb59755f-30d6-4799-8062-7885ca5ec016" providerId="ADAL" clId="{2F9A9883-65AA-47E1-B219-6C16B6601ADE}" dt="2026-05-01T20:40:48.553" v="1711" actId="164"/>
          <ac:spMkLst>
            <pc:docMk/>
            <pc:sldMk cId="0" sldId="256"/>
            <ac:spMk id="40" creationId="{27933191-3030-0B3A-6782-F08BE4B07C16}"/>
          </ac:spMkLst>
        </pc:spChg>
        <pc:spChg chg="add mod">
          <ac:chgData name="Amdored, Khadija" userId="bb59755f-30d6-4799-8062-7885ca5ec016" providerId="ADAL" clId="{2F9A9883-65AA-47E1-B219-6C16B6601ADE}" dt="2026-04-30T08:10:41.941" v="1259"/>
          <ac:spMkLst>
            <pc:docMk/>
            <pc:sldMk cId="0" sldId="256"/>
            <ac:spMk id="41" creationId="{2D85D3AE-A732-B280-8822-7CFE972451B3}"/>
          </ac:spMkLst>
        </pc:spChg>
        <pc:spChg chg="add mod">
          <ac:chgData name="Amdored, Khadija" userId="bb59755f-30d6-4799-8062-7885ca5ec016" providerId="ADAL" clId="{2F9A9883-65AA-47E1-B219-6C16B6601ADE}" dt="2026-04-30T08:10:41.941" v="1259"/>
          <ac:spMkLst>
            <pc:docMk/>
            <pc:sldMk cId="0" sldId="256"/>
            <ac:spMk id="42" creationId="{67DF1953-417D-B1A1-4E18-5BCBA8CCD4AD}"/>
          </ac:spMkLst>
        </pc:spChg>
        <pc:spChg chg="add del mod">
          <ac:chgData name="Amdored, Khadija" userId="bb59755f-30d6-4799-8062-7885ca5ec016" providerId="ADAL" clId="{2F9A9883-65AA-47E1-B219-6C16B6601ADE}" dt="2026-04-30T08:21:21.293" v="1313" actId="21"/>
          <ac:spMkLst>
            <pc:docMk/>
            <pc:sldMk cId="0" sldId="256"/>
            <ac:spMk id="44" creationId="{67E0A729-4617-33E1-9D5D-4EC656AAA624}"/>
          </ac:spMkLst>
        </pc:spChg>
        <pc:spChg chg="add mod">
          <ac:chgData name="Amdored, Khadija" userId="bb59755f-30d6-4799-8062-7885ca5ec016" providerId="ADAL" clId="{2F9A9883-65AA-47E1-B219-6C16B6601ADE}" dt="2026-04-30T08:18:01.307" v="1297"/>
          <ac:spMkLst>
            <pc:docMk/>
            <pc:sldMk cId="0" sldId="256"/>
            <ac:spMk id="45" creationId="{142EE0D3-0923-1C94-2317-E552A8FC05E5}"/>
          </ac:spMkLst>
        </pc:spChg>
        <pc:spChg chg="add mod">
          <ac:chgData name="Amdored, Khadija" userId="bb59755f-30d6-4799-8062-7885ca5ec016" providerId="ADAL" clId="{2F9A9883-65AA-47E1-B219-6C16B6601ADE}" dt="2026-04-30T08:18:01.307" v="1297"/>
          <ac:spMkLst>
            <pc:docMk/>
            <pc:sldMk cId="0" sldId="256"/>
            <ac:spMk id="46" creationId="{FAC9A146-16D6-BD37-E514-71D61717E06D}"/>
          </ac:spMkLst>
        </pc:spChg>
        <pc:spChg chg="add mod">
          <ac:chgData name="Amdored, Khadija" userId="bb59755f-30d6-4799-8062-7885ca5ec016" providerId="ADAL" clId="{2F9A9883-65AA-47E1-B219-6C16B6601ADE}" dt="2026-04-30T08:18:42.880" v="1299"/>
          <ac:spMkLst>
            <pc:docMk/>
            <pc:sldMk cId="0" sldId="256"/>
            <ac:spMk id="47" creationId="{E530C662-591D-151E-DCC2-3097F273CB5F}"/>
          </ac:spMkLst>
        </pc:spChg>
        <pc:spChg chg="add mod">
          <ac:chgData name="Amdored, Khadija" userId="bb59755f-30d6-4799-8062-7885ca5ec016" providerId="ADAL" clId="{2F9A9883-65AA-47E1-B219-6C16B6601ADE}" dt="2026-04-30T08:18:42.880" v="1299"/>
          <ac:spMkLst>
            <pc:docMk/>
            <pc:sldMk cId="0" sldId="256"/>
            <ac:spMk id="48" creationId="{D096652A-4A0E-EB3C-63ED-57397D0CB2A8}"/>
          </ac:spMkLst>
        </pc:spChg>
        <pc:spChg chg="add mod">
          <ac:chgData name="Amdored, Khadija" userId="bb59755f-30d6-4799-8062-7885ca5ec016" providerId="ADAL" clId="{2F9A9883-65AA-47E1-B219-6C16B6601ADE}" dt="2026-05-01T20:41:18.706" v="1713" actId="164"/>
          <ac:spMkLst>
            <pc:docMk/>
            <pc:sldMk cId="0" sldId="256"/>
            <ac:spMk id="50" creationId="{67E0A729-4617-33E1-9D5D-4EC656AAA624}"/>
          </ac:spMkLst>
        </pc:spChg>
        <pc:spChg chg="add mod">
          <ac:chgData name="Amdored, Khadija" userId="bb59755f-30d6-4799-8062-7885ca5ec016" providerId="ADAL" clId="{2F9A9883-65AA-47E1-B219-6C16B6601ADE}" dt="2026-05-01T20:41:23.582" v="1714" actId="164"/>
          <ac:spMkLst>
            <pc:docMk/>
            <pc:sldMk cId="0" sldId="256"/>
            <ac:spMk id="51" creationId="{917A5ABA-CC05-7F7C-B999-EA99070B7972}"/>
          </ac:spMkLst>
        </pc:spChg>
        <pc:spChg chg="add mod">
          <ac:chgData name="Amdored, Khadija" userId="bb59755f-30d6-4799-8062-7885ca5ec016" providerId="ADAL" clId="{2F9A9883-65AA-47E1-B219-6C16B6601ADE}" dt="2026-04-30T08:31:54.360" v="1431" actId="14100"/>
          <ac:spMkLst>
            <pc:docMk/>
            <pc:sldMk cId="0" sldId="256"/>
            <ac:spMk id="52" creationId="{29721A01-47DC-93E7-38E9-4CD3AA5B8207}"/>
          </ac:spMkLst>
        </pc:spChg>
        <pc:spChg chg="add mod">
          <ac:chgData name="Amdored, Khadija" userId="bb59755f-30d6-4799-8062-7885ca5ec016" providerId="ADAL" clId="{2F9A9883-65AA-47E1-B219-6C16B6601ADE}" dt="2026-05-01T20:34:08.252" v="1694" actId="123"/>
          <ac:spMkLst>
            <pc:docMk/>
            <pc:sldMk cId="0" sldId="256"/>
            <ac:spMk id="53" creationId="{60C2B8FE-ED6A-1C53-57F0-8894697F7EB4}"/>
          </ac:spMkLst>
        </pc:spChg>
        <pc:spChg chg="add mod">
          <ac:chgData name="Amdored, Khadija" userId="bb59755f-30d6-4799-8062-7885ca5ec016" providerId="ADAL" clId="{2F9A9883-65AA-47E1-B219-6C16B6601ADE}" dt="2026-04-30T08:32:04.601" v="1432" actId="207"/>
          <ac:spMkLst>
            <pc:docMk/>
            <pc:sldMk cId="0" sldId="256"/>
            <ac:spMk id="54" creationId="{BE4C6132-B2BC-076C-0063-D5FFD1AAD6D4}"/>
          </ac:spMkLst>
        </pc:spChg>
        <pc:spChg chg="mod">
          <ac:chgData name="Amdored, Khadija" userId="bb59755f-30d6-4799-8062-7885ca5ec016" providerId="ADAL" clId="{2F9A9883-65AA-47E1-B219-6C16B6601ADE}" dt="2026-04-30T00:15:44.320" v="74" actId="1076"/>
          <ac:spMkLst>
            <pc:docMk/>
            <pc:sldMk cId="0" sldId="256"/>
            <ac:spMk id="70" creationId="{425621FB-070F-446E-BA36-4A66EBF8DEF2}"/>
          </ac:spMkLst>
        </pc:spChg>
        <pc:spChg chg="mod">
          <ac:chgData name="Amdored, Khadija" userId="bb59755f-30d6-4799-8062-7885ca5ec016" providerId="ADAL" clId="{2F9A9883-65AA-47E1-B219-6C16B6601ADE}" dt="2026-05-01T20:11:00.061" v="1488" actId="113"/>
          <ac:spMkLst>
            <pc:docMk/>
            <pc:sldMk cId="0" sldId="256"/>
            <ac:spMk id="71" creationId="{3A3E55C8-5130-4258-80B1-064CE3FDB621}"/>
          </ac:spMkLst>
        </pc:spChg>
        <pc:spChg chg="mod">
          <ac:chgData name="Amdored, Khadija" userId="bb59755f-30d6-4799-8062-7885ca5ec016" providerId="ADAL" clId="{2F9A9883-65AA-47E1-B219-6C16B6601ADE}" dt="2026-04-30T00:44:09.916" v="155" actId="123"/>
          <ac:spMkLst>
            <pc:docMk/>
            <pc:sldMk cId="0" sldId="256"/>
            <ac:spMk id="73" creationId="{D5A32123-7974-4A0F-B8DF-6C82FB22F596}"/>
          </ac:spMkLst>
        </pc:spChg>
        <pc:spChg chg="mod">
          <ac:chgData name="Amdored, Khadija" userId="bb59755f-30d6-4799-8062-7885ca5ec016" providerId="ADAL" clId="{2F9A9883-65AA-47E1-B219-6C16B6601ADE}" dt="2026-04-30T08:34:46.506" v="1463" actId="207"/>
          <ac:spMkLst>
            <pc:docMk/>
            <pc:sldMk cId="0" sldId="256"/>
            <ac:spMk id="74" creationId="{4EDA12B6-07B5-44F9-8F8B-E1BE66469DB6}"/>
          </ac:spMkLst>
        </pc:spChg>
        <pc:spChg chg="mod">
          <ac:chgData name="Amdored, Khadija" userId="bb59755f-30d6-4799-8062-7885ca5ec016" providerId="ADAL" clId="{2F9A9883-65AA-47E1-B219-6C16B6601ADE}" dt="2026-04-30T00:44:54.527" v="156" actId="14100"/>
          <ac:spMkLst>
            <pc:docMk/>
            <pc:sldMk cId="0" sldId="256"/>
            <ac:spMk id="75" creationId="{C24D4BC5-5256-4C2E-B3FB-87EA69B63AF3}"/>
          </ac:spMkLst>
        </pc:spChg>
        <pc:spChg chg="mod">
          <ac:chgData name="Amdored, Khadija" userId="bb59755f-30d6-4799-8062-7885ca5ec016" providerId="ADAL" clId="{2F9A9883-65AA-47E1-B219-6C16B6601ADE}" dt="2026-04-30T00:58:57.489" v="439" actId="14100"/>
          <ac:spMkLst>
            <pc:docMk/>
            <pc:sldMk cId="0" sldId="256"/>
            <ac:spMk id="79" creationId="{0F831EE1-8866-4A3E-8CAB-8624A11FF145}"/>
          </ac:spMkLst>
        </pc:spChg>
        <pc:spChg chg="mod">
          <ac:chgData name="Amdored, Khadija" userId="bb59755f-30d6-4799-8062-7885ca5ec016" providerId="ADAL" clId="{2F9A9883-65AA-47E1-B219-6C16B6601ADE}" dt="2026-05-01T20:21:26.423" v="1527" actId="6549"/>
          <ac:spMkLst>
            <pc:docMk/>
            <pc:sldMk cId="0" sldId="256"/>
            <ac:spMk id="80" creationId="{45A199C6-0BDE-461E-8044-A335463A4944}"/>
          </ac:spMkLst>
        </pc:spChg>
        <pc:spChg chg="mod">
          <ac:chgData name="Amdored, Khadija" userId="bb59755f-30d6-4799-8062-7885ca5ec016" providerId="ADAL" clId="{2F9A9883-65AA-47E1-B219-6C16B6601ADE}" dt="2026-04-30T08:36:25.063" v="1467" actId="207"/>
          <ac:spMkLst>
            <pc:docMk/>
            <pc:sldMk cId="0" sldId="256"/>
            <ac:spMk id="81" creationId="{868B6862-5CC5-4906-AC03-EA9661AD1346}"/>
          </ac:spMkLst>
        </pc:spChg>
        <pc:spChg chg="mod">
          <ac:chgData name="Amdored, Khadija" userId="bb59755f-30d6-4799-8062-7885ca5ec016" providerId="ADAL" clId="{2F9A9883-65AA-47E1-B219-6C16B6601ADE}" dt="2026-04-30T07:57:22.119" v="1174" actId="1076"/>
          <ac:spMkLst>
            <pc:docMk/>
            <pc:sldMk cId="0" sldId="256"/>
            <ac:spMk id="82" creationId="{D026A6A3-D6D2-4951-8B04-EF51015D25DB}"/>
          </ac:spMkLst>
        </pc:spChg>
        <pc:spChg chg="mod">
          <ac:chgData name="Amdored, Khadija" userId="bb59755f-30d6-4799-8062-7885ca5ec016" providerId="ADAL" clId="{2F9A9883-65AA-47E1-B219-6C16B6601ADE}" dt="2026-05-01T20:35:19.156" v="1707" actId="123"/>
          <ac:spMkLst>
            <pc:docMk/>
            <pc:sldMk cId="0" sldId="256"/>
            <ac:spMk id="83" creationId="{16D6CE1D-7E3F-42CA-A7BD-5FA191CFE645}"/>
          </ac:spMkLst>
        </pc:spChg>
        <pc:spChg chg="mod">
          <ac:chgData name="Amdored, Khadija" userId="bb59755f-30d6-4799-8062-7885ca5ec016" providerId="ADAL" clId="{2F9A9883-65AA-47E1-B219-6C16B6601ADE}" dt="2026-05-01T20:22:18.014" v="1529" actId="207"/>
          <ac:spMkLst>
            <pc:docMk/>
            <pc:sldMk cId="0" sldId="256"/>
            <ac:spMk id="84" creationId="{3D96BB99-3F6E-4E73-BA6B-A122D83B12A2}"/>
          </ac:spMkLst>
        </pc:spChg>
        <pc:spChg chg="mod">
          <ac:chgData name="Amdored, Khadija" userId="bb59755f-30d6-4799-8062-7885ca5ec016" providerId="ADAL" clId="{2F9A9883-65AA-47E1-B219-6C16B6601ADE}" dt="2026-04-30T08:30:31.272" v="1411" actId="14100"/>
          <ac:spMkLst>
            <pc:docMk/>
            <pc:sldMk cId="0" sldId="256"/>
            <ac:spMk id="85" creationId="{19BFD724-D51D-4DD6-A93A-40ABEA405C90}"/>
          </ac:spMkLst>
        </pc:spChg>
        <pc:spChg chg="mod">
          <ac:chgData name="Amdored, Khadija" userId="bb59755f-30d6-4799-8062-7885ca5ec016" providerId="ADAL" clId="{2F9A9883-65AA-47E1-B219-6C16B6601ADE}" dt="2026-05-01T20:33:44.483" v="1692" actId="20577"/>
          <ac:spMkLst>
            <pc:docMk/>
            <pc:sldMk cId="0" sldId="256"/>
            <ac:spMk id="86" creationId="{43D130FF-027B-433C-BF4F-A381B032C858}"/>
          </ac:spMkLst>
        </pc:spChg>
        <pc:spChg chg="mod">
          <ac:chgData name="Amdored, Khadija" userId="bb59755f-30d6-4799-8062-7885ca5ec016" providerId="ADAL" clId="{2F9A9883-65AA-47E1-B219-6C16B6601ADE}" dt="2026-04-30T08:29:30.779" v="1404" actId="20577"/>
          <ac:spMkLst>
            <pc:docMk/>
            <pc:sldMk cId="0" sldId="256"/>
            <ac:spMk id="87" creationId="{0BE282AE-183A-4D49-B152-23A5A101BEA6}"/>
          </ac:spMkLst>
        </pc:spChg>
        <pc:spChg chg="mod">
          <ac:chgData name="Amdored, Khadija" userId="bb59755f-30d6-4799-8062-7885ca5ec016" providerId="ADAL" clId="{2F9A9883-65AA-47E1-B219-6C16B6601ADE}" dt="2026-04-30T03:08:21.360" v="788" actId="14100"/>
          <ac:spMkLst>
            <pc:docMk/>
            <pc:sldMk cId="0" sldId="256"/>
            <ac:spMk id="88" creationId="{236036AE-C83F-4AC9-800C-C6574727635F}"/>
          </ac:spMkLst>
        </pc:spChg>
        <pc:spChg chg="add del mod">
          <ac:chgData name="Amdored, Khadija" userId="bb59755f-30d6-4799-8062-7885ca5ec016" providerId="ADAL" clId="{2F9A9883-65AA-47E1-B219-6C16B6601ADE}" dt="2026-05-01T20:13:11.987" v="1500" actId="20577"/>
          <ac:spMkLst>
            <pc:docMk/>
            <pc:sldMk cId="0" sldId="256"/>
            <ac:spMk id="89" creationId="{9742DD1E-D7E3-4AB1-8A17-D5B59B6AB38B}"/>
          </ac:spMkLst>
        </pc:spChg>
        <pc:spChg chg="mod">
          <ac:chgData name="Amdored, Khadija" userId="bb59755f-30d6-4799-8062-7885ca5ec016" providerId="ADAL" clId="{2F9A9883-65AA-47E1-B219-6C16B6601ADE}" dt="2026-04-30T00:45:09.539" v="159" actId="1035"/>
          <ac:spMkLst>
            <pc:docMk/>
            <pc:sldMk cId="0" sldId="256"/>
            <ac:spMk id="90" creationId="{8C463412-CC68-4A0F-AE72-68EF99EB2F46}"/>
          </ac:spMkLst>
        </pc:spChg>
        <pc:spChg chg="mod">
          <ac:chgData name="Amdored, Khadija" userId="bb59755f-30d6-4799-8062-7885ca5ec016" providerId="ADAL" clId="{2F9A9883-65AA-47E1-B219-6C16B6601ADE}" dt="2026-05-01T20:35:02.305" v="1706" actId="20577"/>
          <ac:spMkLst>
            <pc:docMk/>
            <pc:sldMk cId="0" sldId="256"/>
            <ac:spMk id="92" creationId="{B4F3D693-DA0F-454D-94C0-CEAA07C14AE3}"/>
          </ac:spMkLst>
        </pc:spChg>
        <pc:spChg chg="mod">
          <ac:chgData name="Amdored, Khadija" userId="bb59755f-30d6-4799-8062-7885ca5ec016" providerId="ADAL" clId="{2F9A9883-65AA-47E1-B219-6C16B6601ADE}" dt="2026-04-30T08:33:26.248" v="1455" actId="207"/>
          <ac:spMkLst>
            <pc:docMk/>
            <pc:sldMk cId="0" sldId="256"/>
            <ac:spMk id="93" creationId="{5EDC1F28-88BB-4DAD-9112-B4904B4A7E46}"/>
          </ac:spMkLst>
        </pc:spChg>
        <pc:grpChg chg="add mod">
          <ac:chgData name="Amdored, Khadija" userId="bb59755f-30d6-4799-8062-7885ca5ec016" providerId="ADAL" clId="{2F9A9883-65AA-47E1-B219-6C16B6601ADE}" dt="2026-05-01T20:39:51.194" v="1708" actId="164"/>
          <ac:grpSpMkLst>
            <pc:docMk/>
            <pc:sldMk cId="0" sldId="256"/>
            <ac:grpSpMk id="7" creationId="{C19D8991-34B0-FFDD-B094-B7BA48B0AAE9}"/>
          </ac:grpSpMkLst>
        </pc:grpChg>
        <pc:grpChg chg="add mod">
          <ac:chgData name="Amdored, Khadija" userId="bb59755f-30d6-4799-8062-7885ca5ec016" providerId="ADAL" clId="{2F9A9883-65AA-47E1-B219-6C16B6601ADE}" dt="2026-05-01T20:39:58.501" v="1709" actId="164"/>
          <ac:grpSpMkLst>
            <pc:docMk/>
            <pc:sldMk cId="0" sldId="256"/>
            <ac:grpSpMk id="8" creationId="{77BA861A-BB4D-EA30-99AB-69FD4BAA657C}"/>
          </ac:grpSpMkLst>
        </pc:grpChg>
        <pc:grpChg chg="add mod">
          <ac:chgData name="Amdored, Khadija" userId="bb59755f-30d6-4799-8062-7885ca5ec016" providerId="ADAL" clId="{2F9A9883-65AA-47E1-B219-6C16B6601ADE}" dt="2026-05-01T20:40:04.138" v="1710" actId="164"/>
          <ac:grpSpMkLst>
            <pc:docMk/>
            <pc:sldMk cId="0" sldId="256"/>
            <ac:grpSpMk id="9" creationId="{B8B97AFA-C5DB-8D74-6FFF-5C528210A424}"/>
          </ac:grpSpMkLst>
        </pc:grpChg>
        <pc:grpChg chg="add mod">
          <ac:chgData name="Amdored, Khadija" userId="bb59755f-30d6-4799-8062-7885ca5ec016" providerId="ADAL" clId="{2F9A9883-65AA-47E1-B219-6C16B6601ADE}" dt="2026-05-01T20:40:48.553" v="1711" actId="164"/>
          <ac:grpSpMkLst>
            <pc:docMk/>
            <pc:sldMk cId="0" sldId="256"/>
            <ac:grpSpMk id="10" creationId="{B040066B-0BB5-267F-A82B-16418CF78063}"/>
          </ac:grpSpMkLst>
        </pc:grpChg>
        <pc:grpChg chg="add mod">
          <ac:chgData name="Amdored, Khadija" userId="bb59755f-30d6-4799-8062-7885ca5ec016" providerId="ADAL" clId="{2F9A9883-65AA-47E1-B219-6C16B6601ADE}" dt="2026-05-01T20:40:58.645" v="1712" actId="164"/>
          <ac:grpSpMkLst>
            <pc:docMk/>
            <pc:sldMk cId="0" sldId="256"/>
            <ac:grpSpMk id="11" creationId="{72F10015-4D6F-4B0C-8833-350C014EA719}"/>
          </ac:grpSpMkLst>
        </pc:grpChg>
        <pc:grpChg chg="add mod">
          <ac:chgData name="Amdored, Khadija" userId="bb59755f-30d6-4799-8062-7885ca5ec016" providerId="ADAL" clId="{2F9A9883-65AA-47E1-B219-6C16B6601ADE}" dt="2026-05-01T20:41:18.706" v="1713" actId="164"/>
          <ac:grpSpMkLst>
            <pc:docMk/>
            <pc:sldMk cId="0" sldId="256"/>
            <ac:grpSpMk id="13" creationId="{8C1B4CE8-1892-40D4-E275-7C2BC5497B14}"/>
          </ac:grpSpMkLst>
        </pc:grpChg>
        <pc:grpChg chg="add mod">
          <ac:chgData name="Amdored, Khadija" userId="bb59755f-30d6-4799-8062-7885ca5ec016" providerId="ADAL" clId="{2F9A9883-65AA-47E1-B219-6C16B6601ADE}" dt="2026-05-01T20:41:23.582" v="1714" actId="164"/>
          <ac:grpSpMkLst>
            <pc:docMk/>
            <pc:sldMk cId="0" sldId="256"/>
            <ac:grpSpMk id="16" creationId="{40AA49C9-71E2-19B4-BCF9-B1A6589ACED3}"/>
          </ac:grpSpMkLst>
        </pc:grpChg>
        <pc:grpChg chg="add mod">
          <ac:chgData name="Amdored, Khadija" userId="bb59755f-30d6-4799-8062-7885ca5ec016" providerId="ADAL" clId="{2F9A9883-65AA-47E1-B219-6C16B6601ADE}" dt="2026-04-30T03:31:06.587" v="966" actId="164"/>
          <ac:grpSpMkLst>
            <pc:docMk/>
            <pc:sldMk cId="0" sldId="256"/>
            <ac:grpSpMk id="26" creationId="{68A57191-D034-252A-7A1F-2421FCBCBAAD}"/>
          </ac:grpSpMkLst>
        </pc:grpChg>
        <pc:grpChg chg="add mod">
          <ac:chgData name="Amdored, Khadija" userId="bb59755f-30d6-4799-8062-7885ca5ec016" providerId="ADAL" clId="{2F9A9883-65AA-47E1-B219-6C16B6601ADE}" dt="2026-04-30T07:10:13.900" v="1031" actId="14100"/>
          <ac:grpSpMkLst>
            <pc:docMk/>
            <pc:sldMk cId="0" sldId="256"/>
            <ac:grpSpMk id="27" creationId="{55A40A56-04A0-C968-4BE1-FCC66BEDD438}"/>
          </ac:grpSpMkLst>
        </pc:grpChg>
        <pc:grpChg chg="add mod">
          <ac:chgData name="Amdored, Khadija" userId="bb59755f-30d6-4799-8062-7885ca5ec016" providerId="ADAL" clId="{2F9A9883-65AA-47E1-B219-6C16B6601ADE}" dt="2026-05-01T20:40:58.645" v="1712" actId="164"/>
          <ac:grpSpMkLst>
            <pc:docMk/>
            <pc:sldMk cId="0" sldId="256"/>
            <ac:grpSpMk id="35" creationId="{005DD343-B8DD-130C-1D0C-1EB542DB7E27}"/>
          </ac:grpSpMkLst>
        </pc:grpChg>
        <pc:picChg chg="add mod">
          <ac:chgData name="Amdored, Khadija" userId="bb59755f-30d6-4799-8062-7885ca5ec016" providerId="ADAL" clId="{2F9A9883-65AA-47E1-B219-6C16B6601ADE}" dt="2026-04-30T01:04:06.316" v="467"/>
          <ac:picMkLst>
            <pc:docMk/>
            <pc:sldMk cId="0" sldId="256"/>
            <ac:picMk id="5" creationId="{A407C73A-B573-E1EA-A3B0-115F195B2125}"/>
          </ac:picMkLst>
        </pc:picChg>
        <pc:picChg chg="add mod">
          <ac:chgData name="Amdored, Khadija" userId="bb59755f-30d6-4799-8062-7885ca5ec016" providerId="ADAL" clId="{2F9A9883-65AA-47E1-B219-6C16B6601ADE}" dt="2026-04-30T03:31:06.587" v="966" actId="164"/>
          <ac:picMkLst>
            <pc:docMk/>
            <pc:sldMk cId="0" sldId="256"/>
            <ac:picMk id="6" creationId="{5988EE07-A9E9-5BEA-62A4-61A032B05DA8}"/>
          </ac:picMkLst>
        </pc:picChg>
        <pc:picChg chg="add mod">
          <ac:chgData name="Amdored, Khadija" userId="bb59755f-30d6-4799-8062-7885ca5ec016" providerId="ADAL" clId="{2F9A9883-65AA-47E1-B219-6C16B6601ADE}" dt="2026-04-30T03:34:02.578" v="1001" actId="164"/>
          <ac:picMkLst>
            <pc:docMk/>
            <pc:sldMk cId="0" sldId="256"/>
            <ac:picMk id="12" creationId="{CEF9A0E9-18AE-C3AE-56A5-CC4BC32ADE8D}"/>
          </ac:picMkLst>
        </pc:picChg>
        <pc:picChg chg="add mod">
          <ac:chgData name="Amdored, Khadija" userId="bb59755f-30d6-4799-8062-7885ca5ec016" providerId="ADAL" clId="{2F9A9883-65AA-47E1-B219-6C16B6601ADE}" dt="2026-05-01T20:40:48.553" v="1711" actId="164"/>
          <ac:picMkLst>
            <pc:docMk/>
            <pc:sldMk cId="0" sldId="256"/>
            <ac:picMk id="18" creationId="{2024973B-F1E9-AADF-DAAE-A8328919CB5E}"/>
          </ac:picMkLst>
        </pc:picChg>
        <pc:picChg chg="add del mod">
          <ac:chgData name="Amdored, Khadija" userId="bb59755f-30d6-4799-8062-7885ca5ec016" providerId="ADAL" clId="{2F9A9883-65AA-47E1-B219-6C16B6601ADE}" dt="2026-04-30T08:14:21.800" v="1278" actId="21"/>
          <ac:picMkLst>
            <pc:docMk/>
            <pc:sldMk cId="0" sldId="256"/>
            <ac:picMk id="19" creationId="{65FA4771-261C-F6AD-91BA-094976E91548}"/>
          </ac:picMkLst>
        </pc:picChg>
        <pc:picChg chg="add mod">
          <ac:chgData name="Amdored, Khadija" userId="bb59755f-30d6-4799-8062-7885ca5ec016" providerId="ADAL" clId="{2F9A9883-65AA-47E1-B219-6C16B6601ADE}" dt="2026-05-01T20:41:23.582" v="1714" actId="164"/>
          <ac:picMkLst>
            <pc:docMk/>
            <pc:sldMk cId="0" sldId="256"/>
            <ac:picMk id="22" creationId="{F4D75D6C-0BA3-0D19-8C78-4746086AF193}"/>
          </ac:picMkLst>
        </pc:picChg>
        <pc:picChg chg="add mod">
          <ac:chgData name="Amdored, Khadija" userId="bb59755f-30d6-4799-8062-7885ca5ec016" providerId="ADAL" clId="{2F9A9883-65AA-47E1-B219-6C16B6601ADE}" dt="2026-05-01T20:39:51.194" v="1708" actId="164"/>
          <ac:picMkLst>
            <pc:docMk/>
            <pc:sldMk cId="0" sldId="256"/>
            <ac:picMk id="29" creationId="{FDD9378D-D033-A627-433C-0FB16565B1F6}"/>
          </ac:picMkLst>
        </pc:picChg>
        <pc:picChg chg="add mod">
          <ac:chgData name="Amdored, Khadija" userId="bb59755f-30d6-4799-8062-7885ca5ec016" providerId="ADAL" clId="{2F9A9883-65AA-47E1-B219-6C16B6601ADE}" dt="2026-05-01T20:39:58.501" v="1709" actId="164"/>
          <ac:picMkLst>
            <pc:docMk/>
            <pc:sldMk cId="0" sldId="256"/>
            <ac:picMk id="30" creationId="{4BB9C3A4-D3A0-2EB2-9959-BEE826F30A30}"/>
          </ac:picMkLst>
        </pc:picChg>
        <pc:picChg chg="add mod">
          <ac:chgData name="Amdored, Khadija" userId="bb59755f-30d6-4799-8062-7885ca5ec016" providerId="ADAL" clId="{2F9A9883-65AA-47E1-B219-6C16B6601ADE}" dt="2026-05-01T20:40:04.138" v="1710" actId="164"/>
          <ac:picMkLst>
            <pc:docMk/>
            <pc:sldMk cId="0" sldId="256"/>
            <ac:picMk id="31" creationId="{72EC7C4E-5D6D-114B-46E1-4C4655E3FFB3}"/>
          </ac:picMkLst>
        </pc:picChg>
        <pc:picChg chg="add mod">
          <ac:chgData name="Amdored, Khadija" userId="bb59755f-30d6-4799-8062-7885ca5ec016" providerId="ADAL" clId="{2F9A9883-65AA-47E1-B219-6C16B6601ADE}" dt="2026-04-30T07:56:51.526" v="1172"/>
          <ac:picMkLst>
            <pc:docMk/>
            <pc:sldMk cId="0" sldId="256"/>
            <ac:picMk id="36" creationId="{278BF1BC-7521-A2D2-EA87-D34DD9984226}"/>
          </ac:picMkLst>
        </pc:picChg>
        <pc:picChg chg="add mod">
          <ac:chgData name="Amdored, Khadija" userId="bb59755f-30d6-4799-8062-7885ca5ec016" providerId="ADAL" clId="{2F9A9883-65AA-47E1-B219-6C16B6601ADE}" dt="2026-04-30T07:56:51.526" v="1172"/>
          <ac:picMkLst>
            <pc:docMk/>
            <pc:sldMk cId="0" sldId="256"/>
            <ac:picMk id="37" creationId="{DEB7E8BB-1249-2E18-68BF-FB09521BEFB9}"/>
          </ac:picMkLst>
        </pc:picChg>
        <pc:picChg chg="add mod">
          <ac:chgData name="Amdored, Khadija" userId="bb59755f-30d6-4799-8062-7885ca5ec016" providerId="ADAL" clId="{2F9A9883-65AA-47E1-B219-6C16B6601ADE}" dt="2026-04-30T07:56:51.526" v="1172"/>
          <ac:picMkLst>
            <pc:docMk/>
            <pc:sldMk cId="0" sldId="256"/>
            <ac:picMk id="38" creationId="{2833167D-8607-A0BB-6584-5FF5DC35239D}"/>
          </ac:picMkLst>
        </pc:picChg>
        <pc:picChg chg="add mod">
          <ac:chgData name="Amdored, Khadija" userId="bb59755f-30d6-4799-8062-7885ca5ec016" providerId="ADAL" clId="{2F9A9883-65AA-47E1-B219-6C16B6601ADE}" dt="2026-04-30T07:56:51.526" v="1172"/>
          <ac:picMkLst>
            <pc:docMk/>
            <pc:sldMk cId="0" sldId="256"/>
            <ac:picMk id="39" creationId="{98223996-195F-3FAD-1600-333852C264FC}"/>
          </ac:picMkLst>
        </pc:picChg>
        <pc:picChg chg="add del mod">
          <ac:chgData name="Amdored, Khadija" userId="bb59755f-30d6-4799-8062-7885ca5ec016" providerId="ADAL" clId="{2F9A9883-65AA-47E1-B219-6C16B6601ADE}" dt="2026-04-30T08:21:21.293" v="1313" actId="21"/>
          <ac:picMkLst>
            <pc:docMk/>
            <pc:sldMk cId="0" sldId="256"/>
            <ac:picMk id="43" creationId="{65FA4771-261C-F6AD-91BA-094976E91548}"/>
          </ac:picMkLst>
        </pc:picChg>
        <pc:picChg chg="add mod">
          <ac:chgData name="Amdored, Khadija" userId="bb59755f-30d6-4799-8062-7885ca5ec016" providerId="ADAL" clId="{2F9A9883-65AA-47E1-B219-6C16B6601ADE}" dt="2026-05-01T20:41:18.706" v="1713" actId="164"/>
          <ac:picMkLst>
            <pc:docMk/>
            <pc:sldMk cId="0" sldId="256"/>
            <ac:picMk id="49" creationId="{65FA4771-261C-F6AD-91BA-094976E91548}"/>
          </ac:picMkLst>
        </pc:picChg>
        <pc:picChg chg="del">
          <ac:chgData name="Amdored, Khadija" userId="bb59755f-30d6-4799-8062-7885ca5ec016" providerId="ADAL" clId="{2F9A9883-65AA-47E1-B219-6C16B6601ADE}" dt="2026-04-30T00:12:00.831" v="0" actId="478"/>
          <ac:picMkLst>
            <pc:docMk/>
            <pc:sldMk cId="0" sldId="256"/>
            <ac:picMk id="94" creationId="{00000000-0000-0000-0000-000000000000}"/>
          </ac:picMkLst>
        </pc:picChg>
        <pc:picChg chg="add">
          <ac:chgData name="Amdored, Khadija" userId="bb59755f-30d6-4799-8062-7885ca5ec016" providerId="ADAL" clId="{2F9A9883-65AA-47E1-B219-6C16B6601ADE}" dt="2026-04-30T01:12:34.208" v="504"/>
          <ac:picMkLst>
            <pc:docMk/>
            <pc:sldMk cId="0" sldId="256"/>
            <ac:picMk id="1025" creationId="{95BD82EF-1C4E-9BC1-F8F2-1129302CC475}"/>
          </ac:picMkLst>
        </pc:picChg>
        <pc:picChg chg="add mod">
          <ac:chgData name="Amdored, Khadija" userId="bb59755f-30d6-4799-8062-7885ca5ec016" providerId="ADAL" clId="{2F9A9883-65AA-47E1-B219-6C16B6601ADE}" dt="2026-04-30T01:15:09.018" v="508"/>
          <ac:picMkLst>
            <pc:docMk/>
            <pc:sldMk cId="0" sldId="256"/>
            <ac:picMk id="1031" creationId="{4BC0B15F-DF7D-1DD2-AF4A-9D3285EAD4F1}"/>
          </ac:picMkLst>
        </pc:picChg>
        <pc:picChg chg="del">
          <ac:chgData name="Amdored, Khadija" userId="bb59755f-30d6-4799-8062-7885ca5ec016" providerId="ADAL" clId="{2F9A9883-65AA-47E1-B219-6C16B6601ADE}" dt="2026-04-30T03:02:37.196" v="770" actId="478"/>
          <ac:picMkLst>
            <pc:docMk/>
            <pc:sldMk cId="0" sldId="256"/>
            <ac:picMk id="1033" creationId="{0EC2ABAF-E265-996D-4834-C08EA5405654}"/>
          </ac:picMkLst>
        </pc:picChg>
        <pc:picChg chg="add del mod">
          <ac:chgData name="Amdored, Khadija" userId="bb59755f-30d6-4799-8062-7885ca5ec016" providerId="ADAL" clId="{2F9A9883-65AA-47E1-B219-6C16B6601ADE}" dt="2026-04-30T03:02:35.241" v="769" actId="478"/>
          <ac:picMkLst>
            <pc:docMk/>
            <pc:sldMk cId="0" sldId="256"/>
            <ac:picMk id="1036" creationId="{420F0A39-8E84-71D5-F5A2-1BBEAE68D306}"/>
          </ac:picMkLst>
        </pc:picChg>
        <pc:picChg chg="add mod">
          <ac:chgData name="Amdored, Khadija" userId="bb59755f-30d6-4799-8062-7885ca5ec016" providerId="ADAL" clId="{2F9A9883-65AA-47E1-B219-6C16B6601ADE}" dt="2026-04-30T08:10:41.941" v="1259"/>
          <ac:picMkLst>
            <pc:docMk/>
            <pc:sldMk cId="0" sldId="256"/>
            <ac:picMk id="1039" creationId="{84230748-6F3E-0281-3C6D-0F3EB391038E}"/>
          </ac:picMkLst>
        </pc:picChg>
        <pc:picChg chg="add mod">
          <ac:chgData name="Amdored, Khadija" userId="bb59755f-30d6-4799-8062-7885ca5ec016" providerId="ADAL" clId="{2F9A9883-65AA-47E1-B219-6C16B6601ADE}" dt="2026-04-30T08:18:01.307" v="1297"/>
          <ac:picMkLst>
            <pc:docMk/>
            <pc:sldMk cId="0" sldId="256"/>
            <ac:picMk id="1042" creationId="{0551FFB5-5193-939B-ADC7-27524A8F9862}"/>
          </ac:picMkLst>
        </pc:picChg>
        <pc:picChg chg="add mod">
          <ac:chgData name="Amdored, Khadija" userId="bb59755f-30d6-4799-8062-7885ca5ec016" providerId="ADAL" clId="{2F9A9883-65AA-47E1-B219-6C16B6601ADE}" dt="2026-04-30T08:18:42.880" v="1299"/>
          <ac:picMkLst>
            <pc:docMk/>
            <pc:sldMk cId="0" sldId="256"/>
            <ac:picMk id="1045" creationId="{410F3252-7D5A-F3A6-29E6-1578B549138B}"/>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4002088" cy="598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84" tIns="57492" rIns="114984" bIns="57492" anchor="t" anchorCtr="0" compatLnSpc="1">
            <a:prstTxWarp prst="textNoShape">
              <a:avLst/>
            </a:prstTxWarp>
          </a:bodyPr>
          <a:lstStyle>
            <a:defPPr>
              <a:defRPr kern="1200"/>
            </a:defPPr>
            <a:lvl1pPr defTabSz="1149350">
              <a:defRPr sz="1500"/>
            </a:lvl1pPr>
          </a:lstStyle>
          <a:p>
            <a:endParaRPr lang="en-US" altLang="zh-CN"/>
          </a:p>
        </p:txBody>
      </p:sp>
      <p:sp>
        <p:nvSpPr>
          <p:cNvPr id="6147" name="Rectangle 3"/>
          <p:cNvSpPr>
            <a:spLocks noGrp="1" noChangeArrowheads="1"/>
          </p:cNvSpPr>
          <p:nvPr>
            <p:ph type="dt" sz="quarter" idx="1"/>
          </p:nvPr>
        </p:nvSpPr>
        <p:spPr bwMode="auto">
          <a:xfrm>
            <a:off x="5235575" y="0"/>
            <a:ext cx="4002088" cy="598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84" tIns="57492" rIns="114984" bIns="57492" anchor="t" anchorCtr="0" compatLnSpc="1">
            <a:prstTxWarp prst="textNoShape">
              <a:avLst/>
            </a:prstTxWarp>
          </a:bodyPr>
          <a:lstStyle>
            <a:defPPr>
              <a:defRPr kern="1200"/>
            </a:defPPr>
            <a:lvl1pPr algn="r" defTabSz="1149350">
              <a:defRPr sz="1500"/>
            </a:lvl1pPr>
          </a:lstStyle>
          <a:p>
            <a:endParaRPr lang="en-US" altLang="zh-CN"/>
          </a:p>
        </p:txBody>
      </p:sp>
      <p:sp>
        <p:nvSpPr>
          <p:cNvPr id="6148" name="Rectangle 4"/>
          <p:cNvSpPr>
            <a:spLocks noGrp="1" noChangeArrowheads="1"/>
          </p:cNvSpPr>
          <p:nvPr>
            <p:ph type="ftr" sz="quarter" idx="2"/>
          </p:nvPr>
        </p:nvSpPr>
        <p:spPr bwMode="auto">
          <a:xfrm>
            <a:off x="0" y="11380788"/>
            <a:ext cx="4002088"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84" tIns="57492" rIns="114984" bIns="57492" anchor="b" anchorCtr="0" compatLnSpc="1">
            <a:prstTxWarp prst="textNoShape">
              <a:avLst/>
            </a:prstTxWarp>
          </a:bodyPr>
          <a:lstStyle>
            <a:defPPr>
              <a:defRPr kern="1200"/>
            </a:defPPr>
            <a:lvl1pPr defTabSz="1149350">
              <a:defRPr sz="1500"/>
            </a:lvl1pPr>
          </a:lstStyle>
          <a:p>
            <a:endParaRPr lang="en-US" altLang="zh-CN"/>
          </a:p>
        </p:txBody>
      </p:sp>
      <p:sp>
        <p:nvSpPr>
          <p:cNvPr id="6149" name="Rectangle 5"/>
          <p:cNvSpPr>
            <a:spLocks noGrp="1" noChangeArrowheads="1"/>
          </p:cNvSpPr>
          <p:nvPr>
            <p:ph type="sldNum" sz="quarter" idx="3"/>
          </p:nvPr>
        </p:nvSpPr>
        <p:spPr bwMode="auto">
          <a:xfrm>
            <a:off x="5235575" y="11380788"/>
            <a:ext cx="4002088"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84" tIns="57492" rIns="114984" bIns="57492" anchor="b" anchorCtr="0" compatLnSpc="1">
            <a:prstTxWarp prst="textNoShape">
              <a:avLst/>
            </a:prstTxWarp>
          </a:bodyPr>
          <a:lstStyle>
            <a:defPPr>
              <a:defRPr kern="1200"/>
            </a:defPPr>
            <a:lvl1pPr algn="r" defTabSz="1149350">
              <a:defRPr sz="1500"/>
            </a:lvl1pPr>
          </a:lstStyle>
          <a:p>
            <a:fld id="{56A6134A-9986-4884-ADAB-C57241D32564}" type="slidenum">
              <a:rPr lang="zh-CN" altLang="en-US"/>
              <a:t>‹#›</a:t>
            </a:fld>
            <a:endParaRPr lang="en-US" altLang="zh-CN"/>
          </a:p>
        </p:txBody>
      </p:sp>
    </p:spTree>
    <p:extLst>
      <p:ext uri="{BB962C8B-B14F-4D97-AF65-F5344CB8AC3E}">
        <p14:creationId xmlns:p14="http://schemas.microsoft.com/office/powerpoint/2010/main" val="9348627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983038" cy="592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t" anchorCtr="0" compatLnSpc="1">
            <a:prstTxWarp prst="textNoShape">
              <a:avLst/>
            </a:prstTxWarp>
          </a:bodyPr>
          <a:lstStyle>
            <a:defPPr>
              <a:defRPr kern="1200"/>
            </a:defPPr>
            <a:lvl1pPr defTabSz="1149350">
              <a:defRPr sz="1500"/>
            </a:lvl1pPr>
          </a:lstStyle>
          <a:p>
            <a:endParaRPr lang="en-US" altLang="zh-CN"/>
          </a:p>
        </p:txBody>
      </p:sp>
      <p:sp>
        <p:nvSpPr>
          <p:cNvPr id="4099" name="Rectangle 3"/>
          <p:cNvSpPr>
            <a:spLocks noGrp="1" noChangeArrowheads="1"/>
          </p:cNvSpPr>
          <p:nvPr>
            <p:ph type="dt" idx="1"/>
          </p:nvPr>
        </p:nvSpPr>
        <p:spPr bwMode="auto">
          <a:xfrm>
            <a:off x="5241925" y="0"/>
            <a:ext cx="3983038" cy="592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t" anchorCtr="0" compatLnSpc="1">
            <a:prstTxWarp prst="textNoShape">
              <a:avLst/>
            </a:prstTxWarp>
          </a:bodyPr>
          <a:lstStyle>
            <a:defPPr>
              <a:defRPr kern="1200"/>
            </a:defPPr>
            <a:lvl1pPr algn="r" defTabSz="1149350">
              <a:defRPr sz="1500"/>
            </a:lvl1pPr>
          </a:lstStyle>
          <a:p>
            <a:endParaRPr lang="en-US" altLang="zh-CN"/>
          </a:p>
        </p:txBody>
      </p:sp>
      <p:sp>
        <p:nvSpPr>
          <p:cNvPr id="2052" name="Rectangle 4"/>
          <p:cNvSpPr>
            <a:spLocks noGrp="1" noRot="1" noChangeAspect="1" noChangeArrowheads="1" noTextEdit="1"/>
          </p:cNvSpPr>
          <p:nvPr>
            <p:ph type="sldImg" idx="2"/>
          </p:nvPr>
        </p:nvSpPr>
        <p:spPr bwMode="auto">
          <a:xfrm>
            <a:off x="1582738" y="889000"/>
            <a:ext cx="6059487" cy="4545013"/>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1257300" y="5732463"/>
            <a:ext cx="6708775" cy="5335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t" anchorCtr="0" compatLnSpc="1">
            <a:prstTxWarp prst="textNoShape">
              <a:avLst/>
            </a:prstTxWarp>
          </a:bodyPr>
          <a:lstStyle>
            <a:defPPr>
              <a:defRPr kern="1200"/>
            </a:defP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4102" name="Rectangle 6"/>
          <p:cNvSpPr>
            <a:spLocks noGrp="1" noChangeArrowheads="1"/>
          </p:cNvSpPr>
          <p:nvPr>
            <p:ph type="ftr" sz="quarter" idx="4"/>
          </p:nvPr>
        </p:nvSpPr>
        <p:spPr bwMode="auto">
          <a:xfrm>
            <a:off x="0" y="11363325"/>
            <a:ext cx="3983038" cy="593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b" anchorCtr="0" compatLnSpc="1">
            <a:prstTxWarp prst="textNoShape">
              <a:avLst/>
            </a:prstTxWarp>
          </a:bodyPr>
          <a:lstStyle>
            <a:defPPr>
              <a:defRPr kern="1200"/>
            </a:defPPr>
            <a:lvl1pPr defTabSz="1149350">
              <a:defRPr sz="1500"/>
            </a:lvl1pPr>
          </a:lstStyle>
          <a:p>
            <a:endParaRPr lang="en-US" altLang="zh-CN"/>
          </a:p>
        </p:txBody>
      </p:sp>
      <p:sp>
        <p:nvSpPr>
          <p:cNvPr id="4103" name="Rectangle 7"/>
          <p:cNvSpPr>
            <a:spLocks noGrp="1" noChangeArrowheads="1"/>
          </p:cNvSpPr>
          <p:nvPr>
            <p:ph type="sldNum" sz="quarter" idx="5"/>
          </p:nvPr>
        </p:nvSpPr>
        <p:spPr bwMode="auto">
          <a:xfrm>
            <a:off x="5241925" y="11363325"/>
            <a:ext cx="3983038" cy="593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b" anchorCtr="0" compatLnSpc="1">
            <a:prstTxWarp prst="textNoShape">
              <a:avLst/>
            </a:prstTxWarp>
          </a:bodyPr>
          <a:lstStyle>
            <a:defPPr>
              <a:defRPr kern="1200"/>
            </a:defPPr>
            <a:lvl1pPr algn="r" defTabSz="1149350">
              <a:defRPr sz="1500"/>
            </a:lvl1pPr>
          </a:lstStyle>
          <a:p>
            <a:fld id="{23124DF2-DDA8-402F-81DD-AC1D1E5694AB}" type="slidenum">
              <a:rPr lang="zh-CN" altLang="en-US"/>
              <a:t>‹#›</a:t>
            </a:fld>
            <a:endParaRPr lang="en-US" altLang="zh-CN"/>
          </a:p>
        </p:txBody>
      </p:sp>
    </p:spTree>
    <p:extLst>
      <p:ext uri="{BB962C8B-B14F-4D97-AF65-F5344CB8AC3E}">
        <p14:creationId xmlns:p14="http://schemas.microsoft.com/office/powerpoint/2010/main" val="19040194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p:cNvSpPr>
            <a:spLocks noGrp="1" noChangeArrowheads="1"/>
          </p:cNvSpPr>
          <p:nvPr>
            <p:ph type="sldNum" sz="quarter" idx="5"/>
          </p:nvPr>
        </p:nvSpPr>
        <p:spPr>
          <a:noFill/>
        </p:spPr>
        <p:txBody>
          <a:bodyPr/>
          <a:lstStyle>
            <a:defPPr>
              <a:defRPr kern="1200"/>
            </a:defPPr>
            <a:lvl1pPr defTabSz="1149350">
              <a:defRPr sz="2400">
                <a:solidFill>
                  <a:schemeClr val="tx1"/>
                </a:solidFill>
                <a:latin typeface="Times New Roman" pitchFamily="18" charset="0"/>
              </a:defRPr>
            </a:lvl1pPr>
            <a:lvl2pPr marL="742950" indent="-285750" defTabSz="1149350">
              <a:defRPr sz="2400">
                <a:solidFill>
                  <a:schemeClr val="tx1"/>
                </a:solidFill>
                <a:latin typeface="Times New Roman" pitchFamily="18" charset="0"/>
              </a:defRPr>
            </a:lvl2pPr>
            <a:lvl3pPr marL="1143000" indent="-228600" defTabSz="1149350">
              <a:defRPr sz="2400">
                <a:solidFill>
                  <a:schemeClr val="tx1"/>
                </a:solidFill>
                <a:latin typeface="Times New Roman" pitchFamily="18" charset="0"/>
              </a:defRPr>
            </a:lvl3pPr>
            <a:lvl4pPr marL="1600200" indent="-228600" defTabSz="1149350">
              <a:defRPr sz="2400">
                <a:solidFill>
                  <a:schemeClr val="tx1"/>
                </a:solidFill>
                <a:latin typeface="Times New Roman" pitchFamily="18" charset="0"/>
              </a:defRPr>
            </a:lvl4pPr>
            <a:lvl5pPr marL="2057400" indent="-228600" defTabSz="1149350">
              <a:defRPr sz="2400">
                <a:solidFill>
                  <a:schemeClr val="tx1"/>
                </a:solidFill>
                <a:latin typeface="Times New Roman" pitchFamily="18" charset="0"/>
              </a:defRPr>
            </a:lvl5pPr>
            <a:lvl6pPr marL="2514600" indent="-228600" defTabSz="1149350" eaLnBrk="0" fontAlgn="base" hangingPunct="0">
              <a:spcBef>
                <a:spcPct val="0"/>
              </a:spcBef>
              <a:spcAft>
                <a:spcPct val="0"/>
              </a:spcAft>
              <a:defRPr sz="2400">
                <a:solidFill>
                  <a:schemeClr val="tx1"/>
                </a:solidFill>
                <a:latin typeface="Times New Roman" pitchFamily="18" charset="0"/>
              </a:defRPr>
            </a:lvl6pPr>
            <a:lvl7pPr marL="2971800" indent="-228600" defTabSz="1149350" eaLnBrk="0" fontAlgn="base" hangingPunct="0">
              <a:spcBef>
                <a:spcPct val="0"/>
              </a:spcBef>
              <a:spcAft>
                <a:spcPct val="0"/>
              </a:spcAft>
              <a:defRPr sz="2400">
                <a:solidFill>
                  <a:schemeClr val="tx1"/>
                </a:solidFill>
                <a:latin typeface="Times New Roman" pitchFamily="18" charset="0"/>
              </a:defRPr>
            </a:lvl7pPr>
            <a:lvl8pPr marL="3429000" indent="-228600" defTabSz="1149350" eaLnBrk="0" fontAlgn="base" hangingPunct="0">
              <a:spcBef>
                <a:spcPct val="0"/>
              </a:spcBef>
              <a:spcAft>
                <a:spcPct val="0"/>
              </a:spcAft>
              <a:defRPr sz="2400">
                <a:solidFill>
                  <a:schemeClr val="tx1"/>
                </a:solidFill>
                <a:latin typeface="Times New Roman" pitchFamily="18" charset="0"/>
              </a:defRPr>
            </a:lvl8pPr>
            <a:lvl9pPr marL="3886200" indent="-228600" defTabSz="1149350" eaLnBrk="0" fontAlgn="base" hangingPunct="0">
              <a:spcBef>
                <a:spcPct val="0"/>
              </a:spcBef>
              <a:spcAft>
                <a:spcPct val="0"/>
              </a:spcAft>
              <a:defRPr sz="2400">
                <a:solidFill>
                  <a:schemeClr val="tx1"/>
                </a:solidFill>
                <a:latin typeface="Times New Roman" pitchFamily="18" charset="0"/>
              </a:defRPr>
            </a:lvl9pPr>
          </a:lstStyle>
          <a:p>
            <a:fld id="{D5580D61-8B82-42C3-9A37-58134866DD67}" type="slidenum">
              <a:rPr lang="zh-CN" altLang="en-US" sz="1500"/>
              <a:t>1</a:t>
            </a:fld>
            <a:endParaRPr lang="en-US" altLang="zh-CN" sz="1500"/>
          </a:p>
        </p:txBody>
      </p:sp>
      <p:sp>
        <p:nvSpPr>
          <p:cNvPr id="3075" name="Rectangle 2"/>
          <p:cNvSpPr>
            <a:spLocks noGrp="1" noRot="1" noChangeAspect="1" noChangeArrowheads="1" noTextEdit="1"/>
          </p:cNvSpPr>
          <p:nvPr>
            <p:ph type="sldImg"/>
          </p:nvPr>
        </p:nvSpPr>
        <p:spPr/>
      </p:sp>
      <p:sp>
        <p:nvSpPr>
          <p:cNvPr id="3076" name="Rectangle 3"/>
          <p:cNvSpPr>
            <a:spLocks noGrp="1" noChangeArrowheads="1"/>
          </p:cNvSpPr>
          <p:nvPr>
            <p:ph type="body" idx="1"/>
          </p:nvPr>
        </p:nvSpPr>
        <p:spPr>
          <a:noFill/>
        </p:spPr>
        <p:txBody>
          <a:bodyPr/>
          <a:lstStyle>
            <a:defPPr>
              <a:defRPr kern="1200"/>
            </a:defP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123" y="10226675"/>
            <a:ext cx="37306957" cy="7054850"/>
          </a:xfrm>
          <a:prstGeom prst="rect">
            <a:avLst/>
          </a:prstGeo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6584245" y="18653125"/>
            <a:ext cx="30722711" cy="8413750"/>
          </a:xfrm>
          <a:prstGeom prst="rect">
            <a:avLst/>
          </a:prstGeom>
        </p:spPr>
        <p:txBody>
          <a:bodyPr/>
          <a:lstStyle>
            <a:defPPr>
              <a:defRPr kern="1200"/>
            </a:defPPr>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411660122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94279" y="1317625"/>
            <a:ext cx="39502643" cy="5486400"/>
          </a:xfrm>
          <a:prstGeom prst="rect">
            <a:avLst/>
          </a:prstGeom>
        </p:spPr>
        <p:txBody>
          <a:bodyPr/>
          <a:lstStyle>
            <a:defPPr>
              <a:defRPr kern="1200"/>
            </a:defPPr>
          </a:lstStyle>
          <a:p>
            <a:r>
              <a:rPr lang="en-US"/>
              <a:t>Click to edit Master title style</a:t>
            </a:r>
          </a:p>
        </p:txBody>
      </p:sp>
      <p:sp>
        <p:nvSpPr>
          <p:cNvPr id="3" name="Content Placeholder 2"/>
          <p:cNvSpPr>
            <a:spLocks noGrp="1"/>
          </p:cNvSpPr>
          <p:nvPr>
            <p:ph idx="1"/>
          </p:nvPr>
        </p:nvSpPr>
        <p:spPr>
          <a:xfrm>
            <a:off x="2194279" y="7680325"/>
            <a:ext cx="39502643" cy="21724938"/>
          </a:xfrm>
          <a:prstGeom prst="rect">
            <a:avLst/>
          </a:prstGeo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430835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1" y="21153439"/>
            <a:ext cx="37306957" cy="6537325"/>
          </a:xfrm>
          <a:prstGeom prst="rect">
            <a:avLst/>
          </a:prstGeom>
        </p:spPr>
        <p:txBody>
          <a:bodyPr anchor="t"/>
          <a:lstStyle>
            <a:defPPr>
              <a:defRPr kern="1200"/>
            </a:defPPr>
            <a:lvl1pPr algn="l">
              <a:defRPr sz="4000" b="1" cap="all"/>
            </a:lvl1pPr>
          </a:lstStyle>
          <a:p>
            <a:r>
              <a:rPr lang="en-US"/>
              <a:t>Click to edit Master title style</a:t>
            </a:r>
          </a:p>
        </p:txBody>
      </p:sp>
      <p:sp>
        <p:nvSpPr>
          <p:cNvPr id="3" name="Text Placeholder 2"/>
          <p:cNvSpPr>
            <a:spLocks noGrp="1"/>
          </p:cNvSpPr>
          <p:nvPr>
            <p:ph type="body" idx="1"/>
          </p:nvPr>
        </p:nvSpPr>
        <p:spPr>
          <a:xfrm>
            <a:off x="3467101" y="13952538"/>
            <a:ext cx="37306957" cy="7200900"/>
          </a:xfrm>
          <a:prstGeom prst="rect">
            <a:avLst/>
          </a:prstGeom>
        </p:spPr>
        <p:txBody>
          <a:bodyPr anchor="b"/>
          <a:lstStyle>
            <a:defPPr>
              <a:defRPr kern="1200"/>
            </a:defPPr>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72244965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94279" y="1317625"/>
            <a:ext cx="39502643" cy="5486400"/>
          </a:xfrm>
          <a:prstGeom prst="rect">
            <a:avLst/>
          </a:prstGeom>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2194279" y="7680325"/>
            <a:ext cx="19683588" cy="21724938"/>
          </a:xfrm>
          <a:prstGeom prst="rect">
            <a:avLst/>
          </a:prstGeo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13334" y="7680325"/>
            <a:ext cx="19683589" cy="21724938"/>
          </a:xfrm>
          <a:prstGeom prst="rect">
            <a:avLst/>
          </a:prstGeo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497320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279" y="1317625"/>
            <a:ext cx="39502643" cy="5486400"/>
          </a:xfrm>
          <a:prstGeom prst="rect">
            <a:avLst/>
          </a:prstGeom>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2194278" y="7369176"/>
            <a:ext cx="19392900" cy="3070225"/>
          </a:xfrm>
          <a:prstGeom prst="rect">
            <a:avLst/>
          </a:prstGeom>
        </p:spPr>
        <p:txBody>
          <a:bodyPr anchor="b"/>
          <a:lstStyle>
            <a:defPPr>
              <a:defRPr kern="1200"/>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4278" y="10439401"/>
            <a:ext cx="19392900" cy="18965862"/>
          </a:xfrm>
          <a:prstGeom prst="rect">
            <a:avLst/>
          </a:prstGeo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5555" y="7369176"/>
            <a:ext cx="19401368" cy="3070225"/>
          </a:xfrm>
          <a:prstGeom prst="rect">
            <a:avLst/>
          </a:prstGeom>
        </p:spPr>
        <p:txBody>
          <a:bodyPr anchor="b"/>
          <a:lstStyle>
            <a:defPPr>
              <a:defRPr kern="1200"/>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5555" y="10439401"/>
            <a:ext cx="19401368" cy="18965862"/>
          </a:xfrm>
          <a:prstGeom prst="rect">
            <a:avLst/>
          </a:prstGeo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059614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194279" y="1317625"/>
            <a:ext cx="39502643" cy="5486400"/>
          </a:xfrm>
          <a:prstGeom prst="rect">
            <a:avLst/>
          </a:prstGeom>
        </p:spPr>
        <p:txBody>
          <a:bodyPr/>
          <a:lstStyle>
            <a:defPPr>
              <a:defRPr kern="1200"/>
            </a:defPPr>
          </a:lstStyle>
          <a:p>
            <a:r>
              <a:rPr lang="en-US"/>
              <a:t>Click to edit Master title style</a:t>
            </a:r>
          </a:p>
        </p:txBody>
      </p:sp>
    </p:spTree>
    <p:extLst>
      <p:ext uri="{BB962C8B-B14F-4D97-AF65-F5344CB8AC3E}">
        <p14:creationId xmlns:p14="http://schemas.microsoft.com/office/powerpoint/2010/main" val="224570457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098106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278" y="1311275"/>
            <a:ext cx="14439900" cy="5576888"/>
          </a:xfrm>
          <a:prstGeom prst="rect">
            <a:avLst/>
          </a:prstGeom>
        </p:spPr>
        <p:txBody>
          <a:bodyPr anchor="b"/>
          <a:lstStyle>
            <a:defPPr>
              <a:defRPr kern="1200"/>
            </a:defPPr>
            <a:lvl1pPr algn="l">
              <a:defRPr sz="2000" b="1"/>
            </a:lvl1pPr>
          </a:lstStyle>
          <a:p>
            <a:r>
              <a:rPr lang="en-US"/>
              <a:t>Click to edit Master title style</a:t>
            </a:r>
          </a:p>
        </p:txBody>
      </p:sp>
      <p:sp>
        <p:nvSpPr>
          <p:cNvPr id="3" name="Content Placeholder 2"/>
          <p:cNvSpPr>
            <a:spLocks noGrp="1"/>
          </p:cNvSpPr>
          <p:nvPr>
            <p:ph idx="1"/>
          </p:nvPr>
        </p:nvSpPr>
        <p:spPr>
          <a:xfrm>
            <a:off x="17160523" y="1311275"/>
            <a:ext cx="24536400" cy="28093988"/>
          </a:xfrm>
          <a:prstGeom prst="rect">
            <a:avLst/>
          </a:prstGeom>
        </p:spPr>
        <p:txBody>
          <a:bodyPr/>
          <a:lstStyle>
            <a:defPPr>
              <a:defRPr kern="1200"/>
            </a:defPPr>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278" y="6888163"/>
            <a:ext cx="14439900" cy="22517100"/>
          </a:xfrm>
          <a:prstGeom prst="rect">
            <a:avLst/>
          </a:prstGeom>
        </p:spPr>
        <p:txBody>
          <a:bodyPr/>
          <a:lstStyle>
            <a:defPPr>
              <a:defRPr kern="1200"/>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1175467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3545" y="23042564"/>
            <a:ext cx="26334157" cy="2720975"/>
          </a:xfrm>
          <a:prstGeom prst="rect">
            <a:avLst/>
          </a:prstGeom>
        </p:spPr>
        <p:txBody>
          <a:bodyPr anchor="b"/>
          <a:lstStyle>
            <a:defPPr>
              <a:defRPr kern="1200"/>
            </a:defPPr>
            <a:lvl1pPr algn="l">
              <a:defRPr sz="2000" b="1"/>
            </a:lvl1pPr>
          </a:lstStyle>
          <a:p>
            <a:r>
              <a:rPr lang="en-US"/>
              <a:t>Click to edit Master title style</a:t>
            </a:r>
          </a:p>
        </p:txBody>
      </p:sp>
      <p:sp>
        <p:nvSpPr>
          <p:cNvPr id="3" name="Picture Placeholder 2"/>
          <p:cNvSpPr>
            <a:spLocks noGrp="1"/>
          </p:cNvSpPr>
          <p:nvPr>
            <p:ph type="pic" idx="1"/>
          </p:nvPr>
        </p:nvSpPr>
        <p:spPr>
          <a:xfrm>
            <a:off x="8603545" y="2941639"/>
            <a:ext cx="26334157" cy="19750088"/>
          </a:xfrm>
          <a:prstGeom prst="rect">
            <a:avLst/>
          </a:prstGeom>
        </p:spPr>
        <p:txBody>
          <a:bodyPr/>
          <a:lstStyle>
            <a:defPPr>
              <a:defRPr kern="1200"/>
            </a:defPPr>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3545" y="25763539"/>
            <a:ext cx="26334157" cy="3862387"/>
          </a:xfrm>
          <a:prstGeom prst="rect">
            <a:avLst/>
          </a:prstGeom>
        </p:spPr>
        <p:txBody>
          <a:bodyPr/>
          <a:lstStyle>
            <a:defPPr>
              <a:defRPr kern="1200"/>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7395915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194279" y="1317625"/>
            <a:ext cx="39502643" cy="5486400"/>
          </a:xfrm>
          <a:prstGeom prst="rect">
            <a:avLst/>
          </a:prstGeom>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2194279" y="7680325"/>
            <a:ext cx="39502643" cy="21724938"/>
          </a:xfrm>
          <a:prstGeom prst="rect">
            <a:avLst/>
          </a:prstGeo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382205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968" y="1317625"/>
            <a:ext cx="9874956" cy="28087638"/>
          </a:xfrm>
          <a:prstGeom prst="rect">
            <a:avLst/>
          </a:prstGeo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2194278" y="1317625"/>
            <a:ext cx="29492222" cy="28087638"/>
          </a:xfrm>
          <a:prstGeom prst="rect">
            <a:avLst/>
          </a:prstGeo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151270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New picture"/>
          <p:cNvPicPr/>
          <p:nvPr/>
        </p:nvPicPr>
        <p:blipFill>
          <a:blip r:embed="rId13"/>
          <a:stretch>
            <a:fillRect/>
          </a:stretch>
        </p:blipFill>
        <p:spPr>
          <a:xfrm rot="16200000">
            <a:off x="-11074400" y="16459200"/>
            <a:ext cx="14274800" cy="3937000"/>
          </a:xfrm>
          <a:prstGeom prst="rect">
            <a:avLst/>
          </a:prstGeom>
        </p:spPr>
      </p:pic>
      <p:pic>
        <p:nvPicPr>
          <p:cNvPr id="3" name="New picture"/>
          <p:cNvPicPr/>
          <p:nvPr/>
        </p:nvPicPr>
        <p:blipFill>
          <a:blip r:embed="rId13"/>
          <a:stretch>
            <a:fillRect/>
          </a:stretch>
        </p:blipFill>
        <p:spPr>
          <a:xfrm rot="5400000">
            <a:off x="40690800" y="16459200"/>
            <a:ext cx="14274800" cy="3937000"/>
          </a:xfrm>
          <a:prstGeom prst="rect">
            <a:avLst/>
          </a:prstGeom>
        </p:spPr>
      </p:pic>
      <p:pic>
        <p:nvPicPr>
          <p:cNvPr id="4" name="New picture"/>
          <p:cNvPicPr/>
          <p:nvPr/>
        </p:nvPicPr>
        <p:blipFill>
          <a:blip r:embed="rId14"/>
          <a:stretch>
            <a:fillRect/>
          </a:stretch>
        </p:blipFill>
        <p:spPr>
          <a:xfrm>
            <a:off x="6946900" y="33426400"/>
            <a:ext cx="29997400" cy="1447800"/>
          </a:xfrm>
          <a:prstGeom prst="rect">
            <a:avLst/>
          </a:prstGeom>
        </p:spPr>
      </p:pic>
      <p:sp>
        <p:nvSpPr>
          <p:cNvPr id="5" name="New shape"/>
          <p:cNvSpPr/>
          <p:nvPr/>
        </p:nvSpPr>
        <p:spPr>
          <a:xfrm>
            <a:off x="6946900" y="33997900"/>
            <a:ext cx="219456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ponderingpeacock  Size: 48x36</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3074988" rtl="0" eaLnBrk="0" fontAlgn="base" hangingPunct="0">
        <a:spcBef>
          <a:spcPct val="0"/>
        </a:spcBef>
        <a:spcAft>
          <a:spcPct val="0"/>
        </a:spcAft>
        <a:defRPr sz="14800">
          <a:solidFill>
            <a:schemeClr val="tx2"/>
          </a:solidFill>
          <a:latin typeface="+mj-lt"/>
          <a:ea typeface="+mj-ea"/>
          <a:cs typeface="+mj-cs"/>
        </a:defRPr>
      </a:lvl1pPr>
      <a:lvl2pPr algn="ctr" defTabSz="3074988" rtl="0" eaLnBrk="0" fontAlgn="base" hangingPunct="0">
        <a:spcBef>
          <a:spcPct val="0"/>
        </a:spcBef>
        <a:spcAft>
          <a:spcPct val="0"/>
        </a:spcAft>
        <a:defRPr sz="14800">
          <a:solidFill>
            <a:schemeClr val="tx2"/>
          </a:solidFill>
          <a:latin typeface="Times New Roman" pitchFamily="18" charset="0"/>
        </a:defRPr>
      </a:lvl2pPr>
      <a:lvl3pPr algn="ctr" defTabSz="3074988" rtl="0" eaLnBrk="0" fontAlgn="base" hangingPunct="0">
        <a:spcBef>
          <a:spcPct val="0"/>
        </a:spcBef>
        <a:spcAft>
          <a:spcPct val="0"/>
        </a:spcAft>
        <a:defRPr sz="14800">
          <a:solidFill>
            <a:schemeClr val="tx2"/>
          </a:solidFill>
          <a:latin typeface="Times New Roman" pitchFamily="18" charset="0"/>
        </a:defRPr>
      </a:lvl3pPr>
      <a:lvl4pPr algn="ctr" defTabSz="3074988" rtl="0" eaLnBrk="0" fontAlgn="base" hangingPunct="0">
        <a:spcBef>
          <a:spcPct val="0"/>
        </a:spcBef>
        <a:spcAft>
          <a:spcPct val="0"/>
        </a:spcAft>
        <a:defRPr sz="14800">
          <a:solidFill>
            <a:schemeClr val="tx2"/>
          </a:solidFill>
          <a:latin typeface="Times New Roman" pitchFamily="18" charset="0"/>
        </a:defRPr>
      </a:lvl4pPr>
      <a:lvl5pPr algn="ctr" defTabSz="3074988" rtl="0" eaLnBrk="0" fontAlgn="base" hangingPunct="0">
        <a:spcBef>
          <a:spcPct val="0"/>
        </a:spcBef>
        <a:spcAft>
          <a:spcPct val="0"/>
        </a:spcAft>
        <a:defRPr sz="14800">
          <a:solidFill>
            <a:schemeClr val="tx2"/>
          </a:solidFill>
          <a:latin typeface="Times New Roman" pitchFamily="18" charset="0"/>
        </a:defRPr>
      </a:lvl5pPr>
      <a:lvl6pPr marL="457200" algn="ctr" defTabSz="3074988" rtl="0" eaLnBrk="0" fontAlgn="base" hangingPunct="0">
        <a:spcBef>
          <a:spcPct val="0"/>
        </a:spcBef>
        <a:spcAft>
          <a:spcPct val="0"/>
        </a:spcAft>
        <a:defRPr sz="14800">
          <a:solidFill>
            <a:schemeClr val="tx2"/>
          </a:solidFill>
          <a:latin typeface="Times New Roman" pitchFamily="18" charset="0"/>
        </a:defRPr>
      </a:lvl6pPr>
      <a:lvl7pPr marL="914400" algn="ctr" defTabSz="3074988" rtl="0" eaLnBrk="0" fontAlgn="base" hangingPunct="0">
        <a:spcBef>
          <a:spcPct val="0"/>
        </a:spcBef>
        <a:spcAft>
          <a:spcPct val="0"/>
        </a:spcAft>
        <a:defRPr sz="14800">
          <a:solidFill>
            <a:schemeClr val="tx2"/>
          </a:solidFill>
          <a:latin typeface="Times New Roman" pitchFamily="18" charset="0"/>
        </a:defRPr>
      </a:lvl7pPr>
      <a:lvl8pPr marL="1371600" algn="ctr" defTabSz="3074988" rtl="0" eaLnBrk="0" fontAlgn="base" hangingPunct="0">
        <a:spcBef>
          <a:spcPct val="0"/>
        </a:spcBef>
        <a:spcAft>
          <a:spcPct val="0"/>
        </a:spcAft>
        <a:defRPr sz="14800">
          <a:solidFill>
            <a:schemeClr val="tx2"/>
          </a:solidFill>
          <a:latin typeface="Times New Roman" pitchFamily="18" charset="0"/>
        </a:defRPr>
      </a:lvl8pPr>
      <a:lvl9pPr marL="1828800" algn="ctr" defTabSz="3074988" rtl="0" eaLnBrk="0" fontAlgn="base" hangingPunct="0">
        <a:spcBef>
          <a:spcPct val="0"/>
        </a:spcBef>
        <a:spcAft>
          <a:spcPct val="0"/>
        </a:spcAft>
        <a:defRPr sz="14800">
          <a:solidFill>
            <a:schemeClr val="tx2"/>
          </a:solidFill>
          <a:latin typeface="Times New Roman" pitchFamily="18" charset="0"/>
        </a:defRPr>
      </a:lvl9pPr>
    </p:titleStyle>
    <p:bodyStyle>
      <a:defPPr>
        <a:defRPr kern="1200"/>
      </a:defPPr>
      <a:lvl1pPr marL="1150938" indent="-1150938" algn="l" defTabSz="3074988" rtl="0" eaLnBrk="0" fontAlgn="base" hangingPunct="0">
        <a:spcBef>
          <a:spcPct val="20000"/>
        </a:spcBef>
        <a:spcAft>
          <a:spcPct val="0"/>
        </a:spcAft>
        <a:buChar char="•"/>
        <a:defRPr sz="10700">
          <a:solidFill>
            <a:schemeClr val="tx1"/>
          </a:solidFill>
          <a:latin typeface="+mn-lt"/>
          <a:ea typeface="+mn-ea"/>
          <a:cs typeface="+mn-cs"/>
        </a:defRPr>
      </a:lvl1pPr>
      <a:lvl2pPr marL="2497138" indent="-960438" algn="l" defTabSz="3074988" rtl="0" eaLnBrk="0" fontAlgn="base" hangingPunct="0">
        <a:spcBef>
          <a:spcPct val="20000"/>
        </a:spcBef>
        <a:spcAft>
          <a:spcPct val="0"/>
        </a:spcAft>
        <a:buChar char="–"/>
        <a:defRPr sz="9500">
          <a:solidFill>
            <a:schemeClr val="tx1"/>
          </a:solidFill>
          <a:latin typeface="+mn-lt"/>
        </a:defRPr>
      </a:lvl2pPr>
      <a:lvl3pPr marL="3843338" indent="-768350" algn="l" defTabSz="3074988" rtl="0" eaLnBrk="0" fontAlgn="base" hangingPunct="0">
        <a:spcBef>
          <a:spcPct val="20000"/>
        </a:spcBef>
        <a:spcAft>
          <a:spcPct val="0"/>
        </a:spcAft>
        <a:buChar char="•"/>
        <a:defRPr sz="8100">
          <a:solidFill>
            <a:schemeClr val="tx1"/>
          </a:solidFill>
          <a:latin typeface="+mn-lt"/>
        </a:defRPr>
      </a:lvl3pPr>
      <a:lvl4pPr marL="5384800" indent="-773113" algn="l" defTabSz="3074988" rtl="0" eaLnBrk="0" fontAlgn="base" hangingPunct="0">
        <a:spcBef>
          <a:spcPct val="20000"/>
        </a:spcBef>
        <a:spcAft>
          <a:spcPct val="0"/>
        </a:spcAft>
        <a:buChar char="–"/>
        <a:defRPr sz="6500">
          <a:solidFill>
            <a:schemeClr val="tx1"/>
          </a:solidFill>
          <a:latin typeface="+mn-lt"/>
        </a:defRPr>
      </a:lvl4pPr>
      <a:lvl5pPr marL="6921500" indent="-768350" algn="l" defTabSz="3074988" rtl="0" eaLnBrk="0" fontAlgn="base" hangingPunct="0">
        <a:spcBef>
          <a:spcPct val="20000"/>
        </a:spcBef>
        <a:spcAft>
          <a:spcPct val="0"/>
        </a:spcAft>
        <a:buChar char="»"/>
        <a:defRPr sz="6500">
          <a:solidFill>
            <a:schemeClr val="tx1"/>
          </a:solidFill>
          <a:latin typeface="+mn-lt"/>
        </a:defRPr>
      </a:lvl5pPr>
      <a:lvl6pPr marL="7378700" indent="-768350" algn="l" defTabSz="3074988" rtl="0" eaLnBrk="0" fontAlgn="base" hangingPunct="0">
        <a:spcBef>
          <a:spcPct val="20000"/>
        </a:spcBef>
        <a:spcAft>
          <a:spcPct val="0"/>
        </a:spcAft>
        <a:buChar char="»"/>
        <a:defRPr sz="6500">
          <a:solidFill>
            <a:schemeClr val="tx1"/>
          </a:solidFill>
          <a:latin typeface="+mn-lt"/>
        </a:defRPr>
      </a:lvl6pPr>
      <a:lvl7pPr marL="7835900" indent="-768350" algn="l" defTabSz="3074988" rtl="0" eaLnBrk="0" fontAlgn="base" hangingPunct="0">
        <a:spcBef>
          <a:spcPct val="20000"/>
        </a:spcBef>
        <a:spcAft>
          <a:spcPct val="0"/>
        </a:spcAft>
        <a:buChar char="»"/>
        <a:defRPr sz="6500">
          <a:solidFill>
            <a:schemeClr val="tx1"/>
          </a:solidFill>
          <a:latin typeface="+mn-lt"/>
        </a:defRPr>
      </a:lvl7pPr>
      <a:lvl8pPr marL="8293100" indent="-768350" algn="l" defTabSz="3074988" rtl="0" eaLnBrk="0" fontAlgn="base" hangingPunct="0">
        <a:spcBef>
          <a:spcPct val="20000"/>
        </a:spcBef>
        <a:spcAft>
          <a:spcPct val="0"/>
        </a:spcAft>
        <a:buChar char="»"/>
        <a:defRPr sz="6500">
          <a:solidFill>
            <a:schemeClr val="tx1"/>
          </a:solidFill>
          <a:latin typeface="+mn-lt"/>
        </a:defRPr>
      </a:lvl8pPr>
      <a:lvl9pPr marL="8750300" indent="-768350" algn="l" defTabSz="3074988" rtl="0" eaLnBrk="0" fontAlgn="base" hangingPunct="0">
        <a:spcBef>
          <a:spcPct val="20000"/>
        </a:spcBef>
        <a:spcAft>
          <a:spcPct val="0"/>
        </a:spcAft>
        <a:buChar char="»"/>
        <a:defRPr sz="65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6.png"/><Relationship Id="rId12" Type="http://schemas.openxmlformats.org/officeDocument/2006/relationships/hyperlink" Target="https://en.wikipedia.org/wiki/File:Edmonds-Karp_flow_example_0.svg" TargetMode="External"/><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3.gif"/><Relationship Id="rId11" Type="http://schemas.openxmlformats.org/officeDocument/2006/relationships/image" Target="../media/image10.png"/><Relationship Id="rId5" Type="http://schemas.openxmlformats.org/officeDocument/2006/relationships/image" Target="../media/image5.png"/><Relationship Id="rId15" Type="http://schemas.openxmlformats.org/officeDocument/2006/relationships/image" Target="../media/image13.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8.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shadeToTitle="1">
        <a:solidFill>
          <a:srgbClr val="2D3C50"/>
        </a:solidFill>
        <a:effectLst/>
      </p:bgPr>
    </p:bg>
    <p:spTree>
      <p:nvGrpSpPr>
        <p:cNvPr id="1" name=""/>
        <p:cNvGrpSpPr/>
        <p:nvPr/>
      </p:nvGrpSpPr>
      <p:grpSpPr>
        <a:xfrm>
          <a:off x="0" y="0"/>
          <a:ext cx="0" cy="0"/>
          <a:chOff x="0" y="0"/>
          <a:chExt cx="0" cy="0"/>
        </a:xfrm>
      </p:grpSpPr>
      <p:sp>
        <p:nvSpPr>
          <p:cNvPr id="28" name="Text Box 241"/>
          <p:cNvSpPr txBox="1">
            <a:spLocks noChangeArrowheads="1"/>
          </p:cNvSpPr>
          <p:nvPr/>
        </p:nvSpPr>
        <p:spPr bwMode="auto">
          <a:xfrm>
            <a:off x="685800" y="685800"/>
            <a:ext cx="42519600" cy="6080622"/>
          </a:xfrm>
          <a:prstGeom prst="snip2DiagRect">
            <a:avLst/>
          </a:prstGeom>
          <a:solidFill>
            <a:srgbClr val="E64B3C"/>
          </a:solidFill>
          <a:ln w="25400">
            <a:noFill/>
            <a:miter lim="800000"/>
          </a:ln>
        </p:spPr>
        <p:txBody>
          <a:bodyPr lIns="61170" tIns="30584" rIns="61170" bIns="30584" anchor="ctr"/>
          <a:lstStyle>
            <a:defPPr>
              <a:defRPr kern="1200"/>
            </a:defPPr>
            <a:lvl1pPr defTabSz="612775">
              <a:defRPr sz="2400">
                <a:solidFill>
                  <a:schemeClr val="tx1"/>
                </a:solidFill>
                <a:latin typeface="Times New Roman" pitchFamily="18" charset="0"/>
              </a:defRPr>
            </a:lvl1pPr>
            <a:lvl2pPr marL="742950" indent="-285750" defTabSz="612775">
              <a:defRPr sz="2400">
                <a:solidFill>
                  <a:schemeClr val="tx1"/>
                </a:solidFill>
                <a:latin typeface="Times New Roman" pitchFamily="18" charset="0"/>
              </a:defRPr>
            </a:lvl2pPr>
            <a:lvl3pPr marL="1143000" indent="-228600" defTabSz="612775">
              <a:defRPr sz="2400">
                <a:solidFill>
                  <a:schemeClr val="tx1"/>
                </a:solidFill>
                <a:latin typeface="Times New Roman" pitchFamily="18" charset="0"/>
              </a:defRPr>
            </a:lvl3pPr>
            <a:lvl4pPr marL="1600200" indent="-228600" defTabSz="612775">
              <a:defRPr sz="2400">
                <a:solidFill>
                  <a:schemeClr val="tx1"/>
                </a:solidFill>
                <a:latin typeface="Times New Roman" pitchFamily="18" charset="0"/>
              </a:defRPr>
            </a:lvl4pPr>
            <a:lvl5pPr marL="2057400" indent="-228600" defTabSz="612775">
              <a:defRPr sz="2400">
                <a:solidFill>
                  <a:schemeClr val="tx1"/>
                </a:solidFill>
                <a:latin typeface="Times New Roman" pitchFamily="18" charset="0"/>
              </a:defRPr>
            </a:lvl5pPr>
            <a:lvl6pPr marL="2514600" indent="-228600" defTabSz="612775" eaLnBrk="0" fontAlgn="base" hangingPunct="0">
              <a:spcBef>
                <a:spcPct val="0"/>
              </a:spcBef>
              <a:spcAft>
                <a:spcPct val="0"/>
              </a:spcAft>
              <a:defRPr sz="2400">
                <a:solidFill>
                  <a:schemeClr val="tx1"/>
                </a:solidFill>
                <a:latin typeface="Times New Roman" pitchFamily="18" charset="0"/>
              </a:defRPr>
            </a:lvl6pPr>
            <a:lvl7pPr marL="2971800" indent="-228600" defTabSz="612775" eaLnBrk="0" fontAlgn="base" hangingPunct="0">
              <a:spcBef>
                <a:spcPct val="0"/>
              </a:spcBef>
              <a:spcAft>
                <a:spcPct val="0"/>
              </a:spcAft>
              <a:defRPr sz="2400">
                <a:solidFill>
                  <a:schemeClr val="tx1"/>
                </a:solidFill>
                <a:latin typeface="Times New Roman" pitchFamily="18" charset="0"/>
              </a:defRPr>
            </a:lvl7pPr>
            <a:lvl8pPr marL="3429000" indent="-228600" defTabSz="612775" eaLnBrk="0" fontAlgn="base" hangingPunct="0">
              <a:spcBef>
                <a:spcPct val="0"/>
              </a:spcBef>
              <a:spcAft>
                <a:spcPct val="0"/>
              </a:spcAft>
              <a:defRPr sz="2400">
                <a:solidFill>
                  <a:schemeClr val="tx1"/>
                </a:solidFill>
                <a:latin typeface="Times New Roman" pitchFamily="18" charset="0"/>
              </a:defRPr>
            </a:lvl8pPr>
            <a:lvl9pPr marL="3886200" indent="-228600" defTabSz="612775" eaLnBrk="0" fontAlgn="base" hangingPunct="0">
              <a:spcBef>
                <a:spcPct val="0"/>
              </a:spcBef>
              <a:spcAft>
                <a:spcPct val="0"/>
              </a:spcAft>
              <a:defRPr sz="2400">
                <a:solidFill>
                  <a:schemeClr val="tx1"/>
                </a:solidFill>
                <a:latin typeface="Times New Roman" pitchFamily="18" charset="0"/>
              </a:defRPr>
            </a:lvl9pPr>
          </a:lstStyle>
          <a:p>
            <a:pPr algn="ctr"/>
            <a:endParaRPr lang="en-US" altLang="zh-CN" sz="4200" b="1" i="1" u="sng">
              <a:solidFill>
                <a:schemeClr val="bg1"/>
              </a:solidFill>
              <a:latin typeface="Arial"/>
              <a:ea typeface="SimSun" pitchFamily="2" charset="-122"/>
            </a:endParaRPr>
          </a:p>
        </p:txBody>
      </p:sp>
      <p:sp>
        <p:nvSpPr>
          <p:cNvPr id="70" name="Text Placeholder 5">
            <a:extLst>
              <a:ext uri="{FF2B5EF4-FFF2-40B4-BE49-F238E27FC236}">
                <a16:creationId xmlns:a16="http://schemas.microsoft.com/office/drawing/2014/main" id="{425621FB-070F-446E-BA36-4A66EBF8DEF2}"/>
              </a:ext>
            </a:extLst>
          </p:cNvPr>
          <p:cNvSpPr txBox="1"/>
          <p:nvPr/>
        </p:nvSpPr>
        <p:spPr>
          <a:xfrm>
            <a:off x="890594" y="1214565"/>
            <a:ext cx="41552806" cy="1966955"/>
          </a:xfrm>
          <a:prstGeom prst="rect">
            <a:avLst/>
          </a:prstGeom>
        </p:spPr>
        <p:txBody>
          <a:bodyPr lIns="0" tIns="0" rIns="0" bIns="0">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defTabSz="3761086">
              <a:spcBef>
                <a:spcPct val="20000"/>
              </a:spcBef>
              <a:defRPr/>
            </a:pPr>
            <a:r>
              <a:rPr lang="en-US" dirty="0">
                <a:solidFill>
                  <a:schemeClr val="bg1"/>
                </a:solidFill>
                <a:effectLst/>
              </a:rPr>
              <a:t>Maximum Flow analysis of Small Electrical Power distribution Network based on Electric flow algorithm</a:t>
            </a:r>
          </a:p>
          <a:p>
            <a:pPr algn="ctr" defTabSz="3761086">
              <a:spcBef>
                <a:spcPct val="20000"/>
              </a:spcBef>
              <a:defRPr/>
            </a:pPr>
            <a:endParaRPr lang="en-US" sz="8500" b="1" dirty="0">
              <a:solidFill>
                <a:schemeClr val="bg1"/>
              </a:solidFill>
              <a:effectLst/>
              <a:latin typeface="Quattrocento" panose="02020802030000000404" pitchFamily="18" charset="0"/>
            </a:endParaRPr>
          </a:p>
        </p:txBody>
      </p:sp>
      <p:sp>
        <p:nvSpPr>
          <p:cNvPr id="71" name="Text Placeholder 5">
            <a:extLst>
              <a:ext uri="{FF2B5EF4-FFF2-40B4-BE49-F238E27FC236}">
                <a16:creationId xmlns:a16="http://schemas.microsoft.com/office/drawing/2014/main" id="{3A3E55C8-5130-4258-80B1-064CE3FDB621}"/>
              </a:ext>
            </a:extLst>
          </p:cNvPr>
          <p:cNvSpPr txBox="1"/>
          <p:nvPr/>
        </p:nvSpPr>
        <p:spPr>
          <a:xfrm>
            <a:off x="3657600" y="2395998"/>
            <a:ext cx="36576000" cy="5355312"/>
          </a:xfrm>
          <a:prstGeom prst="rect">
            <a:avLst/>
          </a:prstGeom>
        </p:spPr>
        <p:txBody>
          <a:bodyPr lIns="0" tIns="0" rIns="0" bIns="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defRPr/>
            </a:pPr>
            <a:r>
              <a:rPr lang="en-US" b="1" dirty="0">
                <a:solidFill>
                  <a:schemeClr val="bg1"/>
                </a:solidFill>
                <a:effectLst/>
                <a:latin typeface="Quattrocento" panose="02020802030000000404" pitchFamily="18" charset="0"/>
                <a:cs typeface="Arial" pitchFamily="34" charset="0"/>
              </a:rPr>
              <a:t>Khadija Amdored</a:t>
            </a:r>
          </a:p>
          <a:p>
            <a:pPr algn="ctr">
              <a:defRPr/>
            </a:pPr>
            <a:r>
              <a:rPr lang="en-US" dirty="0">
                <a:solidFill>
                  <a:schemeClr val="bg1"/>
                </a:solidFill>
                <a:effectLst/>
                <a:latin typeface="Quattrocento" panose="02020802030000000404" pitchFamily="18" charset="0"/>
                <a:cs typeface="Arial" pitchFamily="34" charset="0"/>
              </a:rPr>
              <a:t>Supervisor: </a:t>
            </a:r>
            <a:r>
              <a:rPr lang="en-US" dirty="0">
                <a:solidFill>
                  <a:schemeClr val="bg1"/>
                </a:solidFill>
              </a:rPr>
              <a:t>Steffen Borgwardt</a:t>
            </a:r>
          </a:p>
          <a:p>
            <a:pPr algn="ctr">
              <a:defRPr/>
            </a:pPr>
            <a:r>
              <a:rPr lang="en-US" dirty="0">
                <a:solidFill>
                  <a:schemeClr val="bg1"/>
                </a:solidFill>
                <a:effectLst/>
                <a:latin typeface="Quattrocento" panose="02020802030000000404" pitchFamily="18" charset="0"/>
                <a:cs typeface="Arial" pitchFamily="34" charset="0"/>
              </a:rPr>
              <a:t>MATH 7825 _Spring2026</a:t>
            </a:r>
          </a:p>
          <a:p>
            <a:pPr algn="ctr"/>
            <a:r>
              <a:rPr lang="en-US" dirty="0">
                <a:solidFill>
                  <a:schemeClr val="bg1"/>
                </a:solidFill>
              </a:rPr>
              <a:t>University of Colorado Denver</a:t>
            </a:r>
          </a:p>
          <a:p>
            <a:r>
              <a:rPr lang="en-US" dirty="0"/>
              <a:t>Department of Mathematical and Statistical Sciences</a:t>
            </a:r>
            <a:endParaRPr lang="en-US" sz="5600" dirty="0">
              <a:solidFill>
                <a:schemeClr val="bg1"/>
              </a:solidFill>
              <a:effectLst/>
              <a:latin typeface="Quattrocento" panose="02020802030000000404" pitchFamily="18" charset="0"/>
              <a:cs typeface="Arial" pitchFamily="34" charset="0"/>
            </a:endParaRPr>
          </a:p>
        </p:txBody>
      </p:sp>
      <p:sp>
        <p:nvSpPr>
          <p:cNvPr id="75" name="Rectangle 74">
            <a:extLst>
              <a:ext uri="{FF2B5EF4-FFF2-40B4-BE49-F238E27FC236}">
                <a16:creationId xmlns:a16="http://schemas.microsoft.com/office/drawing/2014/main" id="{C24D4BC5-5256-4C2E-B3FB-87EA69B63AF3}"/>
              </a:ext>
            </a:extLst>
          </p:cNvPr>
          <p:cNvSpPr/>
          <p:nvPr/>
        </p:nvSpPr>
        <p:spPr>
          <a:xfrm>
            <a:off x="660482" y="8000999"/>
            <a:ext cx="10058400" cy="74567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latin typeface="+mj-lt"/>
            </a:endParaRPr>
          </a:p>
        </p:txBody>
      </p:sp>
      <p:sp>
        <p:nvSpPr>
          <p:cNvPr id="73" name="TextBox 19">
            <a:extLst>
              <a:ext uri="{FF2B5EF4-FFF2-40B4-BE49-F238E27FC236}">
                <a16:creationId xmlns:a16="http://schemas.microsoft.com/office/drawing/2014/main" id="{D5A32123-7974-4A0F-B8DF-6C82FB22F596}"/>
              </a:ext>
            </a:extLst>
          </p:cNvPr>
          <p:cNvSpPr txBox="1">
            <a:spLocks noChangeArrowheads="1"/>
          </p:cNvSpPr>
          <p:nvPr/>
        </p:nvSpPr>
        <p:spPr bwMode="auto">
          <a:xfrm>
            <a:off x="870929" y="8594311"/>
            <a:ext cx="9598176" cy="6863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r>
              <a:rPr lang="en-US" sz="2800" dirty="0">
                <a:effectLst/>
                <a:latin typeface="+mj-lt"/>
              </a:rPr>
              <a:t>Efficient electrical power distribution is a growing challenge as modern networks expand in scale and complexity. This project models and optimizes power flow in a small‑scale distribution system using network‑flow theory. The system includes one generation source, several substations, and multiple consumers connected by capacity‑limited transmission lines. Represented as a directed flow graph, nodes correspond to physical components and edges to transmission lines, with a super sink aggregating consumer demand. The Edmonds–Karp algorithm, a BFS‑based implementation of Ford–Fulkerson, computes the maximum feasible power transfer while revealing bottlenecks that constrain flow. Although simplified, the approach demonstrates how flow‑based optimization can inform efficient, reliable design of larger systems such as smart grids, renewable integration, and V2X infrastructures.</a:t>
            </a:r>
          </a:p>
          <a:p>
            <a:endParaRPr lang="en-US" dirty="0">
              <a:effectLst/>
            </a:endParaRPr>
          </a:p>
        </p:txBody>
      </p:sp>
      <p:sp>
        <p:nvSpPr>
          <p:cNvPr id="74" name="Rectangle 10">
            <a:extLst>
              <a:ext uri="{FF2B5EF4-FFF2-40B4-BE49-F238E27FC236}">
                <a16:creationId xmlns:a16="http://schemas.microsoft.com/office/drawing/2014/main" id="{4EDA12B6-07B5-44F9-8F8B-E1BE66469DB6}"/>
              </a:ext>
            </a:extLst>
          </p:cNvPr>
          <p:cNvSpPr>
            <a:spLocks noChangeArrowheads="1"/>
          </p:cNvSpPr>
          <p:nvPr/>
        </p:nvSpPr>
        <p:spPr bwMode="auto">
          <a:xfrm>
            <a:off x="660482" y="7471321"/>
            <a:ext cx="10058400" cy="873301"/>
          </a:xfrm>
          <a:prstGeom prst="snipRoundRect">
            <a:avLst>
              <a:gd name="adj1" fmla="val 0"/>
              <a:gd name="adj2" fmla="val 50000"/>
            </a:avLst>
          </a:prstGeom>
          <a:solidFill>
            <a:schemeClr val="accent2">
              <a:lumMod val="60000"/>
              <a:lumOff val="40000"/>
            </a:schemeClr>
          </a:solidFill>
          <a:ln w="12700">
            <a:noFill/>
            <a:miter lim="800000"/>
          </a:ln>
        </p:spPr>
        <p:txBody>
          <a:bodyPr wrap="none" lIns="274320" tIns="73152" rIns="274320" bIns="68563" anchor="ctr" anchorCtr="0"/>
          <a:lstStyle>
            <a:defPPr>
              <a:defRPr kern="1200"/>
            </a:defPPr>
          </a:lstStyle>
          <a:p>
            <a:pPr defTabSz="4702588">
              <a:defRPr/>
            </a:pPr>
            <a:r>
              <a:rPr lang="en-US" sz="3600" b="1">
                <a:solidFill>
                  <a:schemeClr val="bg1"/>
                </a:solidFill>
                <a:effectLst/>
                <a:latin typeface="Quattrocento" panose="02020802030000000404" pitchFamily="18" charset="0"/>
              </a:rPr>
              <a:t>Abstract</a:t>
            </a:r>
          </a:p>
        </p:txBody>
      </p:sp>
      <p:sp>
        <p:nvSpPr>
          <p:cNvPr id="79" name="Rectangle 78">
            <a:extLst>
              <a:ext uri="{FF2B5EF4-FFF2-40B4-BE49-F238E27FC236}">
                <a16:creationId xmlns:a16="http://schemas.microsoft.com/office/drawing/2014/main" id="{0F831EE1-8866-4A3E-8CAB-8624A11FF145}"/>
              </a:ext>
            </a:extLst>
          </p:cNvPr>
          <p:cNvSpPr/>
          <p:nvPr/>
        </p:nvSpPr>
        <p:spPr>
          <a:xfrm>
            <a:off x="11488502" y="8344621"/>
            <a:ext cx="10058400" cy="23887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latin typeface="+mj-lt"/>
            </a:endParaRPr>
          </a:p>
        </p:txBody>
      </p:sp>
      <mc:AlternateContent xmlns:mc="http://schemas.openxmlformats.org/markup-compatibility/2006" xmlns:a14="http://schemas.microsoft.com/office/drawing/2010/main">
        <mc:Choice Requires="a14">
          <p:sp>
            <p:nvSpPr>
              <p:cNvPr id="80" name="TextBox 19">
                <a:extLst>
                  <a:ext uri="{FF2B5EF4-FFF2-40B4-BE49-F238E27FC236}">
                    <a16:creationId xmlns:a16="http://schemas.microsoft.com/office/drawing/2014/main" id="{45A199C6-0BDE-461E-8044-A335463A4944}"/>
                  </a:ext>
                </a:extLst>
              </p:cNvPr>
              <p:cNvSpPr txBox="1">
                <a:spLocks noChangeArrowheads="1"/>
              </p:cNvSpPr>
              <p:nvPr/>
            </p:nvSpPr>
            <p:spPr bwMode="auto">
              <a:xfrm>
                <a:off x="11718614" y="8610600"/>
                <a:ext cx="9598176" cy="2534358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r>
                  <a:rPr lang="en-US" sz="2400" b="1" dirty="0">
                    <a:effectLst/>
                    <a:latin typeface="+mj-lt"/>
                  </a:rPr>
                  <a:t>a. Electrical Networks: </a:t>
                </a:r>
              </a:p>
              <a:p>
                <a:pPr algn="just"/>
                <a:r>
                  <a:rPr lang="en-US" sz="2400" dirty="0">
                    <a:effectLst/>
                    <a:latin typeface="+mj-lt"/>
                  </a:rPr>
                  <a:t>Electrical networks can be modeled as an undirected graph </a:t>
                </a:r>
                <a14:m>
                  <m:oMath xmlns:m="http://schemas.openxmlformats.org/officeDocument/2006/math">
                    <m:r>
                      <a:rPr lang="en-US" sz="2400">
                        <a:effectLst/>
                        <a:latin typeface="Cambria Math" panose="02040503050406030204" pitchFamily="18" charset="0"/>
                      </a:rPr>
                      <m:t>𝐺</m:t>
                    </m:r>
                    <m:d>
                      <m:dPr>
                        <m:ctrlPr>
                          <a:rPr lang="en-US" sz="2400" i="1">
                            <a:effectLst/>
                            <a:latin typeface="Cambria Math" panose="02040503050406030204" pitchFamily="18" charset="0"/>
                          </a:rPr>
                        </m:ctrlPr>
                      </m:dPr>
                      <m:e>
                        <m:r>
                          <a:rPr lang="en-US" sz="2400">
                            <a:effectLst/>
                            <a:latin typeface="Cambria Math" panose="02040503050406030204" pitchFamily="18" charset="0"/>
                          </a:rPr>
                          <m:t>𝑉</m:t>
                        </m:r>
                        <m:r>
                          <a:rPr lang="en-US" sz="2400">
                            <a:effectLst/>
                            <a:latin typeface="Cambria Math" panose="02040503050406030204" pitchFamily="18" charset="0"/>
                          </a:rPr>
                          <m:t>,</m:t>
                        </m:r>
                        <m:r>
                          <a:rPr lang="en-US" sz="2400">
                            <a:effectLst/>
                            <a:latin typeface="Cambria Math" panose="02040503050406030204" pitchFamily="18" charset="0"/>
                          </a:rPr>
                          <m:t>𝐸</m:t>
                        </m:r>
                      </m:e>
                    </m:d>
                  </m:oMath>
                </a14:m>
                <a:r>
                  <a:rPr lang="en-US" sz="2400" dirty="0">
                    <a:effectLst/>
                    <a:latin typeface="+mj-lt"/>
                  </a:rPr>
                  <a:t>, </a:t>
                </a:r>
                <a14:m>
                  <m:oMath xmlns:m="http://schemas.openxmlformats.org/officeDocument/2006/math">
                    <m:r>
                      <a:rPr lang="en-US" sz="2400">
                        <a:effectLst/>
                        <a:latin typeface="Cambria Math" panose="02040503050406030204" pitchFamily="18" charset="0"/>
                      </a:rPr>
                      <m:t>𝑎𝑠</m:t>
                    </m:r>
                    <m:r>
                      <a:rPr lang="en-US" sz="2400">
                        <a:effectLst/>
                        <a:latin typeface="Cambria Math" panose="02040503050406030204" pitchFamily="18" charset="0"/>
                      </a:rPr>
                      <m:t> </m:t>
                    </m:r>
                    <m:r>
                      <a:rPr lang="en-US" sz="2400">
                        <a:effectLst/>
                        <a:latin typeface="Cambria Math" panose="02040503050406030204" pitchFamily="18" charset="0"/>
                      </a:rPr>
                      <m:t>𝑠</m:t>
                    </m:r>
                    <m:r>
                      <a:rPr lang="en-US" sz="2400">
                        <a:effectLst/>
                        <a:latin typeface="Cambria Math" panose="02040503050406030204" pitchFamily="18" charset="0"/>
                      </a:rPr>
                      <m:t>h</m:t>
                    </m:r>
                    <m:r>
                      <a:rPr lang="en-US" sz="2400">
                        <a:effectLst/>
                        <a:latin typeface="Cambria Math" panose="02040503050406030204" pitchFamily="18" charset="0"/>
                      </a:rPr>
                      <m:t>𝑜𝑤𝑛</m:t>
                    </m:r>
                    <m:r>
                      <a:rPr lang="en-US" sz="2400">
                        <a:effectLst/>
                        <a:latin typeface="Cambria Math" panose="02040503050406030204" pitchFamily="18" charset="0"/>
                      </a:rPr>
                      <m:t> </m:t>
                    </m:r>
                    <m:r>
                      <a:rPr lang="en-US" sz="2400">
                        <a:effectLst/>
                        <a:latin typeface="Cambria Math" panose="02040503050406030204" pitchFamily="18" charset="0"/>
                      </a:rPr>
                      <m:t>𝑖𝑛</m:t>
                    </m:r>
                    <m:r>
                      <a:rPr lang="en-US" sz="2400">
                        <a:effectLst/>
                        <a:latin typeface="Cambria Math" panose="02040503050406030204" pitchFamily="18" charset="0"/>
                      </a:rPr>
                      <m:t> </m:t>
                    </m:r>
                    <m:r>
                      <a:rPr lang="en-US" sz="2400">
                        <a:effectLst/>
                        <a:latin typeface="Cambria Math" panose="02040503050406030204" pitchFamily="18" charset="0"/>
                      </a:rPr>
                      <m:t>𝑓𝑖𝑔𝑢𝑟𝑒</m:t>
                    </m:r>
                    <m:r>
                      <a:rPr lang="en-US" sz="2400">
                        <a:effectLst/>
                        <a:latin typeface="Cambria Math" panose="02040503050406030204" pitchFamily="18" charset="0"/>
                      </a:rPr>
                      <m:t> </m:t>
                    </m:r>
                    <m:r>
                      <a:rPr lang="en-US" sz="2400">
                        <a:effectLst/>
                        <a:latin typeface="Cambria Math" panose="02040503050406030204" pitchFamily="18" charset="0"/>
                      </a:rPr>
                      <m:t>1</m:t>
                    </m:r>
                  </m:oMath>
                </a14:m>
                <a:r>
                  <a:rPr lang="en-US" sz="2400" dirty="0">
                    <a:effectLst/>
                    <a:latin typeface="+mj-lt"/>
                  </a:rPr>
                  <a:t> where each edge </a:t>
                </a:r>
                <a14:m>
                  <m:oMath xmlns:m="http://schemas.openxmlformats.org/officeDocument/2006/math">
                    <m:d>
                      <m:dPr>
                        <m:ctrlPr>
                          <a:rPr lang="en-US" sz="2400" i="1">
                            <a:effectLst/>
                            <a:latin typeface="Cambria Math" panose="02040503050406030204" pitchFamily="18" charset="0"/>
                          </a:rPr>
                        </m:ctrlPr>
                      </m:dPr>
                      <m:e>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e>
                    </m:d>
                    <m:r>
                      <a:rPr lang="en-US" sz="2400">
                        <a:effectLst/>
                        <a:latin typeface="Cambria Math" panose="02040503050406030204" pitchFamily="18" charset="0"/>
                      </a:rPr>
                      <m:t>∈</m:t>
                    </m:r>
                    <m:r>
                      <a:rPr lang="en-US" sz="2400">
                        <a:effectLst/>
                        <a:latin typeface="Cambria Math" panose="02040503050406030204" pitchFamily="18" charset="0"/>
                      </a:rPr>
                      <m:t>𝐸</m:t>
                    </m:r>
                    <m:r>
                      <a:rPr lang="en-US" sz="2400">
                        <a:effectLst/>
                        <a:latin typeface="Cambria Math" panose="02040503050406030204" pitchFamily="18" charset="0"/>
                      </a:rPr>
                      <m:t> </m:t>
                    </m:r>
                  </m:oMath>
                </a14:m>
                <a:r>
                  <a:rPr lang="en-US" sz="2400" dirty="0">
                    <a:effectLst/>
                    <a:latin typeface="+mj-lt"/>
                  </a:rPr>
                  <a:t>has a resistance </a:t>
                </a:r>
                <a14:m>
                  <m:oMath xmlns:m="http://schemas.openxmlformats.org/officeDocument/2006/math">
                    <m:r>
                      <a:rPr lang="en-US" sz="2400">
                        <a:effectLst/>
                        <a:latin typeface="Cambria Math" panose="02040503050406030204" pitchFamily="18" charset="0"/>
                      </a:rPr>
                      <m:t>𝑟</m:t>
                    </m:r>
                    <m:d>
                      <m:dPr>
                        <m:ctrlPr>
                          <a:rPr lang="en-US" sz="2400" i="1">
                            <a:effectLst/>
                            <a:latin typeface="Cambria Math" panose="02040503050406030204" pitchFamily="18" charset="0"/>
                          </a:rPr>
                        </m:ctrlPr>
                      </m:dPr>
                      <m:e>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e>
                    </m:d>
                    <m:r>
                      <a:rPr lang="en-US" sz="2400">
                        <a:effectLst/>
                        <a:latin typeface="Cambria Math" panose="02040503050406030204" pitchFamily="18" charset="0"/>
                      </a:rPr>
                      <m:t>&gt;</m:t>
                    </m:r>
                    <m:r>
                      <a:rPr lang="en-US" sz="2400">
                        <a:effectLst/>
                        <a:latin typeface="Cambria Math" panose="02040503050406030204" pitchFamily="18" charset="0"/>
                      </a:rPr>
                      <m:t>0</m:t>
                    </m:r>
                    <m:r>
                      <a:rPr lang="en-US" sz="2400">
                        <a:effectLst/>
                        <a:latin typeface="Cambria Math" panose="02040503050406030204" pitchFamily="18" charset="0"/>
                      </a:rPr>
                      <m:t> </m:t>
                    </m:r>
                  </m:oMath>
                </a14:m>
                <a:r>
                  <a:rPr lang="en-US" sz="2400" dirty="0">
                    <a:effectLst/>
                    <a:latin typeface="+mj-lt"/>
                  </a:rPr>
                  <a:t>and a corresponding conductance </a:t>
                </a:r>
                <a14:m>
                  <m:oMath xmlns:m="http://schemas.openxmlformats.org/officeDocument/2006/math">
                    <m:r>
                      <a:rPr lang="en-US" sz="2400">
                        <a:effectLst/>
                        <a:latin typeface="Cambria Math" panose="02040503050406030204" pitchFamily="18" charset="0"/>
                      </a:rPr>
                      <m:t>𝑐</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r>
                      <a:rPr lang="en-US" sz="2400">
                        <a:effectLst/>
                        <a:latin typeface="Cambria Math" panose="02040503050406030204" pitchFamily="18" charset="0"/>
                      </a:rPr>
                      <m:t>1</m:t>
                    </m:r>
                    <m:r>
                      <a:rPr lang="en-US" sz="2400">
                        <a:effectLst/>
                        <a:latin typeface="Cambria Math" panose="02040503050406030204" pitchFamily="18" charset="0"/>
                      </a:rPr>
                      <m:t>/</m:t>
                    </m:r>
                    <m:r>
                      <a:rPr lang="en-US" sz="2400">
                        <a:effectLst/>
                        <a:latin typeface="Cambria Math" panose="02040503050406030204" pitchFamily="18" charset="0"/>
                      </a:rPr>
                      <m:t>𝑟</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oMath>
                </a14:m>
                <a:r>
                  <a:rPr lang="en-US" sz="2400" dirty="0">
                    <a:effectLst/>
                    <a:latin typeface="+mj-lt"/>
                  </a:rPr>
                  <a:t>. A current flow </a:t>
                </a:r>
                <a14:m>
                  <m:oMath xmlns:m="http://schemas.openxmlformats.org/officeDocument/2006/math">
                    <m:r>
                      <a:rPr lang="en-US" sz="2400">
                        <a:effectLst/>
                        <a:latin typeface="Cambria Math" panose="02040503050406030204" pitchFamily="18" charset="0"/>
                      </a:rPr>
                      <m:t>𝑓</m:t>
                    </m:r>
                  </m:oMath>
                </a14:m>
                <a:r>
                  <a:rPr lang="en-US" sz="2400" dirty="0">
                    <a:effectLst/>
                    <a:latin typeface="+mj-lt"/>
                  </a:rPr>
                  <a:t>in this network is governed by two physical laws: Kirchhoff’s Current Law (KCL): At every node, the total current entering equals the total current leaving. If </a:t>
                </a:r>
                <a14:m>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𝑏</m:t>
                        </m:r>
                      </m:e>
                      <m:sub>
                        <m:r>
                          <a:rPr lang="en-US" sz="2400">
                            <a:effectLst/>
                            <a:latin typeface="Cambria Math" panose="02040503050406030204" pitchFamily="18" charset="0"/>
                          </a:rPr>
                          <m:t>𝑖</m:t>
                        </m:r>
                      </m:sub>
                    </m:sSub>
                    <m:r>
                      <a:rPr lang="en-US" sz="2400">
                        <a:effectLst/>
                        <a:latin typeface="Cambria Math" panose="02040503050406030204" pitchFamily="18" charset="0"/>
                      </a:rPr>
                      <m:t> </m:t>
                    </m:r>
                  </m:oMath>
                </a14:m>
                <a:r>
                  <a:rPr lang="en-US" sz="2400" dirty="0">
                    <a:effectLst/>
                    <a:latin typeface="+mj-lt"/>
                  </a:rPr>
                  <a:t>denotes the net current injected at node </a:t>
                </a:r>
                <a14:m>
                  <m:oMath xmlns:m="http://schemas.openxmlformats.org/officeDocument/2006/math">
                    <m:r>
                      <a:rPr lang="en-US" sz="2400">
                        <a:effectLst/>
                        <a:latin typeface="Cambria Math" panose="02040503050406030204" pitchFamily="18" charset="0"/>
                      </a:rPr>
                      <m:t>𝑖</m:t>
                    </m:r>
                  </m:oMath>
                </a14:m>
                <a:r>
                  <a:rPr lang="en-US" sz="2400" dirty="0">
                    <a:effectLst/>
                    <a:latin typeface="+mj-lt"/>
                  </a:rPr>
                  <a:t>, then:</a:t>
                </a:r>
              </a:p>
              <a:p>
                <a:pPr algn="ctr"/>
                <a:r>
                  <a:rPr lang="en-US" sz="2400" dirty="0">
                    <a:effectLst/>
                    <a:latin typeface="+mj-lt"/>
                  </a:rPr>
                  <a:t> </a:t>
                </a:r>
                <a14:m>
                  <m:oMath xmlns:m="http://schemas.openxmlformats.org/officeDocument/2006/math">
                    <m:nary>
                      <m:naryPr>
                        <m:chr m:val="∑"/>
                        <m:limLoc m:val="undOvr"/>
                        <m:grow m:val="on"/>
                        <m:supHide m:val="on"/>
                        <m:ctrlPr>
                          <a:rPr lang="en-US" sz="2400" i="1">
                            <a:effectLst/>
                            <a:latin typeface="Cambria Math" panose="02040503050406030204" pitchFamily="18" charset="0"/>
                          </a:rPr>
                        </m:ctrlPr>
                      </m:naryPr>
                      <m:sub>
                        <m:r>
                          <a:rPr lang="en-US" sz="2400">
                            <a:effectLst/>
                            <a:latin typeface="Cambria Math" panose="02040503050406030204" pitchFamily="18" charset="0"/>
                          </a:rPr>
                          <m:t>𝑗</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r>
                          <a:rPr lang="en-US" sz="2400">
                            <a:effectLst/>
                            <a:latin typeface="Cambria Math" panose="02040503050406030204" pitchFamily="18" charset="0"/>
                          </a:rPr>
                          <m:t>𝐸</m:t>
                        </m:r>
                      </m:sub>
                      <m:sup/>
                      <m:e>
                        <m:r>
                          <a:rPr lang="en-US" sz="2400">
                            <a:effectLst/>
                            <a:latin typeface="Cambria Math" panose="02040503050406030204" pitchFamily="18" charset="0"/>
                          </a:rPr>
                          <m:t>𝑓</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e>
                    </m:nary>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𝑏</m:t>
                        </m:r>
                      </m:e>
                      <m:sub>
                        <m:r>
                          <a:rPr lang="en-US" sz="2400">
                            <a:effectLst/>
                            <a:latin typeface="Cambria Math" panose="02040503050406030204" pitchFamily="18" charset="0"/>
                          </a:rPr>
                          <m:t>𝑖</m:t>
                        </m:r>
                      </m:sub>
                    </m:sSub>
                    <m:r>
                      <a:rPr lang="en-US" sz="2400">
                        <a:effectLst/>
                        <a:latin typeface="Cambria Math" panose="02040503050406030204" pitchFamily="18" charset="0"/>
                      </a:rPr>
                      <m:t>,</m:t>
                    </m:r>
                    <m:nary>
                      <m:naryPr>
                        <m:chr m:val="∑"/>
                        <m:limLoc m:val="undOvr"/>
                        <m:grow m:val="on"/>
                        <m:supHide m:val="on"/>
                        <m:ctrlPr>
                          <a:rPr lang="en-US" sz="2400" i="1">
                            <a:effectLst/>
                            <a:latin typeface="Cambria Math" panose="02040503050406030204" pitchFamily="18" charset="0"/>
                          </a:rPr>
                        </m:ctrlPr>
                      </m:naryPr>
                      <m:sub>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𝑉</m:t>
                        </m:r>
                      </m:sub>
                      <m:sup/>
                      <m:e>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𝑏</m:t>
                            </m:r>
                          </m:e>
                          <m:sub>
                            <m:r>
                              <a:rPr lang="en-US" sz="2400">
                                <a:effectLst/>
                                <a:latin typeface="Cambria Math" panose="02040503050406030204" pitchFamily="18" charset="0"/>
                              </a:rPr>
                              <m:t>𝑖</m:t>
                            </m:r>
                          </m:sub>
                        </m:sSub>
                      </m:e>
                    </m:nary>
                    <m:r>
                      <a:rPr lang="en-US" sz="2400">
                        <a:effectLst/>
                        <a:latin typeface="Cambria Math" panose="02040503050406030204" pitchFamily="18" charset="0"/>
                      </a:rPr>
                      <m:t>=</m:t>
                    </m:r>
                    <m:r>
                      <a:rPr lang="en-US" sz="2400">
                        <a:effectLst/>
                        <a:latin typeface="Cambria Math" panose="02040503050406030204" pitchFamily="18" charset="0"/>
                      </a:rPr>
                      <m:t>0</m:t>
                    </m:r>
                    <m:r>
                      <a:rPr lang="en-US" sz="2400">
                        <a:effectLst/>
                        <a:latin typeface="Cambria Math" panose="02040503050406030204" pitchFamily="18" charset="0"/>
                      </a:rPr>
                      <m:t>.</m:t>
                    </m:r>
                  </m:oMath>
                </a14:m>
                <a:endParaRPr lang="en-US" sz="2400" dirty="0">
                  <a:effectLst/>
                  <a:latin typeface="+mj-lt"/>
                </a:endParaRPr>
              </a:p>
              <a:p>
                <a:pPr algn="just"/>
                <a:r>
                  <a:rPr lang="en-US" sz="2400" dirty="0">
                    <a:effectLst/>
                    <a:latin typeface="+mj-lt"/>
                  </a:rPr>
                  <a:t>And Ohm’s Law: Each node has a potential </a:t>
                </a:r>
                <a14:m>
                  <m:oMath xmlns:m="http://schemas.openxmlformats.org/officeDocument/2006/math">
                    <m:r>
                      <a:rPr lang="en-US" sz="2400">
                        <a:effectLst/>
                        <a:latin typeface="Cambria Math" panose="02040503050406030204" pitchFamily="18" charset="0"/>
                      </a:rPr>
                      <m:t>𝑝</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oMath>
                </a14:m>
                <a:r>
                  <a:rPr lang="en-US" sz="2400" dirty="0">
                    <a:effectLst/>
                    <a:latin typeface="+mj-lt"/>
                  </a:rPr>
                  <a:t>, and the current on an edge is proportional to the potential difference:</a:t>
                </a:r>
              </a:p>
              <a:p>
                <a:pPr algn="just"/>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𝑓</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f>
                        <m:fPr>
                          <m:ctrlPr>
                            <a:rPr lang="en-US" sz="2400" i="1">
                              <a:effectLst/>
                              <a:latin typeface="Cambria Math" panose="02040503050406030204" pitchFamily="18" charset="0"/>
                            </a:rPr>
                          </m:ctrlPr>
                        </m:fPr>
                        <m:num>
                          <m:r>
                            <a:rPr lang="en-US" sz="2400">
                              <a:effectLst/>
                              <a:latin typeface="Cambria Math" panose="02040503050406030204" pitchFamily="18" charset="0"/>
                            </a:rPr>
                            <m:t>𝑝</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𝑝</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num>
                        <m:den>
                          <m:r>
                            <a:rPr lang="en-US" sz="2400">
                              <a:effectLst/>
                              <a:latin typeface="Cambria Math" panose="02040503050406030204" pitchFamily="18" charset="0"/>
                            </a:rPr>
                            <m:t>𝑟</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den>
                      </m:f>
                      <m:r>
                        <a:rPr lang="en-US" sz="2400">
                          <a:effectLst/>
                          <a:latin typeface="Cambria Math" panose="02040503050406030204" pitchFamily="18" charset="0"/>
                        </a:rPr>
                        <m:t>=</m:t>
                      </m:r>
                      <m:r>
                        <a:rPr lang="en-US" sz="2400">
                          <a:effectLst/>
                          <a:latin typeface="Cambria Math" panose="02040503050406030204" pitchFamily="18" charset="0"/>
                        </a:rPr>
                        <m:t>𝑐</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r>
                        <m:rPr>
                          <m:nor/>
                        </m:rPr>
                        <a:rPr lang="en-US" sz="2400">
                          <a:effectLst/>
                          <a:latin typeface="+mj-lt"/>
                        </a:rPr>
                        <m:t> </m:t>
                      </m:r>
                      <m:r>
                        <a:rPr lang="en-US" sz="2400">
                          <a:effectLst/>
                          <a:latin typeface="Cambria Math" panose="02040503050406030204" pitchFamily="18" charset="0"/>
                        </a:rPr>
                        <m:t>(</m:t>
                      </m:r>
                      <m:r>
                        <a:rPr lang="en-US" sz="2400">
                          <a:effectLst/>
                          <a:latin typeface="Cambria Math" panose="02040503050406030204" pitchFamily="18" charset="0"/>
                        </a:rPr>
                        <m:t>𝑝</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𝑝</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oMath>
                  </m:oMathPara>
                </a14:m>
                <a:endParaRPr lang="en-US" sz="2400" dirty="0">
                  <a:effectLst/>
                  <a:latin typeface="+mj-lt"/>
                </a:endParaRPr>
              </a:p>
              <a:p>
                <a:pPr algn="just"/>
                <a:r>
                  <a:rPr lang="en-US" sz="2400" dirty="0">
                    <a:effectLst/>
                    <a:latin typeface="+mj-lt"/>
                  </a:rPr>
                  <a:t>Substituting Ohm’s Law into KCL gives the standard electrical‑flow equation:</a:t>
                </a:r>
                <a14:m>
                  <m:oMath xmlns:m="http://schemas.openxmlformats.org/officeDocument/2006/math">
                    <m:m>
                      <m:mPr>
                        <m:plcHide m:val="on"/>
                        <m:mcs>
                          <m:mc>
                            <m:mcPr>
                              <m:count m:val="4"/>
                              <m:mcJc m:val="center"/>
                            </m:mcPr>
                          </m:mc>
                        </m:mcs>
                        <m:ctrlPr>
                          <a:rPr lang="en-US" sz="2400" i="1">
                            <a:effectLst/>
                            <a:latin typeface="Cambria Math" panose="02040503050406030204" pitchFamily="18" charset="0"/>
                          </a:rPr>
                        </m:ctrlPr>
                      </m:mPr>
                      <m:mr>
                        <m:e/>
                        <m:e>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𝑏</m:t>
                              </m:r>
                            </m:e>
                            <m:sub>
                              <m:r>
                                <a:rPr lang="en-US" sz="2400">
                                  <a:effectLst/>
                                  <a:latin typeface="Cambria Math" panose="02040503050406030204" pitchFamily="18" charset="0"/>
                                </a:rPr>
                                <m:t>𝑖</m:t>
                              </m:r>
                            </m:sub>
                          </m:sSub>
                          <m:r>
                            <a:rPr lang="en-US" sz="2400">
                              <a:effectLst/>
                              <a:latin typeface="Cambria Math" panose="02040503050406030204" pitchFamily="18" charset="0"/>
                            </a:rPr>
                            <m:t>=</m:t>
                          </m:r>
                          <m:nary>
                            <m:naryPr>
                              <m:chr m:val="∑"/>
                              <m:limLoc m:val="undOvr"/>
                              <m:grow m:val="on"/>
                              <m:supHide m:val="on"/>
                              <m:ctrlPr>
                                <a:rPr lang="en-US" sz="2400" i="1">
                                  <a:effectLst/>
                                  <a:latin typeface="Cambria Math" panose="02040503050406030204" pitchFamily="18" charset="0"/>
                                </a:rPr>
                              </m:ctrlPr>
                            </m:naryPr>
                            <m:sub>
                              <m:r>
                                <a:rPr lang="en-US" sz="2400">
                                  <a:effectLst/>
                                  <a:latin typeface="Cambria Math" panose="02040503050406030204" pitchFamily="18" charset="0"/>
                                </a:rPr>
                                <m:t>𝑗</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r>
                                <a:rPr lang="en-US" sz="2400">
                                  <a:effectLst/>
                                  <a:latin typeface="Cambria Math" panose="02040503050406030204" pitchFamily="18" charset="0"/>
                                </a:rPr>
                                <m:t>𝐸</m:t>
                              </m:r>
                            </m:sub>
                            <m:sup/>
                            <m:e>
                              <m:r>
                                <a:rPr lang="en-US" sz="2400">
                                  <a:effectLst/>
                                  <a:latin typeface="Cambria Math" panose="02040503050406030204" pitchFamily="18" charset="0"/>
                                </a:rPr>
                                <m:t>𝑐</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r>
                                <m:rPr>
                                  <m:nor/>
                                </m:rPr>
                                <a:rPr lang="en-US" sz="2400">
                                  <a:effectLst/>
                                  <a:latin typeface="+mj-lt"/>
                                </a:rPr>
                                <m:t> </m:t>
                              </m:r>
                              <m:r>
                                <a:rPr lang="en-US" sz="2400">
                                  <a:effectLst/>
                                  <a:latin typeface="Cambria Math" panose="02040503050406030204" pitchFamily="18" charset="0"/>
                                </a:rPr>
                                <m:t>(</m:t>
                              </m:r>
                              <m:r>
                                <a:rPr lang="en-US" sz="2400">
                                  <a:effectLst/>
                                  <a:latin typeface="Cambria Math" panose="02040503050406030204" pitchFamily="18" charset="0"/>
                                </a:rPr>
                                <m:t>𝑝</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𝑝</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e>
                          </m:nary>
                        </m:e>
                        <m:e/>
                        <m:e/>
                      </m:mr>
                    </m:m>
                  </m:oMath>
                </a14:m>
                <a:endParaRPr lang="en-US" sz="2400" dirty="0">
                  <a:effectLst/>
                  <a:latin typeface="+mj-lt"/>
                </a:endParaRPr>
              </a:p>
              <a:p>
                <a:pPr algn="just"/>
                <a:r>
                  <a:rPr lang="en-US" sz="2400" dirty="0">
                    <a:effectLst/>
                    <a:latin typeface="+mj-lt"/>
                  </a:rPr>
                  <a:t>In the example network (Figure 2), injecting one unit of current at source </a:t>
                </a:r>
                <a14:m>
                  <m:oMath xmlns:m="http://schemas.openxmlformats.org/officeDocument/2006/math">
                    <m:r>
                      <a:rPr lang="en-US" sz="2400">
                        <a:effectLst/>
                        <a:latin typeface="Cambria Math" panose="02040503050406030204" pitchFamily="18" charset="0"/>
                      </a:rPr>
                      <m:t>𝑠</m:t>
                    </m:r>
                    <m:r>
                      <a:rPr lang="en-US" sz="2400">
                        <a:effectLst/>
                        <a:latin typeface="Cambria Math" panose="02040503050406030204" pitchFamily="18" charset="0"/>
                      </a:rPr>
                      <m:t> </m:t>
                    </m:r>
                  </m:oMath>
                </a14:m>
                <a:r>
                  <a:rPr lang="en-US" sz="2400" dirty="0">
                    <a:effectLst/>
                    <a:latin typeface="+mj-lt"/>
                  </a:rPr>
                  <a:t>and removing one unit at sink </a:t>
                </a:r>
                <a14:m>
                  <m:oMath xmlns:m="http://schemas.openxmlformats.org/officeDocument/2006/math">
                    <m:r>
                      <a:rPr lang="en-US" sz="2400">
                        <a:effectLst/>
                        <a:latin typeface="Cambria Math" panose="02040503050406030204" pitchFamily="18" charset="0"/>
                      </a:rPr>
                      <m:t>𝑡</m:t>
                    </m:r>
                    <m:r>
                      <a:rPr lang="en-US" sz="2400">
                        <a:effectLst/>
                        <a:latin typeface="Cambria Math" panose="02040503050406030204" pitchFamily="18" charset="0"/>
                      </a:rPr>
                      <m:t> </m:t>
                    </m:r>
                  </m:oMath>
                </a14:m>
                <a:r>
                  <a:rPr lang="en-US" sz="2400" dirty="0">
                    <a:effectLst/>
                    <a:latin typeface="+mj-lt"/>
                  </a:rPr>
                  <a:t>yields a unique flow and node potentials that satisfy both laws. This flow is the optimal electrical flow, as it uniquely minimizes the total energy of the network.</a:t>
                </a:r>
              </a:p>
              <a:p>
                <a:endParaRPr lang="en-US" dirty="0">
                  <a:effectLst/>
                </a:endParaRPr>
              </a:p>
              <a:p>
                <a:endParaRPr lang="en-US" dirty="0">
                  <a:effectLst/>
                </a:endParaRPr>
              </a:p>
              <a:p>
                <a:endParaRPr lang="en-US" dirty="0">
                  <a:effectLst/>
                </a:endParaRPr>
              </a:p>
              <a:p>
                <a:endParaRPr lang="en-US" dirty="0">
                  <a:effectLst/>
                </a:endParaRPr>
              </a:p>
              <a:p>
                <a:endParaRPr lang="en-US" dirty="0">
                  <a:effectLst/>
                </a:endParaRPr>
              </a:p>
              <a:p>
                <a:endParaRPr lang="en-US" dirty="0">
                  <a:effectLst/>
                </a:endParaRPr>
              </a:p>
              <a:p>
                <a:endParaRPr lang="en-US" dirty="0">
                  <a:effectLst/>
                </a:endParaRPr>
              </a:p>
              <a:p>
                <a:endParaRPr lang="en-US" sz="1600" dirty="0">
                  <a:effectLst/>
                  <a:latin typeface="+mj-lt"/>
                </a:endParaRPr>
              </a:p>
              <a:p>
                <a:endParaRPr lang="en-US" dirty="0">
                  <a:effectLst/>
                </a:endParaRPr>
              </a:p>
              <a:p>
                <a:pPr algn="r"/>
                <a:endParaRPr lang="en-US" dirty="0">
                  <a:effectLst/>
                </a:endParaRPr>
              </a:p>
              <a:p>
                <a:endParaRPr lang="en-US" dirty="0">
                  <a:effectLst/>
                </a:endParaRPr>
              </a:p>
              <a:p>
                <a:pPr algn="just"/>
                <a:r>
                  <a:rPr lang="en-US" sz="2400" b="1" dirty="0">
                    <a:effectLst/>
                    <a:latin typeface="+mj-lt"/>
                  </a:rPr>
                  <a:t>b. Graph Laplacians: </a:t>
                </a:r>
                <a:r>
                  <a:rPr lang="en-US" sz="2400" dirty="0">
                    <a:effectLst/>
                    <a:latin typeface="+mj-lt"/>
                  </a:rPr>
                  <a:t>To express electrical‑flow equations in matrix form, we use the graph Laplacian. Let </a:t>
                </a:r>
                <a14:m>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𝑖</m:t>
                        </m:r>
                      </m:sub>
                    </m:sSub>
                    <m:r>
                      <a:rPr lang="en-US" sz="2400">
                        <a:effectLst/>
                        <a:latin typeface="Cambria Math" panose="02040503050406030204" pitchFamily="18" charset="0"/>
                      </a:rPr>
                      <m:t> </m:t>
                    </m:r>
                  </m:oMath>
                </a14:m>
                <a:r>
                  <a:rPr lang="en-US" sz="2400" dirty="0">
                    <a:effectLst/>
                    <a:latin typeface="+mj-lt"/>
                  </a:rPr>
                  <a:t>be the standard basis vector with a 1 in position </a:t>
                </a:r>
                <a14:m>
                  <m:oMath xmlns:m="http://schemas.openxmlformats.org/officeDocument/2006/math">
                    <m:r>
                      <a:rPr lang="en-US" sz="2400">
                        <a:effectLst/>
                        <a:latin typeface="Cambria Math" panose="02040503050406030204" pitchFamily="18" charset="0"/>
                      </a:rPr>
                      <m:t>𝑖</m:t>
                    </m:r>
                  </m:oMath>
                </a14:m>
                <a:r>
                  <a:rPr lang="en-US" sz="2400" dirty="0">
                    <a:effectLst/>
                    <a:latin typeface="+mj-lt"/>
                  </a:rPr>
                  <a:t>. For an undirected graph </a:t>
                </a:r>
                <a14:m>
                  <m:oMath xmlns:m="http://schemas.openxmlformats.org/officeDocument/2006/math">
                    <m:r>
                      <a:rPr lang="en-US" sz="2400">
                        <a:effectLst/>
                        <a:latin typeface="Cambria Math" panose="02040503050406030204" pitchFamily="18" charset="0"/>
                      </a:rPr>
                      <m:t>𝐺</m:t>
                    </m:r>
                    <m:r>
                      <a:rPr lang="en-US" sz="2400">
                        <a:effectLst/>
                        <a:latin typeface="Cambria Math" panose="02040503050406030204" pitchFamily="18" charset="0"/>
                      </a:rPr>
                      <m:t>(</m:t>
                    </m:r>
                    <m:r>
                      <a:rPr lang="en-US" sz="2400">
                        <a:effectLst/>
                        <a:latin typeface="Cambria Math" panose="02040503050406030204" pitchFamily="18" charset="0"/>
                      </a:rPr>
                      <m:t>𝑉</m:t>
                    </m:r>
                    <m:r>
                      <a:rPr lang="en-US" sz="2400">
                        <a:effectLst/>
                        <a:latin typeface="Cambria Math" panose="02040503050406030204" pitchFamily="18" charset="0"/>
                      </a:rPr>
                      <m:t>,</m:t>
                    </m:r>
                    <m:r>
                      <a:rPr lang="en-US" sz="2400">
                        <a:effectLst/>
                        <a:latin typeface="Cambria Math" panose="02040503050406030204" pitchFamily="18" charset="0"/>
                      </a:rPr>
                      <m:t>𝐸</m:t>
                    </m:r>
                    <m:r>
                      <a:rPr lang="en-US" sz="2400">
                        <a:effectLst/>
                        <a:latin typeface="Cambria Math" panose="02040503050406030204" pitchFamily="18" charset="0"/>
                      </a:rPr>
                      <m:t>)</m:t>
                    </m:r>
                  </m:oMath>
                </a14:m>
                <a:r>
                  <a:rPr lang="en-US" sz="2400" dirty="0">
                    <a:effectLst/>
                    <a:latin typeface="+mj-lt"/>
                  </a:rPr>
                  <a:t>, the Laplacian is</a:t>
                </a:r>
              </a:p>
              <a:p>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𝐿</m:t>
                          </m:r>
                        </m:e>
                        <m:sub>
                          <m:r>
                            <a:rPr lang="en-US" sz="2400">
                              <a:effectLst/>
                              <a:latin typeface="Cambria Math" panose="02040503050406030204" pitchFamily="18" charset="0"/>
                            </a:rPr>
                            <m:t>𝐺</m:t>
                          </m:r>
                        </m:sub>
                      </m:sSub>
                      <m:r>
                        <a:rPr lang="en-US" sz="2400">
                          <a:effectLst/>
                          <a:latin typeface="Cambria Math" panose="02040503050406030204" pitchFamily="18" charset="0"/>
                        </a:rPr>
                        <m:t>=</m:t>
                      </m:r>
                      <m:nary>
                        <m:naryPr>
                          <m:chr m:val="∑"/>
                          <m:limLoc m:val="undOvr"/>
                          <m:grow m:val="on"/>
                          <m:supHide m:val="on"/>
                          <m:ctrlPr>
                            <a:rPr lang="en-US" sz="2400" i="1">
                              <a:effectLst/>
                              <a:latin typeface="Cambria Math" panose="02040503050406030204" pitchFamily="18" charset="0"/>
                            </a:rPr>
                          </m:ctrlPr>
                        </m:naryPr>
                        <m:sub>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r>
                            <a:rPr lang="en-US" sz="2400">
                              <a:effectLst/>
                              <a:latin typeface="Cambria Math" panose="02040503050406030204" pitchFamily="18" charset="0"/>
                            </a:rPr>
                            <m:t>𝐸</m:t>
                          </m:r>
                        </m:sub>
                        <m:sup/>
                        <m:e>
                          <m:r>
                            <a:rPr lang="en-US" sz="2400">
                              <a:effectLst/>
                              <a:latin typeface="Cambria Math" panose="02040503050406030204" pitchFamily="18" charset="0"/>
                            </a:rPr>
                            <m:t>(</m:t>
                          </m:r>
                        </m:e>
                      </m:nary>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𝑖</m:t>
                          </m:r>
                        </m:sub>
                      </m:sSub>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𝑗</m:t>
                          </m:r>
                        </m:sub>
                      </m:sSub>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𝑖</m:t>
                          </m:r>
                        </m:sub>
                      </m:sSub>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𝑗</m:t>
                          </m:r>
                        </m:sub>
                      </m:sSub>
                      <m:sSup>
                        <m:sSupPr>
                          <m:ctrlPr>
                            <a:rPr lang="en-US" sz="2400" i="1">
                              <a:effectLst/>
                              <a:latin typeface="Cambria Math" panose="02040503050406030204" pitchFamily="18" charset="0"/>
                            </a:rPr>
                          </m:ctrlPr>
                        </m:sSupPr>
                        <m:e>
                          <m:r>
                            <a:rPr lang="en-US" sz="2400">
                              <a:effectLst/>
                              <a:latin typeface="Cambria Math" panose="02040503050406030204" pitchFamily="18" charset="0"/>
                            </a:rPr>
                            <m:t>)</m:t>
                          </m:r>
                        </m:e>
                        <m:sup>
                          <m:r>
                            <a:rPr lang="en-US" sz="2400">
                              <a:effectLst/>
                              <a:latin typeface="Cambria Math" panose="02040503050406030204" pitchFamily="18" charset="0"/>
                            </a:rPr>
                            <m:t>𝑇</m:t>
                          </m:r>
                        </m:sup>
                      </m:sSup>
                      <m:r>
                        <a:rPr lang="en-US" sz="2400">
                          <a:effectLst/>
                          <a:latin typeface="Cambria Math" panose="02040503050406030204" pitchFamily="18" charset="0"/>
                        </a:rPr>
                        <m:t>.</m:t>
                      </m:r>
                    </m:oMath>
                  </m:oMathPara>
                </a14:m>
                <a:endParaRPr lang="en-US" sz="2400" dirty="0">
                  <a:effectLst/>
                  <a:latin typeface="+mj-lt"/>
                </a:endParaRPr>
              </a:p>
              <a:p>
                <a:pPr algn="just"/>
                <a:r>
                  <a:rPr lang="en-US" sz="2400" dirty="0">
                    <a:effectLst/>
                    <a:latin typeface="+mj-lt"/>
                  </a:rPr>
                  <a:t>Each matrix </a:t>
                </a:r>
                <a14:m>
                  <m:oMath xmlns:m="http://schemas.openxmlformats.org/officeDocument/2006/math">
                    <m:sSup>
                      <m:sSupPr>
                        <m:ctrlPr>
                          <a:rPr lang="en-US" sz="2400" i="1">
                            <a:effectLst/>
                            <a:latin typeface="Cambria Math" panose="02040503050406030204" pitchFamily="18" charset="0"/>
                          </a:rPr>
                        </m:ctrlPr>
                      </m:sSupPr>
                      <m:e>
                        <m:d>
                          <m:dPr>
                            <m:ctrlPr>
                              <a:rPr lang="en-US" sz="2400" i="1">
                                <a:effectLst/>
                                <a:latin typeface="Cambria Math" panose="02040503050406030204" pitchFamily="18" charset="0"/>
                              </a:rPr>
                            </m:ctrlPr>
                          </m:dPr>
                          <m:e>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𝑖</m:t>
                                </m:r>
                              </m:sub>
                            </m:sSub>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𝑗</m:t>
                                </m:r>
                              </m:sub>
                            </m:sSub>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𝑖</m:t>
                                </m:r>
                              </m:sub>
                            </m:sSub>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𝑗</m:t>
                                </m:r>
                              </m:sub>
                            </m:sSub>
                          </m:e>
                        </m:d>
                      </m:e>
                      <m:sup>
                        <m:r>
                          <a:rPr lang="en-US" sz="2400">
                            <a:effectLst/>
                            <a:latin typeface="Cambria Math" panose="02040503050406030204" pitchFamily="18" charset="0"/>
                          </a:rPr>
                          <m:t>𝑇</m:t>
                        </m:r>
                      </m:sup>
                    </m:sSup>
                  </m:oMath>
                </a14:m>
                <a:r>
                  <a:rPr lang="en-US" sz="2400" dirty="0">
                    <a:effectLst/>
                    <a:latin typeface="+mj-lt"/>
                  </a:rPr>
                  <a:t>has </a:t>
                </a:r>
                <a14:m>
                  <m:oMath xmlns:m="http://schemas.openxmlformats.org/officeDocument/2006/math">
                    <m:r>
                      <a:rPr lang="en-US" sz="2400">
                        <a:effectLst/>
                        <a:latin typeface="Cambria Math" panose="02040503050406030204" pitchFamily="18" charset="0"/>
                      </a:rPr>
                      <m:t>1</m:t>
                    </m:r>
                  </m:oMath>
                </a14:m>
                <a:r>
                  <a:rPr lang="en-US" sz="2400" dirty="0">
                    <a:effectLst/>
                    <a:latin typeface="+mj-lt"/>
                  </a:rPr>
                  <a:t>'s on the diagonal entries for </a:t>
                </a:r>
                <a14:m>
                  <m:oMath xmlns:m="http://schemas.openxmlformats.org/officeDocument/2006/math">
                    <m:r>
                      <a:rPr lang="en-US" sz="2400">
                        <a:effectLst/>
                        <a:latin typeface="Cambria Math" panose="02040503050406030204" pitchFamily="18" charset="0"/>
                      </a:rPr>
                      <m:t>𝑖</m:t>
                    </m:r>
                    <m:r>
                      <a:rPr lang="en-US" sz="2400">
                        <a:effectLst/>
                        <a:latin typeface="Cambria Math" panose="02040503050406030204" pitchFamily="18" charset="0"/>
                      </a:rPr>
                      <m:t> </m:t>
                    </m:r>
                  </m:oMath>
                </a14:m>
                <a:r>
                  <a:rPr lang="en-US" sz="2400" dirty="0">
                    <a:effectLst/>
                    <a:latin typeface="+mj-lt"/>
                  </a:rPr>
                  <a:t>and </a:t>
                </a:r>
                <a14:m>
                  <m:oMath xmlns:m="http://schemas.openxmlformats.org/officeDocument/2006/math">
                    <m:r>
                      <a:rPr lang="en-US" sz="2400">
                        <a:effectLst/>
                        <a:latin typeface="Cambria Math" panose="02040503050406030204" pitchFamily="18" charset="0"/>
                      </a:rPr>
                      <m:t>𝑗</m:t>
                    </m:r>
                  </m:oMath>
                </a14:m>
                <a:r>
                  <a:rPr lang="en-US" sz="2400" dirty="0">
                    <a:effectLst/>
                    <a:latin typeface="+mj-lt"/>
                  </a:rPr>
                  <a:t>, </a:t>
                </a:r>
                <a14:m>
                  <m:oMath xmlns:m="http://schemas.openxmlformats.org/officeDocument/2006/math">
                    <m:r>
                      <a:rPr lang="en-US" sz="2400">
                        <a:effectLst/>
                        <a:latin typeface="Cambria Math" panose="02040503050406030204" pitchFamily="18" charset="0"/>
                      </a:rPr>
                      <m:t>−</m:t>
                    </m:r>
                    <m:r>
                      <a:rPr lang="en-US" sz="2400">
                        <a:effectLst/>
                        <a:latin typeface="Cambria Math" panose="02040503050406030204" pitchFamily="18" charset="0"/>
                      </a:rPr>
                      <m:t>1</m:t>
                    </m:r>
                    <m:r>
                      <a:rPr lang="en-US" sz="2400">
                        <a:effectLst/>
                        <a:latin typeface="Cambria Math" panose="02040503050406030204" pitchFamily="18" charset="0"/>
                      </a:rPr>
                      <m:t> </m:t>
                    </m:r>
                  </m:oMath>
                </a14:m>
                <a:r>
                  <a:rPr lang="en-US" sz="2400" dirty="0">
                    <a:effectLst/>
                    <a:latin typeface="+mj-lt"/>
                  </a:rPr>
                  <a:t>at </a:t>
                </a:r>
                <a14:m>
                  <m:oMath xmlns:m="http://schemas.openxmlformats.org/officeDocument/2006/math">
                    <m:d>
                      <m:dPr>
                        <m:sepChr m:val=","/>
                        <m:ctrlPr>
                          <a:rPr lang="en-US" sz="2400" i="1">
                            <a:effectLst/>
                            <a:latin typeface="Cambria Math" panose="02040503050406030204" pitchFamily="18" charset="0"/>
                          </a:rPr>
                        </m:ctrlPr>
                      </m:dPr>
                      <m:e>
                        <m:r>
                          <a:rPr lang="en-US" sz="2400">
                            <a:effectLst/>
                            <a:latin typeface="Cambria Math" panose="02040503050406030204" pitchFamily="18" charset="0"/>
                          </a:rPr>
                          <m:t>𝑖</m:t>
                        </m:r>
                      </m:e>
                      <m:e>
                        <m:r>
                          <a:rPr lang="en-US" sz="2400">
                            <a:effectLst/>
                            <a:latin typeface="Cambria Math" panose="02040503050406030204" pitchFamily="18" charset="0"/>
                          </a:rPr>
                          <m:t>𝑗</m:t>
                        </m:r>
                      </m:e>
                    </m:d>
                  </m:oMath>
                </a14:m>
                <a:r>
                  <a:rPr lang="en-US" sz="2400" dirty="0">
                    <a:effectLst/>
                    <a:latin typeface="+mj-lt"/>
                  </a:rPr>
                  <a:t>and </a:t>
                </a:r>
                <a14:m>
                  <m:oMath xmlns:m="http://schemas.openxmlformats.org/officeDocument/2006/math">
                    <m:d>
                      <m:dPr>
                        <m:sepChr m:val=","/>
                        <m:ctrlPr>
                          <a:rPr lang="en-US" sz="2400" i="1">
                            <a:effectLst/>
                            <a:latin typeface="Cambria Math" panose="02040503050406030204" pitchFamily="18" charset="0"/>
                          </a:rPr>
                        </m:ctrlPr>
                      </m:dPr>
                      <m:e>
                        <m:r>
                          <a:rPr lang="en-US" sz="2400">
                            <a:effectLst/>
                            <a:latin typeface="Cambria Math" panose="02040503050406030204" pitchFamily="18" charset="0"/>
                          </a:rPr>
                          <m:t>𝑗</m:t>
                        </m:r>
                      </m:e>
                      <m:e>
                        <m:r>
                          <a:rPr lang="en-US" sz="2400">
                            <a:effectLst/>
                            <a:latin typeface="Cambria Math" panose="02040503050406030204" pitchFamily="18" charset="0"/>
                          </a:rPr>
                          <m:t>𝑖</m:t>
                        </m:r>
                      </m:e>
                    </m:d>
                  </m:oMath>
                </a14:m>
                <a:r>
                  <a:rPr lang="en-US" sz="2400" dirty="0">
                    <a:effectLst/>
                    <a:latin typeface="+mj-lt"/>
                  </a:rPr>
                  <a:t>, and zeros elsewhere. Thus, the Laplacian can also be written as </a:t>
                </a:r>
                <a14:m>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𝐿</m:t>
                        </m:r>
                      </m:e>
                      <m:sub>
                        <m:r>
                          <a:rPr lang="en-US" sz="2400">
                            <a:effectLst/>
                            <a:latin typeface="Cambria Math" panose="02040503050406030204" pitchFamily="18" charset="0"/>
                          </a:rPr>
                          <m:t>𝐺</m:t>
                        </m:r>
                      </m:sub>
                    </m:sSub>
                    <m:r>
                      <a:rPr lang="en-US" sz="2400">
                        <a:effectLst/>
                        <a:latin typeface="Cambria Math" panose="02040503050406030204" pitchFamily="18" charset="0"/>
                      </a:rPr>
                      <m:t>=</m:t>
                    </m:r>
                    <m:r>
                      <a:rPr lang="en-US" sz="2400">
                        <a:effectLst/>
                        <a:latin typeface="Cambria Math" panose="02040503050406030204" pitchFamily="18" charset="0"/>
                      </a:rPr>
                      <m:t>𝐷</m:t>
                    </m:r>
                    <m:r>
                      <a:rPr lang="en-US" sz="2400">
                        <a:effectLst/>
                        <a:latin typeface="Cambria Math" panose="02040503050406030204" pitchFamily="18" charset="0"/>
                      </a:rPr>
                      <m:t>−</m:t>
                    </m:r>
                    <m:r>
                      <a:rPr lang="en-US" sz="2400">
                        <a:effectLst/>
                        <a:latin typeface="Cambria Math" panose="02040503050406030204" pitchFamily="18" charset="0"/>
                      </a:rPr>
                      <m:t>𝐴</m:t>
                    </m:r>
                    <m:r>
                      <a:rPr lang="en-US" sz="2400">
                        <a:effectLst/>
                        <a:latin typeface="Cambria Math" panose="02040503050406030204" pitchFamily="18" charset="0"/>
                      </a:rPr>
                      <m:t>, </m:t>
                    </m:r>
                  </m:oMath>
                </a14:m>
                <a:r>
                  <a:rPr lang="en-US" sz="2400" dirty="0">
                    <a:effectLst/>
                    <a:latin typeface="+mj-lt"/>
                  </a:rPr>
                  <a:t>where </a:t>
                </a:r>
                <a14:m>
                  <m:oMath xmlns:m="http://schemas.openxmlformats.org/officeDocument/2006/math">
                    <m:r>
                      <a:rPr lang="en-US" sz="2400">
                        <a:effectLst/>
                        <a:latin typeface="Cambria Math" panose="02040503050406030204" pitchFamily="18" charset="0"/>
                      </a:rPr>
                      <m:t>𝐷</m:t>
                    </m:r>
                    <m:r>
                      <a:rPr lang="en-US" sz="2400">
                        <a:effectLst/>
                        <a:latin typeface="Cambria Math" panose="02040503050406030204" pitchFamily="18" charset="0"/>
                      </a:rPr>
                      <m:t> </m:t>
                    </m:r>
                  </m:oMath>
                </a14:m>
                <a:r>
                  <a:rPr lang="en-US" sz="2400" dirty="0">
                    <a:effectLst/>
                    <a:latin typeface="+mj-lt"/>
                  </a:rPr>
                  <a:t>is the diagonal degree matrix and </a:t>
                </a:r>
                <a14:m>
                  <m:oMath xmlns:m="http://schemas.openxmlformats.org/officeDocument/2006/math">
                    <m:r>
                      <a:rPr lang="en-US" sz="2400">
                        <a:effectLst/>
                        <a:latin typeface="Cambria Math" panose="02040503050406030204" pitchFamily="18" charset="0"/>
                      </a:rPr>
                      <m:t>𝐴</m:t>
                    </m:r>
                    <m:r>
                      <a:rPr lang="en-US" sz="2400">
                        <a:effectLst/>
                        <a:latin typeface="Cambria Math" panose="02040503050406030204" pitchFamily="18" charset="0"/>
                      </a:rPr>
                      <m:t> </m:t>
                    </m:r>
                  </m:oMath>
                </a14:m>
                <a:r>
                  <a:rPr lang="en-US" sz="2400" dirty="0">
                    <a:effectLst/>
                    <a:latin typeface="+mj-lt"/>
                  </a:rPr>
                  <a:t>is the adjacency matrix. For weighted edges with weights </a:t>
                </a:r>
                <a14:m>
                  <m:oMath xmlns:m="http://schemas.openxmlformats.org/officeDocument/2006/math">
                    <m:r>
                      <a:rPr lang="en-US" sz="2400">
                        <a:effectLst/>
                        <a:latin typeface="Cambria Math" panose="02040503050406030204" pitchFamily="18" charset="0"/>
                      </a:rPr>
                      <m:t>𝑤</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oMath>
                </a14:m>
                <a:r>
                  <a:rPr lang="en-US" sz="2400" dirty="0">
                    <a:effectLst/>
                    <a:latin typeface="+mj-lt"/>
                  </a:rPr>
                  <a:t>, the weighted Laplacian is </a:t>
                </a:r>
                <a14:m>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𝐿</m:t>
                        </m:r>
                      </m:e>
                      <m:sub>
                        <m:r>
                          <a:rPr lang="en-US" sz="2400">
                            <a:effectLst/>
                            <a:latin typeface="Cambria Math" panose="02040503050406030204" pitchFamily="18" charset="0"/>
                          </a:rPr>
                          <m:t>𝐺</m:t>
                        </m:r>
                      </m:sub>
                    </m:sSub>
                    <m:r>
                      <a:rPr lang="en-US" sz="2400">
                        <a:effectLst/>
                        <a:latin typeface="Cambria Math" panose="02040503050406030204" pitchFamily="18" charset="0"/>
                      </a:rPr>
                      <m:t>=</m:t>
                    </m:r>
                    <m:nary>
                      <m:naryPr>
                        <m:chr m:val="∑"/>
                        <m:limLoc m:val="undOvr"/>
                        <m:grow m:val="on"/>
                        <m:supHide m:val="on"/>
                        <m:ctrlPr>
                          <a:rPr lang="en-US" sz="2400" i="1">
                            <a:effectLst/>
                            <a:latin typeface="Cambria Math" panose="02040503050406030204" pitchFamily="18" charset="0"/>
                          </a:rPr>
                        </m:ctrlPr>
                      </m:naryPr>
                      <m:sub>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r>
                          <a:rPr lang="en-US" sz="2400">
                            <a:effectLst/>
                            <a:latin typeface="Cambria Math" panose="02040503050406030204" pitchFamily="18" charset="0"/>
                          </a:rPr>
                          <m:t>𝐸</m:t>
                        </m:r>
                      </m:sub>
                      <m:sup/>
                      <m:e>
                        <m:r>
                          <a:rPr lang="en-US" sz="2400">
                            <a:effectLst/>
                            <a:latin typeface="Cambria Math" panose="02040503050406030204" pitchFamily="18" charset="0"/>
                          </a:rPr>
                          <m:t>𝑤</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e>
                    </m:nary>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𝑖</m:t>
                        </m:r>
                      </m:sub>
                    </m:sSub>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𝑗</m:t>
                        </m:r>
                      </m:sub>
                    </m:sSub>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𝑖</m:t>
                        </m:r>
                      </m:sub>
                    </m:sSub>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𝑗</m:t>
                        </m:r>
                      </m:sub>
                    </m:sSub>
                    <m:sSup>
                      <m:sSupPr>
                        <m:ctrlPr>
                          <a:rPr lang="en-US" sz="2400" i="1">
                            <a:effectLst/>
                            <a:latin typeface="Cambria Math" panose="02040503050406030204" pitchFamily="18" charset="0"/>
                          </a:rPr>
                        </m:ctrlPr>
                      </m:sSupPr>
                      <m:e>
                        <m:r>
                          <a:rPr lang="en-US" sz="2400">
                            <a:effectLst/>
                            <a:latin typeface="Cambria Math" panose="02040503050406030204" pitchFamily="18" charset="0"/>
                          </a:rPr>
                          <m:t>)</m:t>
                        </m:r>
                      </m:e>
                      <m:sup>
                        <m:r>
                          <a:rPr lang="en-US" sz="2400">
                            <a:effectLst/>
                            <a:latin typeface="Cambria Math" panose="02040503050406030204" pitchFamily="18" charset="0"/>
                          </a:rPr>
                          <m:t>𝑇</m:t>
                        </m:r>
                      </m:sup>
                    </m:sSup>
                    <m:r>
                      <a:rPr lang="en-US" sz="2400">
                        <a:effectLst/>
                        <a:latin typeface="Cambria Math" panose="02040503050406030204" pitchFamily="18" charset="0"/>
                      </a:rPr>
                      <m:t>=</m:t>
                    </m:r>
                    <m:r>
                      <a:rPr lang="en-US" sz="2400">
                        <a:effectLst/>
                        <a:latin typeface="Cambria Math" panose="02040503050406030204" pitchFamily="18" charset="0"/>
                      </a:rPr>
                      <m:t>𝐷</m:t>
                    </m:r>
                    <m:r>
                      <a:rPr lang="en-US" sz="2400">
                        <a:effectLst/>
                        <a:latin typeface="Cambria Math" panose="02040503050406030204" pitchFamily="18" charset="0"/>
                      </a:rPr>
                      <m:t>−</m:t>
                    </m:r>
                    <m:r>
                      <a:rPr lang="en-US" sz="2400">
                        <a:effectLst/>
                        <a:latin typeface="Cambria Math" panose="02040503050406030204" pitchFamily="18" charset="0"/>
                      </a:rPr>
                      <m:t>𝑊</m:t>
                    </m:r>
                    <m:r>
                      <a:rPr lang="en-US" sz="2400">
                        <a:effectLst/>
                        <a:latin typeface="Cambria Math" panose="02040503050406030204" pitchFamily="18" charset="0"/>
                      </a:rPr>
                      <m:t>,</m:t>
                    </m:r>
                  </m:oMath>
                </a14:m>
                <a:endParaRPr lang="en-US" sz="2400" dirty="0">
                  <a:effectLst/>
                  <a:latin typeface="+mj-lt"/>
                </a:endParaRPr>
              </a:p>
              <a:p>
                <a:pPr algn="just"/>
                <a:r>
                  <a:rPr lang="en-US" sz="2400" dirty="0">
                    <a:effectLst/>
                    <a:latin typeface="+mj-lt"/>
                  </a:rPr>
                  <a:t>where </a:t>
                </a:r>
                <a14:m>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𝐷</m:t>
                        </m:r>
                      </m:e>
                      <m:sub>
                        <m:r>
                          <a:rPr lang="en-US" sz="2400">
                            <a:effectLst/>
                            <a:latin typeface="Cambria Math" panose="02040503050406030204" pitchFamily="18" charset="0"/>
                          </a:rPr>
                          <m:t>𝑖𝑖</m:t>
                        </m:r>
                      </m:sub>
                    </m:sSub>
                    <m:r>
                      <a:rPr lang="en-US" sz="2400">
                        <a:effectLst/>
                        <a:latin typeface="Cambria Math" panose="02040503050406030204" pitchFamily="18" charset="0"/>
                      </a:rPr>
                      <m:t>=</m:t>
                    </m:r>
                    <m:nary>
                      <m:naryPr>
                        <m:chr m:val="∑"/>
                        <m:limLoc m:val="subSup"/>
                        <m:grow m:val="on"/>
                        <m:supHide m:val="on"/>
                        <m:ctrlPr>
                          <a:rPr lang="en-US" sz="2400" i="1">
                            <a:effectLst/>
                            <a:latin typeface="Cambria Math" panose="02040503050406030204" pitchFamily="18" charset="0"/>
                          </a:rPr>
                        </m:ctrlPr>
                      </m:naryPr>
                      <m:sub>
                        <m:r>
                          <a:rPr lang="en-US" sz="2400">
                            <a:effectLst/>
                            <a:latin typeface="Cambria Math" panose="02040503050406030204" pitchFamily="18" charset="0"/>
                          </a:rPr>
                          <m:t>𝑗</m:t>
                        </m:r>
                      </m:sub>
                      <m:sup/>
                      <m:e>
                        <m:r>
                          <a:rPr lang="en-US" sz="2400">
                            <a:effectLst/>
                            <a:latin typeface="Cambria Math" panose="02040503050406030204" pitchFamily="18" charset="0"/>
                          </a:rPr>
                          <m:t>𝑤</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e>
                    </m:nary>
                    <m:r>
                      <a:rPr lang="en-US" sz="2400">
                        <a:effectLst/>
                        <a:latin typeface="Cambria Math" panose="02040503050406030204" pitchFamily="18" charset="0"/>
                      </a:rPr>
                      <m:t> </m:t>
                    </m:r>
                  </m:oMath>
                </a14:m>
                <a:r>
                  <a:rPr lang="en-US" sz="2400" dirty="0">
                    <a:effectLst/>
                    <a:latin typeface="+mj-lt"/>
                  </a:rPr>
                  <a:t>and </a:t>
                </a:r>
                <a14:m>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𝑊</m:t>
                        </m:r>
                      </m:e>
                      <m:sub>
                        <m:r>
                          <a:rPr lang="en-US" sz="2400">
                            <a:effectLst/>
                            <a:latin typeface="Cambria Math" panose="02040503050406030204" pitchFamily="18" charset="0"/>
                          </a:rPr>
                          <m:t>𝑖𝑗</m:t>
                        </m:r>
                      </m:sub>
                    </m:sSub>
                    <m:r>
                      <a:rPr lang="en-US" sz="2400">
                        <a:effectLst/>
                        <a:latin typeface="Cambria Math" panose="02040503050406030204" pitchFamily="18" charset="0"/>
                      </a:rPr>
                      <m:t>=</m:t>
                    </m:r>
                    <m:r>
                      <a:rPr lang="en-US" sz="2400">
                        <a:effectLst/>
                        <a:latin typeface="Cambria Math" panose="02040503050406030204" pitchFamily="18" charset="0"/>
                      </a:rPr>
                      <m:t>𝑤</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oMath>
                </a14:m>
                <a:r>
                  <a:rPr lang="en-US" sz="2400" dirty="0">
                    <a:effectLst/>
                    <a:latin typeface="+mj-lt"/>
                  </a:rPr>
                  <a:t>. If the weights are conductance </a:t>
                </a:r>
                <a14:m>
                  <m:oMath xmlns:m="http://schemas.openxmlformats.org/officeDocument/2006/math">
                    <m:r>
                      <a:rPr lang="en-US" sz="2400">
                        <a:effectLst/>
                        <a:latin typeface="Cambria Math" panose="02040503050406030204" pitchFamily="18" charset="0"/>
                      </a:rPr>
                      <m:t>𝑐</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oMath>
                </a14:m>
                <a:r>
                  <a:rPr lang="en-US" sz="2400" dirty="0">
                    <a:effectLst/>
                    <a:latin typeface="+mj-lt"/>
                  </a:rPr>
                  <a:t>, then the electrical‑flow equation </a:t>
                </a:r>
              </a:p>
              <a:p>
                <a:pPr/>
                <a14:m>
                  <m:oMathPara xmlns:m="http://schemas.openxmlformats.org/officeDocument/2006/math">
                    <m:oMathParaPr>
                      <m:jc m:val="centerGroup"/>
                    </m:oMathParaPr>
                    <m:oMath xmlns:m="http://schemas.openxmlformats.org/officeDocument/2006/math">
                      <m:nary>
                        <m:naryPr>
                          <m:chr m:val="∑"/>
                          <m:limLoc m:val="undOvr"/>
                          <m:grow m:val="on"/>
                          <m:supHide m:val="on"/>
                          <m:ctrlPr>
                            <a:rPr lang="en-US" sz="2400" i="1">
                              <a:effectLst/>
                              <a:latin typeface="Cambria Math" panose="02040503050406030204" pitchFamily="18" charset="0"/>
                            </a:rPr>
                          </m:ctrlPr>
                        </m:naryPr>
                        <m:sub>
                          <m:r>
                            <a:rPr lang="en-US" sz="2400">
                              <a:effectLst/>
                              <a:latin typeface="Cambria Math" panose="02040503050406030204" pitchFamily="18" charset="0"/>
                            </a:rPr>
                            <m:t>𝑗</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r>
                            <a:rPr lang="en-US" sz="2400">
                              <a:effectLst/>
                              <a:latin typeface="Cambria Math" panose="02040503050406030204" pitchFamily="18" charset="0"/>
                            </a:rPr>
                            <m:t>𝐸</m:t>
                          </m:r>
                        </m:sub>
                        <m:sup/>
                        <m:e>
                          <m:r>
                            <a:rPr lang="en-US" sz="2400">
                              <a:effectLst/>
                              <a:latin typeface="Cambria Math" panose="02040503050406030204" pitchFamily="18" charset="0"/>
                            </a:rPr>
                            <m:t>𝑐</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r>
                            <a:rPr lang="en-US" sz="2400">
                              <a:effectLst/>
                              <a:latin typeface="Cambria Math" panose="02040503050406030204" pitchFamily="18" charset="0"/>
                            </a:rPr>
                            <m:t>𝑝</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𝑝</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r>
                            <a:rPr lang="en-US" sz="2400">
                              <a:effectLst/>
                              <a:latin typeface="Cambria Math" panose="02040503050406030204" pitchFamily="18" charset="0"/>
                            </a:rPr>
                            <m:t>𝑏</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e>
                      </m:nary>
                    </m:oMath>
                  </m:oMathPara>
                </a14:m>
                <a:endParaRPr lang="en-US" sz="2400" dirty="0">
                  <a:effectLst/>
                  <a:latin typeface="+mj-lt"/>
                </a:endParaRPr>
              </a:p>
              <a:p>
                <a:pPr algn="just"/>
                <a:r>
                  <a:rPr lang="en-US" sz="2400" dirty="0">
                    <a:effectLst/>
                    <a:latin typeface="+mj-lt"/>
                  </a:rPr>
                  <a:t>can be written compactly as: </a:t>
                </a:r>
                <a14:m>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𝐿</m:t>
                        </m:r>
                      </m:e>
                      <m:sub>
                        <m:r>
                          <a:rPr lang="en-US" sz="2400">
                            <a:effectLst/>
                            <a:latin typeface="Cambria Math" panose="02040503050406030204" pitchFamily="18" charset="0"/>
                          </a:rPr>
                          <m:t>𝐺</m:t>
                        </m:r>
                      </m:sub>
                    </m:sSub>
                    <m:r>
                      <a:rPr lang="en-US" sz="2400">
                        <a:effectLst/>
                        <a:latin typeface="Cambria Math" panose="02040503050406030204" pitchFamily="18" charset="0"/>
                      </a:rPr>
                      <m:t>𝑝</m:t>
                    </m:r>
                    <m:r>
                      <a:rPr lang="en-US" sz="2400">
                        <a:effectLst/>
                        <a:latin typeface="Cambria Math" panose="02040503050406030204" pitchFamily="18" charset="0"/>
                      </a:rPr>
                      <m:t>=</m:t>
                    </m:r>
                    <m:r>
                      <a:rPr lang="en-US" sz="2400">
                        <a:effectLst/>
                        <a:latin typeface="Cambria Math" panose="02040503050406030204" pitchFamily="18" charset="0"/>
                      </a:rPr>
                      <m:t>𝑏</m:t>
                    </m:r>
                    <m:r>
                      <a:rPr lang="en-US" sz="2400">
                        <a:effectLst/>
                        <a:latin typeface="Cambria Math" panose="02040503050406030204" pitchFamily="18" charset="0"/>
                      </a:rPr>
                      <m:t>. </m:t>
                    </m:r>
                  </m:oMath>
                </a14:m>
                <a:r>
                  <a:rPr lang="en-US" sz="2400" dirty="0">
                    <a:effectLst/>
                    <a:latin typeface="+mj-lt"/>
                  </a:rPr>
                  <a:t>Then the flow vector is: </a:t>
                </a:r>
                <a14:m>
                  <m:oMath xmlns:m="http://schemas.openxmlformats.org/officeDocument/2006/math">
                    <m:r>
                      <a:rPr lang="en-US" sz="2400">
                        <a:effectLst/>
                        <a:latin typeface="Cambria Math" panose="02040503050406030204" pitchFamily="18" charset="0"/>
                      </a:rPr>
                      <m:t>𝑓</m:t>
                    </m:r>
                    <m:r>
                      <a:rPr lang="en-US" sz="2400">
                        <a:effectLst/>
                        <a:latin typeface="Cambria Math" panose="02040503050406030204" pitchFamily="18" charset="0"/>
                      </a:rPr>
                      <m:t>=</m:t>
                    </m:r>
                    <m:r>
                      <a:rPr lang="en-US" sz="2400">
                        <a:effectLst/>
                        <a:latin typeface="Cambria Math" panose="02040503050406030204" pitchFamily="18" charset="0"/>
                      </a:rPr>
                      <m:t>𝐶</m:t>
                    </m:r>
                    <m:sSup>
                      <m:sSupPr>
                        <m:ctrlPr>
                          <a:rPr lang="en-US" sz="2400" i="1">
                            <a:effectLst/>
                            <a:latin typeface="Cambria Math" panose="02040503050406030204" pitchFamily="18" charset="0"/>
                          </a:rPr>
                        </m:ctrlPr>
                      </m:sSupPr>
                      <m:e>
                        <m:r>
                          <a:rPr lang="en-US" sz="2400">
                            <a:effectLst/>
                            <a:latin typeface="Cambria Math" panose="02040503050406030204" pitchFamily="18" charset="0"/>
                          </a:rPr>
                          <m:t>𝐵</m:t>
                        </m:r>
                      </m:e>
                      <m:sup>
                        <m:r>
                          <a:rPr lang="en-US" sz="2400">
                            <a:effectLst/>
                            <a:latin typeface="Cambria Math" panose="02040503050406030204" pitchFamily="18" charset="0"/>
                          </a:rPr>
                          <m:t>𝑇</m:t>
                        </m:r>
                      </m:sup>
                    </m:sSup>
                    <m:r>
                      <a:rPr lang="en-US" sz="2400">
                        <a:effectLst/>
                        <a:latin typeface="Cambria Math" panose="02040503050406030204" pitchFamily="18" charset="0"/>
                      </a:rPr>
                      <m:t>𝑝</m:t>
                    </m:r>
                    <m:r>
                      <a:rPr lang="en-US" sz="2400">
                        <a:effectLst/>
                        <a:latin typeface="Cambria Math" panose="02040503050406030204" pitchFamily="18" charset="0"/>
                      </a:rPr>
                      <m:t>,</m:t>
                    </m:r>
                  </m:oMath>
                </a14:m>
                <a:endParaRPr lang="en-US" sz="2400" dirty="0">
                  <a:effectLst/>
                  <a:latin typeface="+mj-lt"/>
                </a:endParaRPr>
              </a:p>
              <a:p>
                <a:pPr algn="just"/>
                <a:r>
                  <a:rPr lang="en-US" sz="2400" dirty="0">
                    <a:effectLst/>
                    <a:latin typeface="+mj-lt"/>
                  </a:rPr>
                  <a:t>Where </a:t>
                </a:r>
                <a14:m>
                  <m:oMath xmlns:m="http://schemas.openxmlformats.org/officeDocument/2006/math">
                    <m:r>
                      <a:rPr lang="en-US" sz="2400">
                        <a:effectLst/>
                        <a:latin typeface="Cambria Math" panose="02040503050406030204" pitchFamily="18" charset="0"/>
                      </a:rPr>
                      <m:t>𝐶</m:t>
                    </m:r>
                    <m:r>
                      <a:rPr lang="en-US" sz="2400">
                        <a:effectLst/>
                        <a:latin typeface="Cambria Math" panose="02040503050406030204" pitchFamily="18" charset="0"/>
                      </a:rPr>
                      <m:t>∈</m:t>
                    </m:r>
                    <m:sSup>
                      <m:sSupPr>
                        <m:ctrlPr>
                          <a:rPr lang="en-US" sz="2400" i="1">
                            <a:effectLst/>
                            <a:latin typeface="Cambria Math" panose="02040503050406030204" pitchFamily="18" charset="0"/>
                          </a:rPr>
                        </m:ctrlPr>
                      </m:sSupPr>
                      <m:e>
                        <m:r>
                          <a:rPr lang="en-US" sz="2400">
                            <a:effectLst/>
                            <a:latin typeface="Cambria Math" panose="02040503050406030204" pitchFamily="18" charset="0"/>
                          </a:rPr>
                          <m:t>ℝ</m:t>
                        </m:r>
                      </m:e>
                      <m:sup>
                        <m:r>
                          <a:rPr lang="en-US" sz="2400">
                            <a:effectLst/>
                            <a:latin typeface="Cambria Math" panose="02040503050406030204" pitchFamily="18" charset="0"/>
                          </a:rPr>
                          <m:t>𝑚</m:t>
                        </m:r>
                        <m:r>
                          <a:rPr lang="en-US" sz="2400">
                            <a:effectLst/>
                            <a:latin typeface="Cambria Math" panose="02040503050406030204" pitchFamily="18" charset="0"/>
                          </a:rPr>
                          <m:t>×</m:t>
                        </m:r>
                        <m:r>
                          <a:rPr lang="en-US" sz="2400">
                            <a:effectLst/>
                            <a:latin typeface="Cambria Math" panose="02040503050406030204" pitchFamily="18" charset="0"/>
                          </a:rPr>
                          <m:t>𝑚</m:t>
                        </m:r>
                      </m:sup>
                    </m:sSup>
                  </m:oMath>
                </a14:m>
                <a:r>
                  <a:rPr lang="en-US" sz="2400" dirty="0">
                    <a:effectLst/>
                    <a:latin typeface="+mj-lt"/>
                  </a:rPr>
                  <a:t>be the diagonal matrix of conductance, and </a:t>
                </a:r>
                <a14:m>
                  <m:oMath xmlns:m="http://schemas.openxmlformats.org/officeDocument/2006/math">
                    <m:r>
                      <a:rPr lang="en-US" sz="2400">
                        <a:effectLst/>
                        <a:latin typeface="Cambria Math" panose="02040503050406030204" pitchFamily="18" charset="0"/>
                      </a:rPr>
                      <m:t>𝐵</m:t>
                    </m:r>
                    <m:r>
                      <a:rPr lang="en-US" sz="2400">
                        <a:effectLst/>
                        <a:latin typeface="Cambria Math" panose="02040503050406030204" pitchFamily="18" charset="0"/>
                      </a:rPr>
                      <m:t>∈</m:t>
                    </m:r>
                    <m:sSup>
                      <m:sSupPr>
                        <m:ctrlPr>
                          <a:rPr lang="en-US" sz="2400" i="1">
                            <a:effectLst/>
                            <a:latin typeface="Cambria Math" panose="02040503050406030204" pitchFamily="18" charset="0"/>
                          </a:rPr>
                        </m:ctrlPr>
                      </m:sSupPr>
                      <m:e>
                        <m:r>
                          <a:rPr lang="en-US" sz="2400">
                            <a:effectLst/>
                            <a:latin typeface="Cambria Math" panose="02040503050406030204" pitchFamily="18" charset="0"/>
                          </a:rPr>
                          <m:t>ℝ</m:t>
                        </m:r>
                      </m:e>
                      <m:sup>
                        <m:r>
                          <a:rPr lang="en-US" sz="2400">
                            <a:effectLst/>
                            <a:latin typeface="Cambria Math" panose="02040503050406030204" pitchFamily="18" charset="0"/>
                          </a:rPr>
                          <m:t>𝑛</m:t>
                        </m:r>
                        <m:r>
                          <a:rPr lang="en-US" sz="2400">
                            <a:effectLst/>
                            <a:latin typeface="Cambria Math" panose="02040503050406030204" pitchFamily="18" charset="0"/>
                          </a:rPr>
                          <m:t>×</m:t>
                        </m:r>
                        <m:r>
                          <a:rPr lang="en-US" sz="2400">
                            <a:effectLst/>
                            <a:latin typeface="Cambria Math" panose="02040503050406030204" pitchFamily="18" charset="0"/>
                          </a:rPr>
                          <m:t>𝑚</m:t>
                        </m:r>
                      </m:sup>
                    </m:sSup>
                  </m:oMath>
                </a14:m>
                <a:r>
                  <a:rPr lang="en-US" sz="2400" dirty="0">
                    <a:effectLst/>
                    <a:latin typeface="+mj-lt"/>
                  </a:rPr>
                  <a:t>be the incidence matrix whose column for edge </a:t>
                </a:r>
                <a14:m>
                  <m:oMath xmlns:m="http://schemas.openxmlformats.org/officeDocument/2006/math">
                    <m:d>
                      <m:dPr>
                        <m:sepChr m:val=","/>
                        <m:ctrlPr>
                          <a:rPr lang="en-US" sz="2400" i="1">
                            <a:effectLst/>
                            <a:latin typeface="Cambria Math" panose="02040503050406030204" pitchFamily="18" charset="0"/>
                          </a:rPr>
                        </m:ctrlPr>
                      </m:dPr>
                      <m:e>
                        <m:r>
                          <a:rPr lang="en-US" sz="2400">
                            <a:effectLst/>
                            <a:latin typeface="Cambria Math" panose="02040503050406030204" pitchFamily="18" charset="0"/>
                          </a:rPr>
                          <m:t>𝑖</m:t>
                        </m:r>
                      </m:e>
                      <m:e>
                        <m:r>
                          <a:rPr lang="en-US" sz="2400">
                            <a:effectLst/>
                            <a:latin typeface="Cambria Math" panose="02040503050406030204" pitchFamily="18" charset="0"/>
                          </a:rPr>
                          <m:t>𝑗</m:t>
                        </m:r>
                      </m:e>
                    </m:d>
                  </m:oMath>
                </a14:m>
                <a:r>
                  <a:rPr lang="en-US" sz="2400" dirty="0">
                    <a:effectLst/>
                    <a:latin typeface="+mj-lt"/>
                  </a:rPr>
                  <a:t>is </a:t>
                </a:r>
                <a14:m>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𝑖</m:t>
                        </m:r>
                      </m:sub>
                    </m:sSub>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𝑗</m:t>
                        </m:r>
                      </m:sub>
                    </m:sSub>
                  </m:oMath>
                </a14:m>
                <a:r>
                  <a:rPr lang="en-US" sz="2400" dirty="0">
                    <a:effectLst/>
                    <a:latin typeface="+mj-lt"/>
                  </a:rPr>
                  <a:t>. and the weighted Laplacian satisfies </a:t>
                </a:r>
                <a14:m>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𝐿</m:t>
                        </m:r>
                      </m:e>
                      <m:sub>
                        <m:r>
                          <a:rPr lang="en-US" sz="2400">
                            <a:effectLst/>
                            <a:latin typeface="Cambria Math" panose="02040503050406030204" pitchFamily="18" charset="0"/>
                          </a:rPr>
                          <m:t>𝐺</m:t>
                        </m:r>
                      </m:sub>
                    </m:sSub>
                    <m:r>
                      <a:rPr lang="en-US" sz="2400">
                        <a:effectLst/>
                        <a:latin typeface="Cambria Math" panose="02040503050406030204" pitchFamily="18" charset="0"/>
                      </a:rPr>
                      <m:t>=</m:t>
                    </m:r>
                    <m:r>
                      <a:rPr lang="en-US" sz="2400">
                        <a:effectLst/>
                        <a:latin typeface="Cambria Math" panose="02040503050406030204" pitchFamily="18" charset="0"/>
                      </a:rPr>
                      <m:t>𝐵𝐶</m:t>
                    </m:r>
                    <m:sSup>
                      <m:sSupPr>
                        <m:ctrlPr>
                          <a:rPr lang="en-US" sz="2400" i="1">
                            <a:effectLst/>
                            <a:latin typeface="Cambria Math" panose="02040503050406030204" pitchFamily="18" charset="0"/>
                          </a:rPr>
                        </m:ctrlPr>
                      </m:sSupPr>
                      <m:e>
                        <m:r>
                          <a:rPr lang="en-US" sz="2400">
                            <a:effectLst/>
                            <a:latin typeface="Cambria Math" panose="02040503050406030204" pitchFamily="18" charset="0"/>
                          </a:rPr>
                          <m:t>𝐵</m:t>
                        </m:r>
                      </m:e>
                      <m:sup>
                        <m:r>
                          <a:rPr lang="en-US" sz="2400">
                            <a:effectLst/>
                            <a:latin typeface="Cambria Math" panose="02040503050406030204" pitchFamily="18" charset="0"/>
                          </a:rPr>
                          <m:t>𝑇</m:t>
                        </m:r>
                      </m:sup>
                    </m:sSup>
                    <m:r>
                      <a:rPr lang="en-US" sz="2400">
                        <a:effectLst/>
                        <a:latin typeface="Cambria Math" panose="02040503050406030204" pitchFamily="18" charset="0"/>
                      </a:rPr>
                      <m:t>.</m:t>
                    </m:r>
                  </m:oMath>
                </a14:m>
                <a:endParaRPr lang="en-US" sz="2400" dirty="0">
                  <a:effectLst/>
                  <a:latin typeface="+mj-lt"/>
                </a:endParaRPr>
              </a:p>
              <a:p>
                <a:pPr algn="just"/>
                <a:r>
                  <a:rPr lang="en-US" sz="2400" dirty="0">
                    <a:effectLst/>
                    <a:latin typeface="+mj-lt"/>
                  </a:rPr>
                  <a:t>Finally, flow conservation becomes  </a:t>
                </a:r>
                <a14:m>
                  <m:oMath xmlns:m="http://schemas.openxmlformats.org/officeDocument/2006/math">
                    <m:r>
                      <a:rPr lang="en-US" sz="2400">
                        <a:effectLst/>
                        <a:latin typeface="Cambria Math" panose="02040503050406030204" pitchFamily="18" charset="0"/>
                      </a:rPr>
                      <m:t>𝑏</m:t>
                    </m:r>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𝐿</m:t>
                        </m:r>
                      </m:e>
                      <m:sub>
                        <m:r>
                          <a:rPr lang="en-US" sz="2400">
                            <a:effectLst/>
                            <a:latin typeface="Cambria Math" panose="02040503050406030204" pitchFamily="18" charset="0"/>
                          </a:rPr>
                          <m:t>𝐺</m:t>
                        </m:r>
                      </m:sub>
                    </m:sSub>
                    <m:r>
                      <a:rPr lang="en-US" sz="2400">
                        <a:effectLst/>
                        <a:latin typeface="Cambria Math" panose="02040503050406030204" pitchFamily="18" charset="0"/>
                      </a:rPr>
                      <m:t>𝑝</m:t>
                    </m:r>
                    <m:r>
                      <a:rPr lang="en-US" sz="2400">
                        <a:effectLst/>
                        <a:latin typeface="Cambria Math" panose="02040503050406030204" pitchFamily="18" charset="0"/>
                      </a:rPr>
                      <m:t>=</m:t>
                    </m:r>
                    <m:r>
                      <a:rPr lang="en-US" sz="2400">
                        <a:effectLst/>
                        <a:latin typeface="Cambria Math" panose="02040503050406030204" pitchFamily="18" charset="0"/>
                      </a:rPr>
                      <m:t>𝐵𝐶</m:t>
                    </m:r>
                    <m:sSup>
                      <m:sSupPr>
                        <m:ctrlPr>
                          <a:rPr lang="en-US" sz="2400" i="1">
                            <a:effectLst/>
                            <a:latin typeface="Cambria Math" panose="02040503050406030204" pitchFamily="18" charset="0"/>
                          </a:rPr>
                        </m:ctrlPr>
                      </m:sSupPr>
                      <m:e>
                        <m:r>
                          <a:rPr lang="en-US" sz="2400">
                            <a:effectLst/>
                            <a:latin typeface="Cambria Math" panose="02040503050406030204" pitchFamily="18" charset="0"/>
                          </a:rPr>
                          <m:t>𝐵</m:t>
                        </m:r>
                      </m:e>
                      <m:sup>
                        <m:r>
                          <a:rPr lang="en-US" sz="2400">
                            <a:effectLst/>
                            <a:latin typeface="Cambria Math" panose="02040503050406030204" pitchFamily="18" charset="0"/>
                          </a:rPr>
                          <m:t>𝑇</m:t>
                        </m:r>
                      </m:sup>
                    </m:sSup>
                    <m:r>
                      <a:rPr lang="en-US" sz="2400">
                        <a:effectLst/>
                        <a:latin typeface="Cambria Math" panose="02040503050406030204" pitchFamily="18" charset="0"/>
                      </a:rPr>
                      <m:t>𝑝</m:t>
                    </m:r>
                    <m:r>
                      <a:rPr lang="en-US" sz="2400">
                        <a:effectLst/>
                        <a:latin typeface="Cambria Math" panose="02040503050406030204" pitchFamily="18" charset="0"/>
                      </a:rPr>
                      <m:t>=</m:t>
                    </m:r>
                    <m:r>
                      <a:rPr lang="en-US" sz="2400">
                        <a:effectLst/>
                        <a:latin typeface="Cambria Math" panose="02040503050406030204" pitchFamily="18" charset="0"/>
                      </a:rPr>
                      <m:t>𝐵𝑓</m:t>
                    </m:r>
                    <m:r>
                      <a:rPr lang="en-US" sz="2400">
                        <a:effectLst/>
                        <a:latin typeface="Cambria Math" panose="02040503050406030204" pitchFamily="18" charset="0"/>
                      </a:rPr>
                      <m:t>.</m:t>
                    </m:r>
                  </m:oMath>
                </a14:m>
                <a:endParaRPr lang="en-US" sz="2400" dirty="0">
                  <a:effectLst/>
                  <a:latin typeface="+mj-lt"/>
                </a:endParaRPr>
              </a:p>
              <a:p>
                <a:pPr algn="just"/>
                <a:r>
                  <a:rPr lang="en-US" sz="2400" b="1" dirty="0">
                    <a:effectLst/>
                    <a:latin typeface="+mj-lt"/>
                  </a:rPr>
                  <a:t>d. Energy:  </a:t>
                </a:r>
                <a:r>
                  <a:rPr lang="en-US" sz="2400" dirty="0">
                    <a:effectLst/>
                    <a:latin typeface="+mj-lt"/>
                  </a:rPr>
                  <a:t>For a resistor with resistance </a:t>
                </a:r>
                <a14:m>
                  <m:oMath xmlns:m="http://schemas.openxmlformats.org/officeDocument/2006/math">
                    <m:r>
                      <a:rPr lang="en-US" sz="2400">
                        <a:effectLst/>
                        <a:latin typeface="Cambria Math" panose="02040503050406030204" pitchFamily="18" charset="0"/>
                      </a:rPr>
                      <m:t>𝑟</m:t>
                    </m:r>
                    <m:r>
                      <a:rPr lang="en-US" sz="2400">
                        <a:effectLst/>
                        <a:latin typeface="Cambria Math" panose="02040503050406030204" pitchFamily="18" charset="0"/>
                      </a:rPr>
                      <m:t> </m:t>
                    </m:r>
                  </m:oMath>
                </a14:m>
                <a:r>
                  <a:rPr lang="en-US" sz="2400" dirty="0">
                    <a:effectLst/>
                    <a:latin typeface="+mj-lt"/>
                  </a:rPr>
                  <a:t>and current </a:t>
                </a:r>
                <a14:m>
                  <m:oMath xmlns:m="http://schemas.openxmlformats.org/officeDocument/2006/math">
                    <m:r>
                      <a:rPr lang="en-US" sz="2400">
                        <a:effectLst/>
                        <a:latin typeface="Cambria Math" panose="02040503050406030204" pitchFamily="18" charset="0"/>
                      </a:rPr>
                      <m:t>𝑓</m:t>
                    </m:r>
                  </m:oMath>
                </a14:m>
                <a:r>
                  <a:rPr lang="en-US" sz="2400" dirty="0">
                    <a:effectLst/>
                    <a:latin typeface="+mj-lt"/>
                  </a:rPr>
                  <a:t>, the energy dissipated is </a:t>
                </a:r>
                <a14:m>
                  <m:oMath xmlns:m="http://schemas.openxmlformats.org/officeDocument/2006/math">
                    <m:r>
                      <a:rPr lang="en-US" sz="2400">
                        <a:effectLst/>
                        <a:latin typeface="Cambria Math" panose="02040503050406030204" pitchFamily="18" charset="0"/>
                      </a:rPr>
                      <m:t>𝜀</m:t>
                    </m:r>
                    <m:d>
                      <m:dPr>
                        <m:ctrlPr>
                          <a:rPr lang="en-US" sz="2400" i="1">
                            <a:effectLst/>
                            <a:latin typeface="Cambria Math" panose="02040503050406030204" pitchFamily="18" charset="0"/>
                          </a:rPr>
                        </m:ctrlPr>
                      </m:dPr>
                      <m:e>
                        <m:r>
                          <a:rPr lang="en-US" sz="2400">
                            <a:effectLst/>
                            <a:latin typeface="Cambria Math" panose="02040503050406030204" pitchFamily="18" charset="0"/>
                          </a:rPr>
                          <m:t>𝑓</m:t>
                        </m:r>
                      </m:e>
                    </m:d>
                    <m:r>
                      <a:rPr lang="en-US" sz="2400">
                        <a:effectLst/>
                        <a:latin typeface="Cambria Math" panose="02040503050406030204" pitchFamily="18" charset="0"/>
                      </a:rPr>
                      <m:t>=</m:t>
                    </m:r>
                    <m:sSup>
                      <m:sSupPr>
                        <m:ctrlPr>
                          <a:rPr lang="en-US" sz="2400" i="1">
                            <a:effectLst/>
                            <a:latin typeface="Cambria Math" panose="02040503050406030204" pitchFamily="18" charset="0"/>
                          </a:rPr>
                        </m:ctrlPr>
                      </m:sSupPr>
                      <m:e>
                        <m:r>
                          <a:rPr lang="en-US" sz="2400">
                            <a:effectLst/>
                            <a:latin typeface="Cambria Math" panose="02040503050406030204" pitchFamily="18" charset="0"/>
                          </a:rPr>
                          <m:t>𝑓</m:t>
                        </m:r>
                      </m:e>
                      <m:sup>
                        <m:r>
                          <a:rPr lang="en-US" sz="2400">
                            <a:effectLst/>
                            <a:latin typeface="Cambria Math" panose="02040503050406030204" pitchFamily="18" charset="0"/>
                          </a:rPr>
                          <m:t>2</m:t>
                        </m:r>
                      </m:sup>
                    </m:sSup>
                    <m:r>
                      <a:rPr lang="en-US" sz="2400">
                        <a:effectLst/>
                        <a:latin typeface="Cambria Math" panose="02040503050406030204" pitchFamily="18" charset="0"/>
                      </a:rPr>
                      <m:t>𝑟</m:t>
                    </m:r>
                    <m:r>
                      <a:rPr lang="en-US" sz="2400">
                        <a:effectLst/>
                        <a:latin typeface="Cambria Math" panose="02040503050406030204" pitchFamily="18" charset="0"/>
                      </a:rPr>
                      <m:t>. </m:t>
                    </m:r>
                  </m:oMath>
                </a14:m>
                <a:r>
                  <a:rPr lang="en-US" sz="2400" dirty="0">
                    <a:effectLst/>
                    <a:latin typeface="+mj-lt"/>
                  </a:rPr>
                  <a:t>Thus, the total energy of a flow </a:t>
                </a:r>
                <a14:m>
                  <m:oMath xmlns:m="http://schemas.openxmlformats.org/officeDocument/2006/math">
                    <m:r>
                      <a:rPr lang="en-US" sz="2400">
                        <a:effectLst/>
                        <a:latin typeface="Cambria Math" panose="02040503050406030204" pitchFamily="18" charset="0"/>
                      </a:rPr>
                      <m:t>𝑓</m:t>
                    </m:r>
                    <m:r>
                      <a:rPr lang="en-US" sz="2400">
                        <a:effectLst/>
                        <a:latin typeface="Cambria Math" panose="02040503050406030204" pitchFamily="18" charset="0"/>
                      </a:rPr>
                      <m:t> </m:t>
                    </m:r>
                  </m:oMath>
                </a14:m>
                <a:r>
                  <a:rPr lang="en-US" sz="2400" dirty="0">
                    <a:effectLst/>
                    <a:latin typeface="+mj-lt"/>
                  </a:rPr>
                  <a:t>in a graph </a:t>
                </a:r>
                <a14:m>
                  <m:oMath xmlns:m="http://schemas.openxmlformats.org/officeDocument/2006/math">
                    <m:r>
                      <a:rPr lang="en-US" sz="2400">
                        <a:effectLst/>
                        <a:latin typeface="Cambria Math" panose="02040503050406030204" pitchFamily="18" charset="0"/>
                      </a:rPr>
                      <m:t>𝐺</m:t>
                    </m:r>
                    <m:r>
                      <a:rPr lang="en-US" sz="2400">
                        <a:effectLst/>
                        <a:latin typeface="Cambria Math" panose="02040503050406030204" pitchFamily="18" charset="0"/>
                      </a:rPr>
                      <m:t> </m:t>
                    </m:r>
                  </m:oMath>
                </a14:m>
                <a:r>
                  <a:rPr lang="en-US" sz="2400" dirty="0">
                    <a:effectLst/>
                    <a:latin typeface="+mj-lt"/>
                  </a:rPr>
                  <a:t>is:</a:t>
                </a:r>
              </a:p>
              <a:p>
                <a:pPr algn="just"/>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𝜀</m:t>
                      </m:r>
                      <m:r>
                        <a:rPr lang="en-US" sz="2400">
                          <a:effectLst/>
                          <a:latin typeface="Cambria Math" panose="02040503050406030204" pitchFamily="18" charset="0"/>
                        </a:rPr>
                        <m:t>(</m:t>
                      </m:r>
                      <m:r>
                        <a:rPr lang="en-US" sz="2400">
                          <a:effectLst/>
                          <a:latin typeface="Cambria Math" panose="02040503050406030204" pitchFamily="18" charset="0"/>
                        </a:rPr>
                        <m:t>𝑓</m:t>
                      </m:r>
                      <m:r>
                        <a:rPr lang="en-US" sz="2400">
                          <a:effectLst/>
                          <a:latin typeface="Cambria Math" panose="02040503050406030204" pitchFamily="18" charset="0"/>
                        </a:rPr>
                        <m:t>)=</m:t>
                      </m:r>
                      <m:nary>
                        <m:naryPr>
                          <m:chr m:val="∑"/>
                          <m:limLoc m:val="undOvr"/>
                          <m:grow m:val="on"/>
                          <m:supHide m:val="on"/>
                          <m:ctrlPr>
                            <a:rPr lang="en-US" sz="2400" i="1">
                              <a:effectLst/>
                              <a:latin typeface="Cambria Math" panose="02040503050406030204" pitchFamily="18" charset="0"/>
                            </a:rPr>
                          </m:ctrlPr>
                        </m:naryPr>
                        <m:sub>
                          <m:d>
                            <m:dPr>
                              <m:ctrlPr>
                                <a:rPr lang="en-US" sz="2400" i="1">
                                  <a:effectLst/>
                                  <a:latin typeface="Cambria Math" panose="02040503050406030204" pitchFamily="18" charset="0"/>
                                </a:rPr>
                              </m:ctrlPr>
                            </m:dPr>
                            <m:e>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e>
                          </m:d>
                          <m:r>
                            <a:rPr lang="en-US" sz="2400">
                              <a:effectLst/>
                              <a:latin typeface="Cambria Math" panose="02040503050406030204" pitchFamily="18" charset="0"/>
                            </a:rPr>
                            <m:t>∈</m:t>
                          </m:r>
                          <m:r>
                            <a:rPr lang="en-US" sz="2400">
                              <a:effectLst/>
                              <a:latin typeface="Cambria Math" panose="02040503050406030204" pitchFamily="18" charset="0"/>
                            </a:rPr>
                            <m:t>𝐸</m:t>
                          </m:r>
                        </m:sub>
                        <m:sup/>
                        <m:e>
                          <m:sSup>
                            <m:sSupPr>
                              <m:ctrlPr>
                                <a:rPr lang="en-US" sz="2400" i="1">
                                  <a:effectLst/>
                                  <a:latin typeface="Cambria Math" panose="02040503050406030204" pitchFamily="18" charset="0"/>
                                </a:rPr>
                              </m:ctrlPr>
                            </m:sSupPr>
                            <m:e>
                              <m:r>
                                <a:rPr lang="en-US" sz="2400">
                                  <a:effectLst/>
                                  <a:latin typeface="Cambria Math" panose="02040503050406030204" pitchFamily="18" charset="0"/>
                                </a:rPr>
                                <m:t>𝑓</m:t>
                              </m:r>
                            </m:e>
                            <m:sup>
                              <m:r>
                                <a:rPr lang="en-US" sz="2400">
                                  <a:effectLst/>
                                  <a:latin typeface="Cambria Math" panose="02040503050406030204" pitchFamily="18" charset="0"/>
                                </a:rPr>
                                <m:t>2</m:t>
                              </m:r>
                            </m:sup>
                          </m:sSup>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e>
                      </m:nary>
                      <m:r>
                        <a:rPr lang="en-US" sz="2400">
                          <a:effectLst/>
                          <a:latin typeface="Cambria Math" panose="02040503050406030204" pitchFamily="18" charset="0"/>
                        </a:rPr>
                        <m:t>)</m:t>
                      </m:r>
                      <m:r>
                        <m:rPr>
                          <m:nor/>
                        </m:rPr>
                        <a:rPr lang="en-US" sz="2400">
                          <a:effectLst/>
                          <a:latin typeface="+mj-lt"/>
                        </a:rPr>
                        <m:t> </m:t>
                      </m:r>
                      <m:r>
                        <a:rPr lang="en-US" sz="2400">
                          <a:effectLst/>
                          <a:latin typeface="Cambria Math" panose="02040503050406030204" pitchFamily="18" charset="0"/>
                        </a:rPr>
                        <m:t>𝑟</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oMath>
                  </m:oMathPara>
                </a14:m>
                <a:endParaRPr lang="en-US" sz="2400" dirty="0">
                  <a:effectLst/>
                  <a:latin typeface="+mj-lt"/>
                </a:endParaRPr>
              </a:p>
              <a:p>
                <a:pPr algn="just"/>
                <a:r>
                  <a:rPr lang="en-US" sz="2400" dirty="0">
                    <a:effectLst/>
                    <a:latin typeface="+mj-lt"/>
                  </a:rPr>
                  <a:t>If the flow is defined by node potentials </a:t>
                </a:r>
                <a14:m>
                  <m:oMath xmlns:m="http://schemas.openxmlformats.org/officeDocument/2006/math">
                    <m:r>
                      <a:rPr lang="en-US" sz="2400">
                        <a:effectLst/>
                        <a:latin typeface="Cambria Math" panose="02040503050406030204" pitchFamily="18" charset="0"/>
                      </a:rPr>
                      <m:t>𝑝</m:t>
                    </m:r>
                  </m:oMath>
                </a14:m>
                <a:r>
                  <a:rPr lang="en-US" sz="2400" dirty="0">
                    <a:effectLst/>
                    <a:latin typeface="+mj-lt"/>
                  </a:rPr>
                  <a:t>, then using </a:t>
                </a:r>
                <a14:m>
                  <m:oMath xmlns:m="http://schemas.openxmlformats.org/officeDocument/2006/math">
                    <m:r>
                      <a:rPr lang="en-US" sz="2400">
                        <a:effectLst/>
                        <a:latin typeface="Cambria Math" panose="02040503050406030204" pitchFamily="18" charset="0"/>
                      </a:rPr>
                      <m:t>𝑐</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r>
                      <a:rPr lang="en-US" sz="2400">
                        <a:effectLst/>
                        <a:latin typeface="Cambria Math" panose="02040503050406030204" pitchFamily="18" charset="0"/>
                      </a:rPr>
                      <m:t>1</m:t>
                    </m:r>
                    <m:r>
                      <a:rPr lang="en-US" sz="2400">
                        <a:effectLst/>
                        <a:latin typeface="Cambria Math" panose="02040503050406030204" pitchFamily="18" charset="0"/>
                      </a:rPr>
                      <m:t>/</m:t>
                    </m:r>
                    <m:r>
                      <a:rPr lang="en-US" sz="2400">
                        <a:effectLst/>
                        <a:latin typeface="Cambria Math" panose="02040503050406030204" pitchFamily="18" charset="0"/>
                      </a:rPr>
                      <m:t>𝑟</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oMath>
                </a14:m>
                <a:r>
                  <a:rPr lang="en-US" sz="2400" dirty="0">
                    <a:effectLst/>
                    <a:latin typeface="+mj-lt"/>
                  </a:rPr>
                  <a:t>:</a:t>
                </a:r>
              </a:p>
              <a:p>
                <a:pPr algn="just"/>
                <a14:m>
                  <m:oMathPara xmlns:m="http://schemas.openxmlformats.org/officeDocument/2006/math">
                    <m:oMathParaPr>
                      <m:jc m:val="center"/>
                    </m:oMathParaPr>
                    <m:oMath xmlns:m="http://schemas.openxmlformats.org/officeDocument/2006/math">
                      <m:r>
                        <a:rPr lang="en-US" sz="2400">
                          <a:effectLst/>
                          <a:latin typeface="Cambria Math" panose="02040503050406030204" pitchFamily="18" charset="0"/>
                        </a:rPr>
                        <m:t>𝜀</m:t>
                      </m:r>
                      <m:d>
                        <m:dPr>
                          <m:ctrlPr>
                            <a:rPr lang="en-US" sz="2400" i="1">
                              <a:effectLst/>
                              <a:latin typeface="Cambria Math" panose="02040503050406030204" pitchFamily="18" charset="0"/>
                            </a:rPr>
                          </m:ctrlPr>
                        </m:dPr>
                        <m:e>
                          <m:r>
                            <a:rPr lang="en-US" sz="2400">
                              <a:effectLst/>
                              <a:latin typeface="Cambria Math" panose="02040503050406030204" pitchFamily="18" charset="0"/>
                            </a:rPr>
                            <m:t>𝑓</m:t>
                          </m:r>
                        </m:e>
                      </m:d>
                      <m:r>
                        <a:rPr lang="en-US" sz="2400">
                          <a:effectLst/>
                          <a:latin typeface="Cambria Math" panose="02040503050406030204" pitchFamily="18" charset="0"/>
                        </a:rPr>
                        <m:t>=</m:t>
                      </m:r>
                      <m:nary>
                        <m:naryPr>
                          <m:chr m:val="∑"/>
                          <m:limLoc m:val="undOvr"/>
                          <m:grow m:val="on"/>
                          <m:supHide m:val="on"/>
                          <m:ctrlPr>
                            <a:rPr lang="en-US" sz="2400" i="1">
                              <a:effectLst/>
                              <a:latin typeface="Cambria Math" panose="02040503050406030204" pitchFamily="18" charset="0"/>
                            </a:rPr>
                          </m:ctrlPr>
                        </m:naryPr>
                        <m:sub>
                          <m:d>
                            <m:dPr>
                              <m:ctrlPr>
                                <a:rPr lang="en-US" sz="2400" i="1">
                                  <a:effectLst/>
                                  <a:latin typeface="Cambria Math" panose="02040503050406030204" pitchFamily="18" charset="0"/>
                                </a:rPr>
                              </m:ctrlPr>
                            </m:dPr>
                            <m:e>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e>
                          </m:d>
                          <m:r>
                            <a:rPr lang="en-US" sz="2400">
                              <a:effectLst/>
                              <a:latin typeface="Cambria Math" panose="02040503050406030204" pitchFamily="18" charset="0"/>
                            </a:rPr>
                            <m:t>∈</m:t>
                          </m:r>
                          <m:r>
                            <a:rPr lang="en-US" sz="2400">
                              <a:effectLst/>
                              <a:latin typeface="Cambria Math" panose="02040503050406030204" pitchFamily="18" charset="0"/>
                            </a:rPr>
                            <m:t>𝐸</m:t>
                          </m:r>
                        </m:sub>
                        <m:sup/>
                        <m:e>
                          <m:r>
                            <a:rPr lang="en-US" sz="2400">
                              <a:effectLst/>
                              <a:latin typeface="Cambria Math" panose="02040503050406030204" pitchFamily="18" charset="0"/>
                            </a:rPr>
                            <m:t>𝑐</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r>
                            <m:rPr>
                              <m:nor/>
                            </m:rPr>
                            <a:rPr lang="en-US" sz="2400">
                              <a:effectLst/>
                              <a:latin typeface="+mj-lt"/>
                            </a:rPr>
                            <m:t> </m:t>
                          </m:r>
                          <m:r>
                            <a:rPr lang="en-US" sz="2400">
                              <a:effectLst/>
                              <a:latin typeface="Cambria Math" panose="02040503050406030204" pitchFamily="18" charset="0"/>
                            </a:rPr>
                            <m:t>(</m:t>
                          </m:r>
                          <m:r>
                            <a:rPr lang="en-US" sz="2400">
                              <a:effectLst/>
                              <a:latin typeface="Cambria Math" panose="02040503050406030204" pitchFamily="18" charset="0"/>
                            </a:rPr>
                            <m:t>𝑝</m:t>
                          </m:r>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𝑝</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e>
                      </m:nary>
                      <m:r>
                        <a:rPr lang="en-US" sz="2400" smtClean="0">
                          <a:effectLst/>
                          <a:latin typeface="Cambria Math" panose="02040503050406030204" pitchFamily="18" charset="0"/>
                        </a:rPr>
                        <m:t>=</m:t>
                      </m:r>
                      <m:sSup>
                        <m:sSupPr>
                          <m:ctrlPr>
                            <a:rPr lang="en-US" sz="2400" i="1">
                              <a:effectLst/>
                              <a:latin typeface="Cambria Math" panose="02040503050406030204" pitchFamily="18" charset="0"/>
                            </a:rPr>
                          </m:ctrlPr>
                        </m:sSupPr>
                        <m:e>
                          <m:r>
                            <a:rPr lang="en-US" sz="2400">
                              <a:effectLst/>
                              <a:latin typeface="Cambria Math" panose="02040503050406030204" pitchFamily="18" charset="0"/>
                            </a:rPr>
                            <m:t>𝑝</m:t>
                          </m:r>
                        </m:e>
                        <m:sup>
                          <m:r>
                            <a:rPr lang="en-US" sz="2400">
                              <a:effectLst/>
                              <a:latin typeface="Cambria Math" panose="02040503050406030204" pitchFamily="18" charset="0"/>
                            </a:rPr>
                            <m:t>𝑇</m:t>
                          </m:r>
                        </m:sup>
                      </m:sSup>
                      <m:r>
                        <m:rPr>
                          <m:nor/>
                        </m:rPr>
                        <a:rPr lang="en-US" sz="2400">
                          <a:effectLst/>
                          <a:latin typeface="+mj-lt"/>
                        </a:rPr>
                        <m:t> </m:t>
                      </m:r>
                      <m:d>
                        <m:dPr>
                          <m:ctrlPr>
                            <a:rPr lang="en-US" sz="2400" i="1">
                              <a:effectLst/>
                              <a:latin typeface="Cambria Math" panose="02040503050406030204" pitchFamily="18" charset="0"/>
                            </a:rPr>
                          </m:ctrlPr>
                        </m:dPr>
                        <m:e>
                          <m:nary>
                            <m:naryPr>
                              <m:chr m:val="∑"/>
                              <m:limLoc m:val="undOvr"/>
                              <m:grow m:val="on"/>
                              <m:supHide m:val="on"/>
                              <m:ctrlPr>
                                <a:rPr lang="en-US" sz="2400" i="1">
                                  <a:effectLst/>
                                  <a:latin typeface="Cambria Math" panose="02040503050406030204" pitchFamily="18" charset="0"/>
                                </a:rPr>
                              </m:ctrlPr>
                            </m:naryPr>
                            <m:sub>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r>
                                <a:rPr lang="en-US" sz="2400">
                                  <a:effectLst/>
                                  <a:latin typeface="Cambria Math" panose="02040503050406030204" pitchFamily="18" charset="0"/>
                                </a:rPr>
                                <m:t>𝐸</m:t>
                              </m:r>
                            </m:sub>
                            <m:sup/>
                            <m:e>
                              <m:r>
                                <a:rPr lang="en-US" sz="2400">
                                  <a:effectLst/>
                                  <a:latin typeface="Cambria Math" panose="02040503050406030204" pitchFamily="18" charset="0"/>
                                </a:rPr>
                                <m:t>𝑐</m:t>
                              </m:r>
                            </m:e>
                          </m:nary>
                          <m:r>
                            <a:rPr lang="en-US" sz="2400">
                              <a:effectLst/>
                              <a:latin typeface="Cambria Math" panose="02040503050406030204" pitchFamily="18" charset="0"/>
                            </a:rPr>
                            <m:t>(</m:t>
                          </m:r>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𝑗</m:t>
                          </m:r>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𝑖</m:t>
                              </m:r>
                            </m:sub>
                          </m:sSub>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𝑗</m:t>
                              </m:r>
                            </m:sub>
                          </m:sSub>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𝑖</m:t>
                              </m:r>
                            </m:sub>
                          </m:sSub>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𝑗</m:t>
                              </m:r>
                            </m:sub>
                          </m:sSub>
                          <m:sSup>
                            <m:sSupPr>
                              <m:ctrlPr>
                                <a:rPr lang="en-US" sz="2400" i="1">
                                  <a:effectLst/>
                                  <a:latin typeface="Cambria Math" panose="02040503050406030204" pitchFamily="18" charset="0"/>
                                </a:rPr>
                              </m:ctrlPr>
                            </m:sSupPr>
                            <m:e>
                              <m:r>
                                <a:rPr lang="en-US" sz="2400">
                                  <a:effectLst/>
                                  <a:latin typeface="Cambria Math" panose="02040503050406030204" pitchFamily="18" charset="0"/>
                                </a:rPr>
                                <m:t>)</m:t>
                              </m:r>
                            </m:e>
                            <m:sup>
                              <m:r>
                                <a:rPr lang="en-US" sz="2400">
                                  <a:effectLst/>
                                  <a:latin typeface="Cambria Math" panose="02040503050406030204" pitchFamily="18" charset="0"/>
                                </a:rPr>
                                <m:t>𝑇</m:t>
                              </m:r>
                            </m:sup>
                          </m:sSup>
                        </m:e>
                      </m:d>
                      <m:r>
                        <a:rPr lang="en-US" sz="2400">
                          <a:effectLst/>
                          <a:latin typeface="Cambria Math" panose="02040503050406030204" pitchFamily="18" charset="0"/>
                        </a:rPr>
                        <m:t>𝑝</m:t>
                      </m:r>
                      <m:r>
                        <a:rPr lang="en-US" sz="2400">
                          <a:effectLst/>
                          <a:latin typeface="Cambria Math" panose="02040503050406030204" pitchFamily="18" charset="0"/>
                        </a:rPr>
                        <m:t>=</m:t>
                      </m:r>
                      <m:sSup>
                        <m:sSupPr>
                          <m:ctrlPr>
                            <a:rPr lang="en-US" sz="2400" i="1">
                              <a:effectLst/>
                              <a:latin typeface="Cambria Math" panose="02040503050406030204" pitchFamily="18" charset="0"/>
                            </a:rPr>
                          </m:ctrlPr>
                        </m:sSupPr>
                        <m:e>
                          <m:r>
                            <a:rPr lang="en-US" sz="2400">
                              <a:effectLst/>
                              <a:latin typeface="Cambria Math" panose="02040503050406030204" pitchFamily="18" charset="0"/>
                            </a:rPr>
                            <m:t>𝑝</m:t>
                          </m:r>
                        </m:e>
                        <m:sup>
                          <m:r>
                            <a:rPr lang="en-US" sz="2400">
                              <a:effectLst/>
                              <a:latin typeface="Cambria Math" panose="02040503050406030204" pitchFamily="18" charset="0"/>
                            </a:rPr>
                            <m:t>𝑇</m:t>
                          </m:r>
                        </m:sup>
                      </m:sSup>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𝐿</m:t>
                          </m:r>
                        </m:e>
                        <m:sub>
                          <m:r>
                            <a:rPr lang="en-US" sz="2400">
                              <a:effectLst/>
                              <a:latin typeface="Cambria Math" panose="02040503050406030204" pitchFamily="18" charset="0"/>
                            </a:rPr>
                            <m:t>𝐺</m:t>
                          </m:r>
                        </m:sub>
                      </m:sSub>
                      <m:r>
                        <a:rPr lang="en-US" sz="2400">
                          <a:effectLst/>
                          <a:latin typeface="Cambria Math" panose="02040503050406030204" pitchFamily="18" charset="0"/>
                        </a:rPr>
                        <m:t>𝑝</m:t>
                      </m:r>
                      <m:r>
                        <a:rPr lang="en-US" sz="2400">
                          <a:effectLst/>
                          <a:latin typeface="Cambria Math" panose="02040503050406030204" pitchFamily="18" charset="0"/>
                        </a:rPr>
                        <m:t>.</m:t>
                      </m:r>
                    </m:oMath>
                  </m:oMathPara>
                </a14:m>
                <a:endParaRPr lang="en-US" sz="2400" dirty="0">
                  <a:effectLst/>
                  <a:latin typeface="+mj-lt"/>
                </a:endParaRPr>
              </a:p>
              <a:p>
                <a:pPr algn="just"/>
                <a:r>
                  <a:rPr lang="en-US" sz="2400" dirty="0">
                    <a:effectLst/>
                    <a:latin typeface="+mj-lt"/>
                  </a:rPr>
                  <a:t>For an </a:t>
                </a:r>
                <a14:m>
                  <m:oMath xmlns:m="http://schemas.openxmlformats.org/officeDocument/2006/math">
                    <m:r>
                      <a:rPr lang="en-US" sz="2400">
                        <a:effectLst/>
                        <a:latin typeface="Cambria Math" panose="02040503050406030204" pitchFamily="18" charset="0"/>
                      </a:rPr>
                      <m:t>𝑠</m:t>
                    </m:r>
                  </m:oMath>
                </a14:m>
                <a:r>
                  <a:rPr lang="en-US" sz="2400" dirty="0">
                    <a:effectLst/>
                    <a:latin typeface="+mj-lt"/>
                  </a:rPr>
                  <a:t>-</a:t>
                </a:r>
                <a14:m>
                  <m:oMath xmlns:m="http://schemas.openxmlformats.org/officeDocument/2006/math">
                    <m:r>
                      <a:rPr lang="en-US" sz="2400">
                        <a:effectLst/>
                        <a:latin typeface="Cambria Math" panose="02040503050406030204" pitchFamily="18" charset="0"/>
                      </a:rPr>
                      <m:t>𝑡</m:t>
                    </m:r>
                  </m:oMath>
                </a14:m>
                <a:r>
                  <a:rPr lang="en-US" sz="2400" dirty="0">
                    <a:effectLst/>
                    <a:latin typeface="+mj-lt"/>
                  </a:rPr>
                  <a:t> electrical flow:  </a:t>
                </a:r>
                <a14:m>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𝐿</m:t>
                        </m:r>
                      </m:e>
                      <m:sub>
                        <m:r>
                          <a:rPr lang="en-US" sz="2400">
                            <a:effectLst/>
                            <a:latin typeface="Cambria Math" panose="02040503050406030204" pitchFamily="18" charset="0"/>
                          </a:rPr>
                          <m:t>𝐺</m:t>
                        </m:r>
                      </m:sub>
                    </m:sSub>
                    <m:r>
                      <a:rPr lang="en-US" sz="2400">
                        <a:effectLst/>
                        <a:latin typeface="Cambria Math" panose="02040503050406030204" pitchFamily="18" charset="0"/>
                      </a:rPr>
                      <m:t>𝑝</m:t>
                    </m:r>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𝑠</m:t>
                        </m:r>
                      </m:sub>
                    </m:sSub>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𝑡</m:t>
                        </m:r>
                      </m:sub>
                    </m:sSub>
                    <m:r>
                      <a:rPr lang="en-US" sz="2400">
                        <a:effectLst/>
                        <a:latin typeface="Cambria Math" panose="02040503050406030204" pitchFamily="18" charset="0"/>
                      </a:rPr>
                      <m:t>, </m:t>
                    </m:r>
                  </m:oMath>
                </a14:m>
                <a:r>
                  <a:rPr lang="en-US" sz="2400" dirty="0">
                    <a:effectLst/>
                    <a:latin typeface="+mj-lt"/>
                  </a:rPr>
                  <a:t>the energy becomes</a:t>
                </a:r>
              </a:p>
              <a:p>
                <a:pPr algn="just"/>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𝜀</m:t>
                      </m:r>
                      <m:r>
                        <a:rPr lang="en-US" sz="2400">
                          <a:effectLst/>
                          <a:latin typeface="Cambria Math" panose="02040503050406030204" pitchFamily="18" charset="0"/>
                        </a:rPr>
                        <m:t>(</m:t>
                      </m:r>
                      <m:r>
                        <a:rPr lang="en-US" sz="2400">
                          <a:effectLst/>
                          <a:latin typeface="Cambria Math" panose="02040503050406030204" pitchFamily="18" charset="0"/>
                        </a:rPr>
                        <m:t>𝑓</m:t>
                      </m:r>
                      <m:r>
                        <a:rPr lang="en-US" sz="2400">
                          <a:effectLst/>
                          <a:latin typeface="Cambria Math" panose="02040503050406030204" pitchFamily="18" charset="0"/>
                        </a:rPr>
                        <m:t>)=</m:t>
                      </m:r>
                      <m:sSup>
                        <m:sSupPr>
                          <m:ctrlPr>
                            <a:rPr lang="en-US" sz="2400" i="1">
                              <a:effectLst/>
                              <a:latin typeface="Cambria Math" panose="02040503050406030204" pitchFamily="18" charset="0"/>
                            </a:rPr>
                          </m:ctrlPr>
                        </m:sSupPr>
                        <m:e>
                          <m:r>
                            <a:rPr lang="en-US" sz="2400">
                              <a:effectLst/>
                              <a:latin typeface="Cambria Math" panose="02040503050406030204" pitchFamily="18" charset="0"/>
                            </a:rPr>
                            <m:t>𝑝</m:t>
                          </m:r>
                        </m:e>
                        <m:sup>
                          <m:r>
                            <a:rPr lang="en-US" sz="2400">
                              <a:effectLst/>
                              <a:latin typeface="Cambria Math" panose="02040503050406030204" pitchFamily="18" charset="0"/>
                            </a:rPr>
                            <m:t>𝑇</m:t>
                          </m:r>
                        </m:sup>
                      </m:sSup>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𝐿</m:t>
                          </m:r>
                        </m:e>
                        <m:sub>
                          <m:r>
                            <a:rPr lang="en-US" sz="2400">
                              <a:effectLst/>
                              <a:latin typeface="Cambria Math" panose="02040503050406030204" pitchFamily="18" charset="0"/>
                            </a:rPr>
                            <m:t>𝐺</m:t>
                          </m:r>
                        </m:sub>
                      </m:sSub>
                      <m:r>
                        <a:rPr lang="en-US" sz="2400">
                          <a:effectLst/>
                          <a:latin typeface="Cambria Math" panose="02040503050406030204" pitchFamily="18" charset="0"/>
                        </a:rPr>
                        <m:t>𝑝</m:t>
                      </m:r>
                      <m:r>
                        <a:rPr lang="en-US" sz="2400">
                          <a:effectLst/>
                          <a:latin typeface="Cambria Math" panose="02040503050406030204" pitchFamily="18" charset="0"/>
                        </a:rPr>
                        <m:t>=</m:t>
                      </m:r>
                      <m:sSup>
                        <m:sSupPr>
                          <m:ctrlPr>
                            <a:rPr lang="en-US" sz="2400" i="1">
                              <a:effectLst/>
                              <a:latin typeface="Cambria Math" panose="02040503050406030204" pitchFamily="18" charset="0"/>
                            </a:rPr>
                          </m:ctrlPr>
                        </m:sSupPr>
                        <m:e>
                          <m:r>
                            <a:rPr lang="en-US" sz="2400">
                              <a:effectLst/>
                              <a:latin typeface="Cambria Math" panose="02040503050406030204" pitchFamily="18" charset="0"/>
                            </a:rPr>
                            <m:t>𝑝</m:t>
                          </m:r>
                        </m:e>
                        <m:sup>
                          <m:r>
                            <a:rPr lang="en-US" sz="2400">
                              <a:effectLst/>
                              <a:latin typeface="Cambria Math" panose="02040503050406030204" pitchFamily="18" charset="0"/>
                            </a:rPr>
                            <m:t>𝑇</m:t>
                          </m:r>
                        </m:sup>
                      </m:sSup>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𝑠</m:t>
                          </m:r>
                        </m:sub>
                      </m:sSub>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𝑒</m:t>
                          </m:r>
                        </m:e>
                        <m:sub>
                          <m:r>
                            <a:rPr lang="en-US" sz="2400">
                              <a:effectLst/>
                              <a:latin typeface="Cambria Math" panose="02040503050406030204" pitchFamily="18" charset="0"/>
                            </a:rPr>
                            <m:t>𝑡</m:t>
                          </m:r>
                        </m:sub>
                      </m:sSub>
                      <m:r>
                        <a:rPr lang="en-US" sz="2400">
                          <a:effectLst/>
                          <a:latin typeface="Cambria Math" panose="02040503050406030204" pitchFamily="18" charset="0"/>
                        </a:rPr>
                        <m:t>)=</m:t>
                      </m:r>
                      <m:r>
                        <a:rPr lang="en-US" sz="2400">
                          <a:effectLst/>
                          <a:latin typeface="Cambria Math" panose="02040503050406030204" pitchFamily="18" charset="0"/>
                        </a:rPr>
                        <m:t>𝑝</m:t>
                      </m:r>
                      <m:r>
                        <a:rPr lang="en-US" sz="2400">
                          <a:effectLst/>
                          <a:latin typeface="Cambria Math" panose="02040503050406030204" pitchFamily="18" charset="0"/>
                        </a:rPr>
                        <m:t>(</m:t>
                      </m:r>
                      <m:r>
                        <a:rPr lang="en-US" sz="2400">
                          <a:effectLst/>
                          <a:latin typeface="Cambria Math" panose="02040503050406030204" pitchFamily="18" charset="0"/>
                        </a:rPr>
                        <m:t>𝑠</m:t>
                      </m:r>
                      <m:r>
                        <a:rPr lang="en-US" sz="2400">
                          <a:effectLst/>
                          <a:latin typeface="Cambria Math" panose="02040503050406030204" pitchFamily="18" charset="0"/>
                        </a:rPr>
                        <m:t>)−</m:t>
                      </m:r>
                      <m:r>
                        <a:rPr lang="en-US" sz="2400">
                          <a:effectLst/>
                          <a:latin typeface="Cambria Math" panose="02040503050406030204" pitchFamily="18" charset="0"/>
                        </a:rPr>
                        <m:t>𝑝</m:t>
                      </m:r>
                      <m:r>
                        <a:rPr lang="en-US" sz="2400">
                          <a:effectLst/>
                          <a:latin typeface="Cambria Math" panose="02040503050406030204" pitchFamily="18" charset="0"/>
                        </a:rPr>
                        <m:t>(</m:t>
                      </m:r>
                      <m:r>
                        <a:rPr lang="en-US" sz="2400">
                          <a:effectLst/>
                          <a:latin typeface="Cambria Math" panose="02040503050406030204" pitchFamily="18" charset="0"/>
                        </a:rPr>
                        <m:t>𝑡</m:t>
                      </m:r>
                      <m:r>
                        <a:rPr lang="en-US" sz="2400">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𝑟</m:t>
                          </m:r>
                        </m:e>
                        <m:sub>
                          <m:r>
                            <m:rPr>
                              <m:nor/>
                            </m:rPr>
                            <a:rPr lang="en-US" sz="2400">
                              <a:effectLst/>
                              <a:latin typeface="+mj-lt"/>
                            </a:rPr>
                            <m:t>eff</m:t>
                          </m:r>
                        </m:sub>
                      </m:sSub>
                      <m:r>
                        <a:rPr lang="en-US" sz="2400">
                          <a:effectLst/>
                          <a:latin typeface="Cambria Math" panose="02040503050406030204" pitchFamily="18" charset="0"/>
                        </a:rPr>
                        <m:t>(</m:t>
                      </m:r>
                      <m:r>
                        <a:rPr lang="en-US" sz="2400">
                          <a:effectLst/>
                          <a:latin typeface="Cambria Math" panose="02040503050406030204" pitchFamily="18" charset="0"/>
                        </a:rPr>
                        <m:t>𝑠</m:t>
                      </m:r>
                      <m:r>
                        <a:rPr lang="en-US" sz="2400">
                          <a:effectLst/>
                          <a:latin typeface="Cambria Math" panose="02040503050406030204" pitchFamily="18" charset="0"/>
                        </a:rPr>
                        <m:t>,</m:t>
                      </m:r>
                      <m:r>
                        <a:rPr lang="en-US" sz="2400">
                          <a:effectLst/>
                          <a:latin typeface="Cambria Math" panose="02040503050406030204" pitchFamily="18" charset="0"/>
                        </a:rPr>
                        <m:t>𝑡</m:t>
                      </m:r>
                      <m:r>
                        <a:rPr lang="en-US" sz="2400">
                          <a:effectLst/>
                          <a:latin typeface="Cambria Math" panose="02040503050406030204" pitchFamily="18" charset="0"/>
                        </a:rPr>
                        <m:t>).</m:t>
                      </m:r>
                    </m:oMath>
                  </m:oMathPara>
                </a14:m>
                <a:endParaRPr lang="en-US" sz="2400" dirty="0">
                  <a:effectLst/>
                  <a:latin typeface="+mj-lt"/>
                </a:endParaRPr>
              </a:p>
              <a:p>
                <a:pPr algn="just"/>
                <a:r>
                  <a:rPr lang="en-US" dirty="0">
                    <a:effectLst/>
                    <a:latin typeface="+mj-lt"/>
                  </a:rPr>
                  <a:t>Thus, the energy dissipated by sending one unit of current from </a:t>
                </a:r>
                <a14:m>
                  <m:oMath xmlns:m="http://schemas.openxmlformats.org/officeDocument/2006/math">
                    <m:r>
                      <a:rPr lang="en-US">
                        <a:effectLst/>
                        <a:latin typeface="Cambria Math" panose="02040503050406030204" pitchFamily="18" charset="0"/>
                      </a:rPr>
                      <m:t>𝑠</m:t>
                    </m:r>
                    <m:r>
                      <a:rPr lang="en-US">
                        <a:effectLst/>
                        <a:latin typeface="Cambria Math" panose="02040503050406030204" pitchFamily="18" charset="0"/>
                      </a:rPr>
                      <m:t> </m:t>
                    </m:r>
                  </m:oMath>
                </a14:m>
                <a:r>
                  <a:rPr lang="en-US" dirty="0">
                    <a:effectLst/>
                    <a:latin typeface="+mj-lt"/>
                  </a:rPr>
                  <a:t>to </a:t>
                </a:r>
                <a14:m>
                  <m:oMath xmlns:m="http://schemas.openxmlformats.org/officeDocument/2006/math">
                    <m:r>
                      <a:rPr lang="en-US">
                        <a:effectLst/>
                        <a:latin typeface="Cambria Math" panose="02040503050406030204" pitchFamily="18" charset="0"/>
                      </a:rPr>
                      <m:t>𝑡</m:t>
                    </m:r>
                    <m:r>
                      <a:rPr lang="en-US">
                        <a:effectLst/>
                        <a:latin typeface="Cambria Math" panose="02040503050406030204" pitchFamily="18" charset="0"/>
                      </a:rPr>
                      <m:t> </m:t>
                    </m:r>
                  </m:oMath>
                </a14:m>
                <a:r>
                  <a:rPr lang="en-US" dirty="0">
                    <a:effectLst/>
                    <a:latin typeface="+mj-lt"/>
                  </a:rPr>
                  <a:t>equals the effective resistance between them, treating the entire network as a single equivalent resistor.</a:t>
                </a:r>
              </a:p>
              <a:p>
                <a:endParaRPr lang="en-US" dirty="0">
                  <a:effectLst/>
                </a:endParaRPr>
              </a:p>
              <a:p>
                <a:endParaRPr lang="en-US" dirty="0">
                  <a:effectLst/>
                </a:endParaRPr>
              </a:p>
              <a:p>
                <a:endParaRPr lang="en-US" dirty="0">
                  <a:effectLst/>
                </a:endParaRPr>
              </a:p>
            </p:txBody>
          </p:sp>
        </mc:Choice>
        <mc:Fallback xmlns="">
          <p:sp>
            <p:nvSpPr>
              <p:cNvPr id="80" name="TextBox 19">
                <a:extLst>
                  <a:ext uri="{FF2B5EF4-FFF2-40B4-BE49-F238E27FC236}">
                    <a16:creationId xmlns:a16="http://schemas.microsoft.com/office/drawing/2014/main" id="{45A199C6-0BDE-461E-8044-A335463A4944}"/>
                  </a:ext>
                </a:extLst>
              </p:cNvPr>
              <p:cNvSpPr txBox="1">
                <a:spLocks noRot="1" noChangeAspect="1" noMove="1" noResize="1" noEditPoints="1" noAdjustHandles="1" noChangeArrowheads="1" noChangeShapeType="1" noTextEdit="1"/>
              </p:cNvSpPr>
              <p:nvPr/>
            </p:nvSpPr>
            <p:spPr bwMode="auto">
              <a:xfrm>
                <a:off x="11718614" y="8610600"/>
                <a:ext cx="9598176" cy="25343582"/>
              </a:xfrm>
              <a:prstGeom prst="rect">
                <a:avLst/>
              </a:prstGeom>
              <a:blipFill>
                <a:blip r:embed="rId3"/>
                <a:stretch>
                  <a:fillRect l="-952" t="-217" r="-95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81" name="Rectangle 10">
            <a:extLst>
              <a:ext uri="{FF2B5EF4-FFF2-40B4-BE49-F238E27FC236}">
                <a16:creationId xmlns:a16="http://schemas.microsoft.com/office/drawing/2014/main" id="{868B6862-5CC5-4906-AC03-EA9661AD1346}"/>
              </a:ext>
            </a:extLst>
          </p:cNvPr>
          <p:cNvSpPr>
            <a:spLocks noChangeArrowheads="1"/>
          </p:cNvSpPr>
          <p:nvPr/>
        </p:nvSpPr>
        <p:spPr bwMode="auto">
          <a:xfrm>
            <a:off x="11488502" y="7471321"/>
            <a:ext cx="10058400" cy="873301"/>
          </a:xfrm>
          <a:prstGeom prst="snipRoundRect">
            <a:avLst>
              <a:gd name="adj1" fmla="val 0"/>
              <a:gd name="adj2" fmla="val 50000"/>
            </a:avLst>
          </a:prstGeom>
          <a:solidFill>
            <a:schemeClr val="accent6">
              <a:lumMod val="60000"/>
              <a:lumOff val="40000"/>
            </a:schemeClr>
          </a:solidFill>
          <a:ln w="12700">
            <a:noFill/>
            <a:miter lim="800000"/>
          </a:ln>
        </p:spPr>
        <p:txBody>
          <a:bodyPr wrap="none" lIns="274320" tIns="73152" rIns="274320" bIns="68563" anchor="ctr" anchorCtr="0"/>
          <a:lstStyle>
            <a:defPPr>
              <a:defRPr kern="1200"/>
            </a:defPPr>
          </a:lstStyle>
          <a:p>
            <a:pPr defTabSz="4702588">
              <a:defRPr/>
            </a:pPr>
            <a:r>
              <a:rPr lang="en-US" sz="3600" b="1" dirty="0">
                <a:solidFill>
                  <a:schemeClr val="bg1"/>
                </a:solidFill>
                <a:effectLst/>
                <a:latin typeface="Quattrocento" panose="02020802030000000404" pitchFamily="18" charset="0"/>
              </a:rPr>
              <a:t>Methodology</a:t>
            </a:r>
          </a:p>
        </p:txBody>
      </p:sp>
      <p:sp>
        <p:nvSpPr>
          <p:cNvPr id="82" name="Rectangle 81">
            <a:extLst>
              <a:ext uri="{FF2B5EF4-FFF2-40B4-BE49-F238E27FC236}">
                <a16:creationId xmlns:a16="http://schemas.microsoft.com/office/drawing/2014/main" id="{D026A6A3-D6D2-4951-8B04-EF51015D25DB}"/>
              </a:ext>
            </a:extLst>
          </p:cNvPr>
          <p:cNvSpPr/>
          <p:nvPr/>
        </p:nvSpPr>
        <p:spPr>
          <a:xfrm>
            <a:off x="22316522" y="8000999"/>
            <a:ext cx="10058400" cy="2423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latin typeface="+mj-lt"/>
            </a:endParaRPr>
          </a:p>
        </p:txBody>
      </p:sp>
      <mc:AlternateContent xmlns:mc="http://schemas.openxmlformats.org/markup-compatibility/2006" xmlns:a14="http://schemas.microsoft.com/office/drawing/2010/main">
        <mc:Choice Requires="a14">
          <p:sp>
            <p:nvSpPr>
              <p:cNvPr id="83" name="TextBox 19">
                <a:extLst>
                  <a:ext uri="{FF2B5EF4-FFF2-40B4-BE49-F238E27FC236}">
                    <a16:creationId xmlns:a16="http://schemas.microsoft.com/office/drawing/2014/main" id="{16D6CE1D-7E3F-42CA-A7BD-5FA191CFE645}"/>
                  </a:ext>
                </a:extLst>
              </p:cNvPr>
              <p:cNvSpPr txBox="1">
                <a:spLocks noChangeArrowheads="1"/>
              </p:cNvSpPr>
              <p:nvPr/>
            </p:nvSpPr>
            <p:spPr bwMode="auto">
              <a:xfrm>
                <a:off x="22546635" y="8610600"/>
                <a:ext cx="9598176" cy="2552452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2400" b="1" dirty="0">
                    <a:effectLst/>
                    <a:latin typeface="+mj-lt"/>
                  </a:rPr>
                  <a:t>2. Power System Transformation into s-t Flow:</a:t>
                </a:r>
              </a:p>
              <a:p>
                <a:pPr algn="just"/>
                <a:r>
                  <a:rPr lang="en-US" sz="2400" dirty="0">
                    <a:effectLst/>
                    <a:latin typeface="+mj-lt"/>
                  </a:rPr>
                  <a:t>To apply flow‑based methods to electric power systems, the network is converted into an </a:t>
                </a:r>
                <a14:m>
                  <m:oMath xmlns:m="http://schemas.openxmlformats.org/officeDocument/2006/math">
                    <m:r>
                      <a:rPr lang="en-US" sz="2400">
                        <a:effectLst/>
                        <a:latin typeface="Cambria Math" panose="02040503050406030204" pitchFamily="18" charset="0"/>
                      </a:rPr>
                      <m:t>𝑠</m:t>
                    </m:r>
                    <m:r>
                      <m:rPr>
                        <m:nor/>
                      </m:rPr>
                      <a:rPr lang="en-US" sz="2400">
                        <a:effectLst/>
                        <a:latin typeface="+mj-lt"/>
                      </a:rPr>
                      <m:t> _ </m:t>
                    </m:r>
                    <m:r>
                      <a:rPr lang="en-US" sz="2400">
                        <a:effectLst/>
                        <a:latin typeface="Cambria Math" panose="02040503050406030204" pitchFamily="18" charset="0"/>
                      </a:rPr>
                      <m:t>𝑡</m:t>
                    </m:r>
                    <m:r>
                      <a:rPr lang="en-US" sz="2400">
                        <a:effectLst/>
                        <a:latin typeface="Cambria Math" panose="02040503050406030204" pitchFamily="18" charset="0"/>
                      </a:rPr>
                      <m:t> </m:t>
                    </m:r>
                  </m:oMath>
                </a14:m>
                <a:r>
                  <a:rPr lang="en-US" sz="2400" dirty="0">
                    <a:effectLst/>
                    <a:latin typeface="+mj-lt"/>
                  </a:rPr>
                  <a:t>flow graph by linking all generator buses to a single super‑source and all load buses to a super‑sink. Consider an electrical network </a:t>
                </a:r>
                <a14:m>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𝑁</m:t>
                        </m:r>
                      </m:e>
                      <m:sub>
                        <m:r>
                          <m:rPr>
                            <m:nor/>
                          </m:rPr>
                          <a:rPr lang="en-US" sz="2400">
                            <a:effectLst/>
                            <a:latin typeface="+mj-lt"/>
                          </a:rPr>
                          <m:t>electric</m:t>
                        </m:r>
                      </m:sub>
                    </m:sSub>
                    <m:r>
                      <a:rPr lang="en-US" sz="2400">
                        <a:effectLst/>
                        <a:latin typeface="Cambria Math" panose="02040503050406030204" pitchFamily="18" charset="0"/>
                      </a:rPr>
                      <m:t>=(</m:t>
                    </m:r>
                    <m:r>
                      <a:rPr lang="en-US" sz="2400">
                        <a:effectLst/>
                        <a:latin typeface="Cambria Math" panose="02040503050406030204" pitchFamily="18" charset="0"/>
                      </a:rPr>
                      <m:t>𝐵</m:t>
                    </m:r>
                    <m:r>
                      <a:rPr lang="en-US" sz="2400">
                        <a:effectLst/>
                        <a:latin typeface="Cambria Math" panose="02040503050406030204" pitchFamily="18" charset="0"/>
                      </a:rPr>
                      <m:t>,</m:t>
                    </m:r>
                    <m:r>
                      <a:rPr lang="en-US" sz="2400">
                        <a:effectLst/>
                        <a:latin typeface="Cambria Math" panose="02040503050406030204" pitchFamily="18" charset="0"/>
                      </a:rPr>
                      <m:t>𝐷</m:t>
                    </m:r>
                    <m:r>
                      <a:rPr lang="en-US" sz="2400">
                        <a:effectLst/>
                        <a:latin typeface="Cambria Math" panose="02040503050406030204" pitchFamily="18" charset="0"/>
                      </a:rPr>
                      <m:t>,</m:t>
                    </m:r>
                    <m:r>
                      <a:rPr lang="en-US" sz="2400">
                        <a:effectLst/>
                        <a:latin typeface="Cambria Math" panose="02040503050406030204" pitchFamily="18" charset="0"/>
                      </a:rPr>
                      <m:t>𝐺</m:t>
                    </m:r>
                    <m:r>
                      <a:rPr lang="en-US" sz="2400">
                        <a:effectLst/>
                        <a:latin typeface="Cambria Math" panose="02040503050406030204" pitchFamily="18" charset="0"/>
                      </a:rPr>
                      <m:t>,</m:t>
                    </m:r>
                    <m:r>
                      <a:rPr lang="en-US" sz="2400">
                        <a:effectLst/>
                        <a:latin typeface="Cambria Math" panose="02040503050406030204" pitchFamily="18" charset="0"/>
                      </a:rPr>
                      <m:t>𝐿</m:t>
                    </m:r>
                    <m:r>
                      <a:rPr lang="en-US" sz="2400">
                        <a:effectLst/>
                        <a:latin typeface="Cambria Math" panose="02040503050406030204" pitchFamily="18" charset="0"/>
                      </a:rPr>
                      <m:t>),</m:t>
                    </m:r>
                  </m:oMath>
                </a14:m>
                <a:r>
                  <a:rPr lang="en-US" sz="2400" dirty="0">
                    <a:effectLst/>
                    <a:latin typeface="+mj-lt"/>
                  </a:rPr>
                  <a:t> with buses </a:t>
                </a:r>
                <a14:m>
                  <m:oMath xmlns:m="http://schemas.openxmlformats.org/officeDocument/2006/math">
                    <m:r>
                      <a:rPr lang="en-US" sz="2400">
                        <a:effectLst/>
                        <a:latin typeface="Cambria Math" panose="02040503050406030204" pitchFamily="18" charset="0"/>
                      </a:rPr>
                      <m:t>𝐵</m:t>
                    </m:r>
                  </m:oMath>
                </a14:m>
                <a:r>
                  <a:rPr lang="en-US" sz="2400" dirty="0">
                    <a:effectLst/>
                    <a:latin typeface="+mj-lt"/>
                  </a:rPr>
                  <a:t>, power lines </a:t>
                </a:r>
                <a14:m>
                  <m:oMath xmlns:m="http://schemas.openxmlformats.org/officeDocument/2006/math">
                    <m:r>
                      <a:rPr lang="en-US" sz="2400">
                        <a:effectLst/>
                        <a:latin typeface="Cambria Math" panose="02040503050406030204" pitchFamily="18" charset="0"/>
                      </a:rPr>
                      <m:t>𝐷</m:t>
                    </m:r>
                  </m:oMath>
                </a14:m>
                <a:r>
                  <a:rPr lang="en-US" sz="2400" dirty="0">
                    <a:effectLst/>
                    <a:latin typeface="+mj-lt"/>
                  </a:rPr>
                  <a:t>, generators </a:t>
                </a:r>
                <a14:m>
                  <m:oMath xmlns:m="http://schemas.openxmlformats.org/officeDocument/2006/math">
                    <m:r>
                      <a:rPr lang="en-US" sz="2400">
                        <a:effectLst/>
                        <a:latin typeface="Cambria Math" panose="02040503050406030204" pitchFamily="18" charset="0"/>
                      </a:rPr>
                      <m:t>𝐺</m:t>
                    </m:r>
                  </m:oMath>
                </a14:m>
                <a:r>
                  <a:rPr lang="en-US" sz="2400" dirty="0">
                    <a:effectLst/>
                    <a:latin typeface="+mj-lt"/>
                  </a:rPr>
                  <a:t>, and loads </a:t>
                </a:r>
                <a14:m>
                  <m:oMath xmlns:m="http://schemas.openxmlformats.org/officeDocument/2006/math">
                    <m:r>
                      <a:rPr lang="en-US" sz="2400">
                        <a:effectLst/>
                        <a:latin typeface="Cambria Math" panose="02040503050406030204" pitchFamily="18" charset="0"/>
                      </a:rPr>
                      <m:t>𝐿</m:t>
                    </m:r>
                  </m:oMath>
                </a14:m>
                <a:r>
                  <a:rPr lang="en-US" sz="2400" dirty="0">
                    <a:effectLst/>
                    <a:latin typeface="+mj-lt"/>
                  </a:rPr>
                  <a:t>. Each bus becomes a vertex in the corresponding graph </a:t>
                </a:r>
                <a14:m>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𝑁</m:t>
                        </m:r>
                      </m:e>
                      <m:sub>
                        <m:r>
                          <a:rPr lang="en-US" sz="2400">
                            <a:effectLst/>
                            <a:latin typeface="Cambria Math" panose="02040503050406030204" pitchFamily="18" charset="0"/>
                          </a:rPr>
                          <m:t>𝑠𝑡</m:t>
                        </m:r>
                      </m:sub>
                    </m:sSub>
                    <m:r>
                      <a:rPr lang="en-US" sz="2400">
                        <a:effectLst/>
                        <a:latin typeface="Cambria Math" panose="02040503050406030204" pitchFamily="18" charset="0"/>
                      </a:rPr>
                      <m:t>=</m:t>
                    </m:r>
                    <m:r>
                      <a:rPr lang="en-US" sz="2400">
                        <a:effectLst/>
                        <a:latin typeface="Cambria Math" panose="02040503050406030204" pitchFamily="18" charset="0"/>
                      </a:rPr>
                      <m:t>𝐺</m:t>
                    </m:r>
                    <m:r>
                      <a:rPr lang="en-US" sz="2400">
                        <a:effectLst/>
                        <a:latin typeface="Cambria Math" panose="02040503050406030204" pitchFamily="18" charset="0"/>
                      </a:rPr>
                      <m:t>(</m:t>
                    </m:r>
                    <m:r>
                      <a:rPr lang="en-US" sz="2400">
                        <a:effectLst/>
                        <a:latin typeface="Cambria Math" panose="02040503050406030204" pitchFamily="18" charset="0"/>
                      </a:rPr>
                      <m:t>𝑉</m:t>
                    </m:r>
                    <m:r>
                      <a:rPr lang="en-US" sz="2400">
                        <a:effectLst/>
                        <a:latin typeface="Cambria Math" panose="02040503050406030204" pitchFamily="18" charset="0"/>
                      </a:rPr>
                      <m:t>,</m:t>
                    </m:r>
                    <m:r>
                      <a:rPr lang="en-US" sz="2400">
                        <a:effectLst/>
                        <a:latin typeface="Cambria Math" panose="02040503050406030204" pitchFamily="18" charset="0"/>
                      </a:rPr>
                      <m:t>𝐸</m:t>
                    </m:r>
                    <m:r>
                      <a:rPr lang="en-US" sz="2400">
                        <a:effectLst/>
                        <a:latin typeface="Cambria Math" panose="02040503050406030204" pitchFamily="18" charset="0"/>
                      </a:rPr>
                      <m:t>)</m:t>
                    </m:r>
                  </m:oMath>
                </a14:m>
                <a:r>
                  <a:rPr lang="en-US" sz="2400" dirty="0">
                    <a:effectLst/>
                    <a:latin typeface="+mj-lt"/>
                  </a:rPr>
                  <a:t>, and each power line becomes an edge </a:t>
                </a:r>
                <a14:m>
                  <m:oMath xmlns:m="http://schemas.openxmlformats.org/officeDocument/2006/math">
                    <m:d>
                      <m:dPr>
                        <m:sepChr m:val=","/>
                        <m:ctrlPr>
                          <a:rPr lang="en-US" sz="2400" i="1">
                            <a:effectLst/>
                            <a:latin typeface="Cambria Math" panose="02040503050406030204" pitchFamily="18" charset="0"/>
                          </a:rPr>
                        </m:ctrlPr>
                      </m:dPr>
                      <m:e>
                        <m:r>
                          <a:rPr lang="en-US" sz="2400">
                            <a:effectLst/>
                            <a:latin typeface="Cambria Math" panose="02040503050406030204" pitchFamily="18" charset="0"/>
                          </a:rPr>
                          <m:t>𝑗</m:t>
                        </m:r>
                      </m:e>
                      <m:e>
                        <m:r>
                          <a:rPr lang="en-US" sz="2400">
                            <a:effectLst/>
                            <a:latin typeface="Cambria Math" panose="02040503050406030204" pitchFamily="18" charset="0"/>
                          </a:rPr>
                          <m:t>𝑘</m:t>
                        </m:r>
                      </m:e>
                    </m:d>
                  </m:oMath>
                </a14:m>
                <a:r>
                  <a:rPr lang="en-US" sz="2400" dirty="0">
                    <a:effectLst/>
                    <a:latin typeface="+mj-lt"/>
                  </a:rPr>
                  <a:t>. The source </a:t>
                </a:r>
                <a14:m>
                  <m:oMath xmlns:m="http://schemas.openxmlformats.org/officeDocument/2006/math">
                    <m:r>
                      <a:rPr lang="en-US" sz="2400">
                        <a:effectLst/>
                        <a:latin typeface="Cambria Math" panose="02040503050406030204" pitchFamily="18" charset="0"/>
                      </a:rPr>
                      <m:t>𝑠</m:t>
                    </m:r>
                    <m:r>
                      <a:rPr lang="en-US" sz="2400">
                        <a:effectLst/>
                        <a:latin typeface="Cambria Math" panose="02040503050406030204" pitchFamily="18" charset="0"/>
                      </a:rPr>
                      <m:t> </m:t>
                    </m:r>
                  </m:oMath>
                </a14:m>
                <a:r>
                  <a:rPr lang="en-US" sz="2400" dirty="0">
                    <a:effectLst/>
                    <a:latin typeface="+mj-lt"/>
                  </a:rPr>
                  <a:t>supplies total demand plus losses, so the sum of flows on edges from </a:t>
                </a:r>
                <a14:m>
                  <m:oMath xmlns:m="http://schemas.openxmlformats.org/officeDocument/2006/math">
                    <m:r>
                      <a:rPr lang="en-US" sz="2400">
                        <a:effectLst/>
                        <a:latin typeface="Cambria Math" panose="02040503050406030204" pitchFamily="18" charset="0"/>
                      </a:rPr>
                      <m:t>𝑠</m:t>
                    </m:r>
                    <m:r>
                      <a:rPr lang="en-US" sz="2400">
                        <a:effectLst/>
                        <a:latin typeface="Cambria Math" panose="02040503050406030204" pitchFamily="18" charset="0"/>
                      </a:rPr>
                      <m:t> </m:t>
                    </m:r>
                  </m:oMath>
                </a14:m>
                <a:r>
                  <a:rPr lang="en-US" sz="2400" dirty="0">
                    <a:effectLst/>
                    <a:latin typeface="+mj-lt"/>
                  </a:rPr>
                  <a:t>equals total generated power. The sink </a:t>
                </a:r>
                <a14:m>
                  <m:oMath xmlns:m="http://schemas.openxmlformats.org/officeDocument/2006/math">
                    <m:r>
                      <a:rPr lang="en-US" sz="2400">
                        <a:effectLst/>
                        <a:latin typeface="Cambria Math" panose="02040503050406030204" pitchFamily="18" charset="0"/>
                      </a:rPr>
                      <m:t>𝑡</m:t>
                    </m:r>
                    <m:r>
                      <a:rPr lang="en-US" sz="2400">
                        <a:effectLst/>
                        <a:latin typeface="Cambria Math" panose="02040503050406030204" pitchFamily="18" charset="0"/>
                      </a:rPr>
                      <m:t> </m:t>
                    </m:r>
                  </m:oMath>
                </a14:m>
                <a:r>
                  <a:rPr lang="en-US" sz="2400" dirty="0">
                    <a:effectLst/>
                    <a:latin typeface="+mj-lt"/>
                  </a:rPr>
                  <a:t>collects all load demand, with each edge </a:t>
                </a:r>
                <a14:m>
                  <m:oMath xmlns:m="http://schemas.openxmlformats.org/officeDocument/2006/math">
                    <m:d>
                      <m:dPr>
                        <m:sepChr m:val=","/>
                        <m:ctrlPr>
                          <a:rPr lang="en-US" sz="2400" i="1">
                            <a:effectLst/>
                            <a:latin typeface="Cambria Math" panose="02040503050406030204" pitchFamily="18" charset="0"/>
                          </a:rPr>
                        </m:ctrlPr>
                      </m:dPr>
                      <m:e>
                        <m:r>
                          <a:rPr lang="en-US" sz="2400">
                            <a:effectLst/>
                            <a:latin typeface="Cambria Math" panose="02040503050406030204" pitchFamily="18" charset="0"/>
                          </a:rPr>
                          <m:t>𝑗</m:t>
                        </m:r>
                      </m:e>
                      <m:e>
                        <m:r>
                          <a:rPr lang="en-US" sz="2400">
                            <a:effectLst/>
                            <a:latin typeface="Cambria Math" panose="02040503050406030204" pitchFamily="18" charset="0"/>
                          </a:rPr>
                          <m:t>𝑡</m:t>
                        </m:r>
                      </m:e>
                    </m:d>
                    <m:r>
                      <a:rPr lang="en-US" sz="2400">
                        <a:effectLst/>
                        <a:latin typeface="Cambria Math" panose="02040503050406030204" pitchFamily="18" charset="0"/>
                      </a:rPr>
                      <m:t> </m:t>
                    </m:r>
                  </m:oMath>
                </a14:m>
                <a:r>
                  <a:rPr lang="en-US" sz="2400" dirty="0">
                    <a:effectLst/>
                    <a:latin typeface="+mj-lt"/>
                  </a:rPr>
                  <a:t>representing the load at bus </a:t>
                </a:r>
                <a14:m>
                  <m:oMath xmlns:m="http://schemas.openxmlformats.org/officeDocument/2006/math">
                    <m:r>
                      <a:rPr lang="en-US" sz="2400">
                        <a:effectLst/>
                        <a:latin typeface="Cambria Math" panose="02040503050406030204" pitchFamily="18" charset="0"/>
                      </a:rPr>
                      <m:t>𝑗</m:t>
                    </m:r>
                  </m:oMath>
                </a14:m>
                <a:r>
                  <a:rPr lang="en-US" sz="2400" dirty="0">
                    <a:effectLst/>
                    <a:latin typeface="+mj-lt"/>
                  </a:rPr>
                  <a:t>. Edges incident to </a:t>
                </a:r>
                <a14:m>
                  <m:oMath xmlns:m="http://schemas.openxmlformats.org/officeDocument/2006/math">
                    <m:r>
                      <a:rPr lang="en-US" sz="2400">
                        <a:effectLst/>
                        <a:latin typeface="Cambria Math" panose="02040503050406030204" pitchFamily="18" charset="0"/>
                      </a:rPr>
                      <m:t>𝑠</m:t>
                    </m:r>
                    <m:r>
                      <a:rPr lang="en-US" sz="2400">
                        <a:effectLst/>
                        <a:latin typeface="Cambria Math" panose="02040503050406030204" pitchFamily="18" charset="0"/>
                      </a:rPr>
                      <m:t> </m:t>
                    </m:r>
                  </m:oMath>
                </a14:m>
                <a:r>
                  <a:rPr lang="en-US" sz="2400" dirty="0">
                    <a:effectLst/>
                    <a:latin typeface="+mj-lt"/>
                  </a:rPr>
                  <a:t>and </a:t>
                </a:r>
                <a14:m>
                  <m:oMath xmlns:m="http://schemas.openxmlformats.org/officeDocument/2006/math">
                    <m:r>
                      <a:rPr lang="en-US" sz="2400">
                        <a:effectLst/>
                        <a:latin typeface="Cambria Math" panose="02040503050406030204" pitchFamily="18" charset="0"/>
                      </a:rPr>
                      <m:t>𝑡</m:t>
                    </m:r>
                    <m:r>
                      <a:rPr lang="en-US" sz="2400">
                        <a:effectLst/>
                        <a:latin typeface="Cambria Math" panose="02040503050406030204" pitchFamily="18" charset="0"/>
                      </a:rPr>
                      <m:t> </m:t>
                    </m:r>
                  </m:oMath>
                </a14:m>
                <a:r>
                  <a:rPr lang="en-US" sz="2400" dirty="0">
                    <a:effectLst/>
                    <a:latin typeface="+mj-lt"/>
                  </a:rPr>
                  <a:t>have no electrical characteristics and do not affect internal power flows. Figures 3-5 show a 4‑bus system, its graph representation, and the resulting </a:t>
                </a:r>
                <a14:m>
                  <m:oMath xmlns:m="http://schemas.openxmlformats.org/officeDocument/2006/math">
                    <m:r>
                      <a:rPr lang="en-US" sz="2400">
                        <a:effectLst/>
                        <a:latin typeface="Cambria Math" panose="02040503050406030204" pitchFamily="18" charset="0"/>
                      </a:rPr>
                      <m:t>𝑠</m:t>
                    </m:r>
                    <m:r>
                      <a:rPr lang="en-US" sz="2400">
                        <a:effectLst/>
                        <a:latin typeface="Cambria Math" panose="02040503050406030204" pitchFamily="18" charset="0"/>
                      </a:rPr>
                      <m:t>_</m:t>
                    </m:r>
                    <m:r>
                      <a:rPr lang="en-US" sz="2400">
                        <a:effectLst/>
                        <a:latin typeface="Cambria Math" panose="02040503050406030204" pitchFamily="18" charset="0"/>
                      </a:rPr>
                      <m:t>𝑡</m:t>
                    </m:r>
                    <m:r>
                      <a:rPr lang="en-US" sz="2400">
                        <a:effectLst/>
                        <a:latin typeface="Cambria Math" panose="02040503050406030204" pitchFamily="18" charset="0"/>
                      </a:rPr>
                      <m:t> </m:t>
                    </m:r>
                  </m:oMath>
                </a14:m>
                <a:r>
                  <a:rPr lang="en-US" sz="2400" dirty="0">
                    <a:effectLst/>
                    <a:latin typeface="+mj-lt"/>
                  </a:rPr>
                  <a:t>transformation. [2]</a:t>
                </a:r>
              </a:p>
              <a:p>
                <a:pPr algn="just"/>
                <a:endParaRPr lang="en-US" sz="2400" b="1" dirty="0">
                  <a:effectLst/>
                  <a:latin typeface="+mj-lt"/>
                </a:endParaRPr>
              </a:p>
              <a:p>
                <a:pPr algn="just"/>
                <a:endParaRPr lang="en-US" sz="2400" b="1" dirty="0">
                  <a:effectLst/>
                  <a:latin typeface="+mj-lt"/>
                </a:endParaRPr>
              </a:p>
              <a:p>
                <a:pPr algn="just"/>
                <a:endParaRPr lang="en-US" sz="2400" b="1" dirty="0">
                  <a:effectLst/>
                  <a:latin typeface="+mj-lt"/>
                </a:endParaRPr>
              </a:p>
              <a:p>
                <a:pPr algn="just"/>
                <a:endParaRPr lang="en-US" sz="2400" b="1" dirty="0">
                  <a:effectLst/>
                  <a:latin typeface="+mj-lt"/>
                </a:endParaRPr>
              </a:p>
              <a:p>
                <a:pPr algn="just"/>
                <a:endParaRPr lang="en-US" sz="2400" b="1" dirty="0">
                  <a:effectLst/>
                  <a:latin typeface="+mj-lt"/>
                </a:endParaRPr>
              </a:p>
              <a:p>
                <a:pPr algn="just"/>
                <a:endParaRPr lang="en-US" sz="2400" b="1" dirty="0">
                  <a:effectLst/>
                  <a:latin typeface="+mj-lt"/>
                </a:endParaRPr>
              </a:p>
              <a:p>
                <a:r>
                  <a:rPr lang="en-US" b="1" dirty="0">
                    <a:effectLst/>
                    <a:latin typeface="+mj-lt"/>
                  </a:rPr>
                  <a:t>a. Maximum Flow Mathematical Model. </a:t>
                </a:r>
              </a:p>
              <a:p>
                <a:r>
                  <a:rPr lang="en-US" dirty="0">
                    <a:effectLst/>
                    <a:latin typeface="+mj-lt"/>
                  </a:rPr>
                  <a:t>For an electric network </a:t>
                </a:r>
                <a14:m>
                  <m:oMath xmlns:m="http://schemas.openxmlformats.org/officeDocument/2006/math">
                    <m:sSubSup>
                      <m:sSubSupPr>
                        <m:ctrlPr>
                          <a:rPr lang="en-US" i="1">
                            <a:effectLst/>
                            <a:latin typeface="Cambria Math" panose="02040503050406030204" pitchFamily="18" charset="0"/>
                          </a:rPr>
                        </m:ctrlPr>
                      </m:sSubSupPr>
                      <m:e>
                        <m:r>
                          <a:rPr lang="en-US">
                            <a:effectLst/>
                            <a:latin typeface="Cambria Math" panose="02040503050406030204" pitchFamily="18" charset="0"/>
                          </a:rPr>
                          <m:t>𝑁</m:t>
                        </m:r>
                      </m:e>
                      <m:sub>
                        <m:r>
                          <m:rPr>
                            <m:nor/>
                          </m:rPr>
                          <a:rPr lang="en-US">
                            <a:effectLst/>
                            <a:latin typeface="+mj-lt"/>
                          </a:rPr>
                          <m:t>electric</m:t>
                        </m:r>
                      </m:sub>
                      <m:sup>
                        <m:r>
                          <a:rPr lang="en-US">
                            <a:effectLst/>
                            <a:latin typeface="Cambria Math" panose="02040503050406030204" pitchFamily="18" charset="0"/>
                          </a:rPr>
                          <m:t>𝑠𝑡</m:t>
                        </m:r>
                      </m:sup>
                    </m:sSubSup>
                    <m:r>
                      <a:rPr lang="en-US">
                        <a:effectLst/>
                        <a:latin typeface="Cambria Math" panose="02040503050406030204" pitchFamily="18" charset="0"/>
                      </a:rPr>
                      <m:t>=</m:t>
                    </m:r>
                    <m:d>
                      <m:dPr>
                        <m:ctrlPr>
                          <a:rPr lang="en-US" i="1">
                            <a:effectLst/>
                            <a:latin typeface="Cambria Math" panose="02040503050406030204" pitchFamily="18" charset="0"/>
                          </a:rPr>
                        </m:ctrlPr>
                      </m:dPr>
                      <m:e>
                        <m:r>
                          <a:rPr lang="en-US">
                            <a:effectLst/>
                            <a:latin typeface="Cambria Math" panose="02040503050406030204" pitchFamily="18" charset="0"/>
                          </a:rPr>
                          <m:t>𝐺</m:t>
                        </m:r>
                        <m:d>
                          <m:dPr>
                            <m:ctrlPr>
                              <a:rPr lang="en-US" i="1">
                                <a:effectLst/>
                                <a:latin typeface="Cambria Math" panose="02040503050406030204" pitchFamily="18" charset="0"/>
                              </a:rPr>
                            </m:ctrlPr>
                          </m:dPr>
                          <m:e>
                            <m:r>
                              <a:rPr lang="en-US">
                                <a:effectLst/>
                                <a:latin typeface="Cambria Math" panose="02040503050406030204" pitchFamily="18" charset="0"/>
                              </a:rPr>
                              <m:t>𝑉</m:t>
                            </m:r>
                            <m:r>
                              <a:rPr lang="en-US">
                                <a:effectLst/>
                                <a:latin typeface="Cambria Math" panose="02040503050406030204" pitchFamily="18" charset="0"/>
                              </a:rPr>
                              <m:t>,</m:t>
                            </m:r>
                            <m:r>
                              <a:rPr lang="en-US">
                                <a:effectLst/>
                                <a:latin typeface="Cambria Math" panose="02040503050406030204" pitchFamily="18" charset="0"/>
                              </a:rPr>
                              <m:t>𝐸</m:t>
                            </m:r>
                          </m:e>
                        </m:d>
                        <m:r>
                          <a:rPr lang="en-US">
                            <a:effectLst/>
                            <a:latin typeface="Cambria Math" panose="02040503050406030204" pitchFamily="18" charset="0"/>
                          </a:rPr>
                          <m:t>,</m:t>
                        </m:r>
                        <m:r>
                          <a:rPr lang="en-US">
                            <a:effectLst/>
                            <a:latin typeface="Cambria Math" panose="02040503050406030204" pitchFamily="18" charset="0"/>
                          </a:rPr>
                          <m:t>𝑠</m:t>
                        </m:r>
                        <m:r>
                          <a:rPr lang="en-US">
                            <a:effectLst/>
                            <a:latin typeface="Cambria Math" panose="02040503050406030204" pitchFamily="18" charset="0"/>
                          </a:rPr>
                          <m:t>,</m:t>
                        </m:r>
                        <m:r>
                          <a:rPr lang="en-US">
                            <a:effectLst/>
                            <a:latin typeface="Cambria Math" panose="02040503050406030204" pitchFamily="18" charset="0"/>
                          </a:rPr>
                          <m:t>𝑡</m:t>
                        </m:r>
                        <m:r>
                          <a:rPr lang="en-US">
                            <a:effectLst/>
                            <a:latin typeface="Cambria Math" panose="02040503050406030204" pitchFamily="18" charset="0"/>
                          </a:rPr>
                          <m:t>,</m:t>
                        </m:r>
                        <m:r>
                          <a:rPr lang="en-US">
                            <a:effectLst/>
                            <a:latin typeface="Cambria Math" panose="02040503050406030204" pitchFamily="18" charset="0"/>
                          </a:rPr>
                          <m:t>𝐺</m:t>
                        </m:r>
                        <m:r>
                          <a:rPr lang="en-US">
                            <a:effectLst/>
                            <a:latin typeface="Cambria Math" panose="02040503050406030204" pitchFamily="18" charset="0"/>
                          </a:rPr>
                          <m:t>,</m:t>
                        </m:r>
                        <m:r>
                          <a:rPr lang="en-US">
                            <a:effectLst/>
                            <a:latin typeface="Cambria Math" panose="02040503050406030204" pitchFamily="18" charset="0"/>
                          </a:rPr>
                          <m:t>𝐿</m:t>
                        </m:r>
                      </m:e>
                    </m:d>
                    <m:r>
                      <a:rPr lang="en-US">
                        <a:effectLst/>
                        <a:latin typeface="Cambria Math" panose="02040503050406030204" pitchFamily="18" charset="0"/>
                      </a:rPr>
                      <m:t>,</m:t>
                    </m:r>
                  </m:oMath>
                </a14:m>
                <a:r>
                  <a:rPr lang="en-US" dirty="0">
                    <a:effectLst/>
                    <a:latin typeface="+mj-lt"/>
                  </a:rPr>
                  <a:t>with vertices </a:t>
                </a:r>
                <a14:m>
                  <m:oMath xmlns:m="http://schemas.openxmlformats.org/officeDocument/2006/math">
                    <m:r>
                      <a:rPr lang="en-US">
                        <a:effectLst/>
                        <a:latin typeface="Cambria Math" panose="02040503050406030204" pitchFamily="18" charset="0"/>
                      </a:rPr>
                      <m:t>𝑉</m:t>
                    </m:r>
                  </m:oMath>
                </a14:m>
                <a:r>
                  <a:rPr lang="en-US" dirty="0">
                    <a:effectLst/>
                    <a:latin typeface="+mj-lt"/>
                  </a:rPr>
                  <a:t>, edges </a:t>
                </a:r>
                <a14:m>
                  <m:oMath xmlns:m="http://schemas.openxmlformats.org/officeDocument/2006/math">
                    <m:r>
                      <a:rPr lang="en-US">
                        <a:effectLst/>
                        <a:latin typeface="Cambria Math" panose="02040503050406030204" pitchFamily="18" charset="0"/>
                      </a:rPr>
                      <m:t>𝐸</m:t>
                    </m:r>
                  </m:oMath>
                </a14:m>
                <a:r>
                  <a:rPr lang="en-US" dirty="0">
                    <a:effectLst/>
                    <a:latin typeface="+mj-lt"/>
                  </a:rPr>
                  <a:t>, source </a:t>
                </a:r>
                <a14:m>
                  <m:oMath xmlns:m="http://schemas.openxmlformats.org/officeDocument/2006/math">
                    <m:r>
                      <a:rPr lang="en-US">
                        <a:effectLst/>
                        <a:latin typeface="Cambria Math" panose="02040503050406030204" pitchFamily="18" charset="0"/>
                      </a:rPr>
                      <m:t>𝑠</m:t>
                    </m:r>
                  </m:oMath>
                </a14:m>
                <a:r>
                  <a:rPr lang="en-US" dirty="0">
                    <a:effectLst/>
                    <a:latin typeface="+mj-lt"/>
                  </a:rPr>
                  <a:t>, sink </a:t>
                </a:r>
                <a14:m>
                  <m:oMath xmlns:m="http://schemas.openxmlformats.org/officeDocument/2006/math">
                    <m:r>
                      <a:rPr lang="en-US">
                        <a:effectLst/>
                        <a:latin typeface="Cambria Math" panose="02040503050406030204" pitchFamily="18" charset="0"/>
                      </a:rPr>
                      <m:t>𝑡</m:t>
                    </m:r>
                  </m:oMath>
                </a14:m>
                <a:r>
                  <a:rPr lang="en-US" dirty="0">
                    <a:effectLst/>
                    <a:latin typeface="+mj-lt"/>
                  </a:rPr>
                  <a:t>, generator set </a:t>
                </a:r>
                <a14:m>
                  <m:oMath xmlns:m="http://schemas.openxmlformats.org/officeDocument/2006/math">
                    <m:r>
                      <a:rPr lang="en-US">
                        <a:effectLst/>
                        <a:latin typeface="Cambria Math" panose="02040503050406030204" pitchFamily="18" charset="0"/>
                      </a:rPr>
                      <m:t>𝐺</m:t>
                    </m:r>
                  </m:oMath>
                </a14:m>
                <a:r>
                  <a:rPr lang="en-US" dirty="0">
                    <a:effectLst/>
                    <a:latin typeface="+mj-lt"/>
                  </a:rPr>
                  <a:t>, and load set </a:t>
                </a:r>
                <a14:m>
                  <m:oMath xmlns:m="http://schemas.openxmlformats.org/officeDocument/2006/math">
                    <m:r>
                      <a:rPr lang="en-US">
                        <a:effectLst/>
                        <a:latin typeface="Cambria Math" panose="02040503050406030204" pitchFamily="18" charset="0"/>
                      </a:rPr>
                      <m:t>𝐿</m:t>
                    </m:r>
                  </m:oMath>
                </a14:m>
                <a:r>
                  <a:rPr lang="en-US" dirty="0">
                    <a:effectLst/>
                    <a:latin typeface="+mj-lt"/>
                  </a:rPr>
                  <a:t>, a power‑flow solution is feasible if the flow function </a:t>
                </a:r>
                <a14:m>
                  <m:oMath xmlns:m="http://schemas.openxmlformats.org/officeDocument/2006/math">
                    <m:r>
                      <a:rPr lang="en-US">
                        <a:effectLst/>
                        <a:latin typeface="Cambria Math" panose="02040503050406030204" pitchFamily="18" charset="0"/>
                      </a:rPr>
                      <m:t>𝑓</m:t>
                    </m:r>
                    <m:r>
                      <a:rPr lang="en-US">
                        <a:effectLst/>
                        <a:latin typeface="Cambria Math" panose="02040503050406030204" pitchFamily="18" charset="0"/>
                      </a:rPr>
                      <m:t>:</m:t>
                    </m:r>
                    <m:r>
                      <a:rPr lang="en-US">
                        <a:effectLst/>
                        <a:latin typeface="Cambria Math" panose="02040503050406030204" pitchFamily="18" charset="0"/>
                      </a:rPr>
                      <m:t>𝐴</m:t>
                    </m:r>
                    <m:r>
                      <a:rPr lang="en-US">
                        <a:effectLst/>
                        <a:latin typeface="Cambria Math" panose="02040503050406030204" pitchFamily="18" charset="0"/>
                      </a:rPr>
                      <m:t>→</m:t>
                    </m:r>
                    <m:r>
                      <a:rPr lang="en-US">
                        <a:effectLst/>
                        <a:latin typeface="Cambria Math" panose="02040503050406030204" pitchFamily="18" charset="0"/>
                      </a:rPr>
                      <m:t>ℂ</m:t>
                    </m:r>
                    <m:r>
                      <a:rPr lang="en-US">
                        <a:effectLst/>
                        <a:latin typeface="Cambria Math" panose="02040503050406030204" pitchFamily="18" charset="0"/>
                      </a:rPr>
                      <m:t> </m:t>
                    </m:r>
                  </m:oMath>
                </a14:m>
                <a:r>
                  <a:rPr lang="en-US" dirty="0">
                    <a:effectLst/>
                    <a:latin typeface="+mj-lt"/>
                  </a:rPr>
                  <a:t>satisfies: Flow conservation at all internal buses: </a:t>
                </a:r>
                <a14:m>
                  <m:oMath xmlns:m="http://schemas.openxmlformats.org/officeDocument/2006/math">
                    <m:nary>
                      <m:naryPr>
                        <m:chr m:val="∑"/>
                        <m:limLoc m:val="undOvr"/>
                        <m:grow m:val="on"/>
                        <m:supHide m:val="on"/>
                        <m:ctrlPr>
                          <a:rPr lang="en-US" i="1">
                            <a:effectLst/>
                            <a:latin typeface="Cambria Math" panose="02040503050406030204" pitchFamily="18" charset="0"/>
                          </a:rPr>
                        </m:ctrlPr>
                      </m:naryPr>
                      <m:sub>
                        <m:r>
                          <a:rPr lang="en-US">
                            <a:effectLst/>
                            <a:latin typeface="Cambria Math" panose="02040503050406030204" pitchFamily="18" charset="0"/>
                          </a:rPr>
                          <m:t>𝑘</m:t>
                        </m:r>
                        <m:r>
                          <a:rPr lang="en-US">
                            <a:effectLst/>
                            <a:latin typeface="Cambria Math" panose="02040503050406030204" pitchFamily="18" charset="0"/>
                          </a:rPr>
                          <m:t>:(</m:t>
                        </m:r>
                        <m:r>
                          <a:rPr lang="en-US">
                            <a:effectLst/>
                            <a:latin typeface="Cambria Math" panose="02040503050406030204" pitchFamily="18" charset="0"/>
                          </a:rPr>
                          <m:t>𝑖</m:t>
                        </m:r>
                        <m:r>
                          <a:rPr lang="en-US">
                            <a:effectLst/>
                            <a:latin typeface="Cambria Math" panose="02040503050406030204" pitchFamily="18" charset="0"/>
                          </a:rPr>
                          <m:t>,</m:t>
                        </m:r>
                        <m:r>
                          <a:rPr lang="en-US">
                            <a:effectLst/>
                            <a:latin typeface="Cambria Math" panose="02040503050406030204" pitchFamily="18" charset="0"/>
                          </a:rPr>
                          <m:t>𝑘</m:t>
                        </m:r>
                        <m:r>
                          <a:rPr lang="en-US">
                            <a:effectLst/>
                            <a:latin typeface="Cambria Math" panose="02040503050406030204" pitchFamily="18" charset="0"/>
                          </a:rPr>
                          <m:t>)∈</m:t>
                        </m:r>
                        <m:r>
                          <a:rPr lang="en-US">
                            <a:effectLst/>
                            <a:latin typeface="Cambria Math" panose="02040503050406030204" pitchFamily="18" charset="0"/>
                          </a:rPr>
                          <m:t>𝐸</m:t>
                        </m:r>
                      </m:sub>
                      <m:sup/>
                      <m:e>
                        <m:r>
                          <a:rPr lang="en-US">
                            <a:effectLst/>
                            <a:latin typeface="Cambria Math" panose="02040503050406030204" pitchFamily="18" charset="0"/>
                          </a:rPr>
                          <m:t>𝑓</m:t>
                        </m:r>
                        <m:r>
                          <a:rPr lang="en-US">
                            <a:effectLst/>
                            <a:latin typeface="Cambria Math" panose="02040503050406030204" pitchFamily="18" charset="0"/>
                          </a:rPr>
                          <m:t>(</m:t>
                        </m:r>
                        <m:r>
                          <a:rPr lang="en-US">
                            <a:effectLst/>
                            <a:latin typeface="Cambria Math" panose="02040503050406030204" pitchFamily="18" charset="0"/>
                          </a:rPr>
                          <m:t>𝑖</m:t>
                        </m:r>
                        <m:r>
                          <a:rPr lang="en-US">
                            <a:effectLst/>
                            <a:latin typeface="Cambria Math" panose="02040503050406030204" pitchFamily="18" charset="0"/>
                          </a:rPr>
                          <m:t>,</m:t>
                        </m:r>
                        <m:r>
                          <a:rPr lang="en-US">
                            <a:effectLst/>
                            <a:latin typeface="Cambria Math" panose="02040503050406030204" pitchFamily="18" charset="0"/>
                          </a:rPr>
                          <m:t>𝑘</m:t>
                        </m:r>
                        <m:r>
                          <a:rPr lang="en-US">
                            <a:effectLst/>
                            <a:latin typeface="Cambria Math" panose="02040503050406030204" pitchFamily="18" charset="0"/>
                          </a:rPr>
                          <m:t>)=</m:t>
                        </m:r>
                        <m:r>
                          <a:rPr lang="en-US">
                            <a:effectLst/>
                            <a:latin typeface="Cambria Math" panose="02040503050406030204" pitchFamily="18" charset="0"/>
                          </a:rPr>
                          <m:t>0</m:t>
                        </m:r>
                        <m:r>
                          <a:rPr lang="en-US">
                            <a:effectLst/>
                            <a:latin typeface="Cambria Math" panose="02040503050406030204" pitchFamily="18" charset="0"/>
                          </a:rPr>
                          <m:t>,</m:t>
                        </m:r>
                      </m:e>
                    </m:nary>
                    <m:r>
                      <a:rPr lang="en-US">
                        <a:effectLst/>
                        <a:latin typeface="Cambria Math" panose="02040503050406030204" pitchFamily="18" charset="0"/>
                      </a:rPr>
                      <m:t>∀</m:t>
                    </m:r>
                    <m:r>
                      <a:rPr lang="en-US">
                        <a:effectLst/>
                        <a:latin typeface="Cambria Math" panose="02040503050406030204" pitchFamily="18" charset="0"/>
                      </a:rPr>
                      <m:t>𝑖</m:t>
                    </m:r>
                    <m:r>
                      <a:rPr lang="en-US">
                        <a:effectLst/>
                        <a:latin typeface="Cambria Math" panose="02040503050406030204" pitchFamily="18" charset="0"/>
                      </a:rPr>
                      <m:t>∈</m:t>
                    </m:r>
                    <m:r>
                      <a:rPr lang="en-US">
                        <a:effectLst/>
                        <a:latin typeface="Cambria Math" panose="02040503050406030204" pitchFamily="18" charset="0"/>
                      </a:rPr>
                      <m:t>𝑉</m:t>
                    </m:r>
                    <m:r>
                      <a:rPr lang="en-US">
                        <a:effectLst/>
                        <a:latin typeface="Cambria Math" panose="02040503050406030204" pitchFamily="18" charset="0"/>
                      </a:rPr>
                      <m:t>∖{</m:t>
                    </m:r>
                    <m:r>
                      <a:rPr lang="en-US">
                        <a:effectLst/>
                        <a:latin typeface="Cambria Math" panose="02040503050406030204" pitchFamily="18" charset="0"/>
                      </a:rPr>
                      <m:t>𝑠</m:t>
                    </m:r>
                    <m:r>
                      <a:rPr lang="en-US">
                        <a:effectLst/>
                        <a:latin typeface="Cambria Math" panose="02040503050406030204" pitchFamily="18" charset="0"/>
                      </a:rPr>
                      <m:t>,</m:t>
                    </m:r>
                    <m:r>
                      <a:rPr lang="en-US">
                        <a:effectLst/>
                        <a:latin typeface="Cambria Math" panose="02040503050406030204" pitchFamily="18" charset="0"/>
                      </a:rPr>
                      <m:t>𝑡</m:t>
                    </m:r>
                    <m:r>
                      <a:rPr lang="en-US">
                        <a:effectLst/>
                        <a:latin typeface="Cambria Math" panose="02040503050406030204" pitchFamily="18" charset="0"/>
                      </a:rPr>
                      <m:t>}.</m:t>
                    </m:r>
                  </m:oMath>
                </a14:m>
                <a:r>
                  <a:rPr lang="en-US" dirty="0">
                    <a:effectLst/>
                    <a:latin typeface="+mj-lt"/>
                  </a:rPr>
                  <a:t> Source supplies total generation: </a:t>
                </a:r>
                <a14:m>
                  <m:oMath xmlns:m="http://schemas.openxmlformats.org/officeDocument/2006/math">
                    <m:nary>
                      <m:naryPr>
                        <m:chr m:val="∑"/>
                        <m:limLoc m:val="undOvr"/>
                        <m:grow m:val="on"/>
                        <m:supHide m:val="on"/>
                        <m:ctrlPr>
                          <a:rPr lang="en-US" i="1">
                            <a:effectLst/>
                            <a:latin typeface="Cambria Math" panose="02040503050406030204" pitchFamily="18" charset="0"/>
                          </a:rPr>
                        </m:ctrlPr>
                      </m:naryPr>
                      <m:sub>
                        <m:r>
                          <a:rPr lang="en-US">
                            <a:effectLst/>
                            <a:latin typeface="Cambria Math" panose="02040503050406030204" pitchFamily="18" charset="0"/>
                          </a:rPr>
                          <m:t>𝑗</m:t>
                        </m:r>
                        <m:r>
                          <a:rPr lang="en-US">
                            <a:effectLst/>
                            <a:latin typeface="Cambria Math" panose="02040503050406030204" pitchFamily="18" charset="0"/>
                          </a:rPr>
                          <m:t>:(</m:t>
                        </m:r>
                        <m:r>
                          <a:rPr lang="en-US">
                            <a:effectLst/>
                            <a:latin typeface="Cambria Math" panose="02040503050406030204" pitchFamily="18" charset="0"/>
                          </a:rPr>
                          <m:t>𝑠</m:t>
                        </m:r>
                        <m:r>
                          <a:rPr lang="en-US">
                            <a:effectLst/>
                            <a:latin typeface="Cambria Math" panose="02040503050406030204" pitchFamily="18" charset="0"/>
                          </a:rPr>
                          <m:t>,</m:t>
                        </m:r>
                        <m:r>
                          <a:rPr lang="en-US">
                            <a:effectLst/>
                            <a:latin typeface="Cambria Math" panose="02040503050406030204" pitchFamily="18" charset="0"/>
                          </a:rPr>
                          <m:t>𝑗</m:t>
                        </m:r>
                        <m:r>
                          <a:rPr lang="en-US">
                            <a:effectLst/>
                            <a:latin typeface="Cambria Math" panose="02040503050406030204" pitchFamily="18" charset="0"/>
                          </a:rPr>
                          <m:t>)∈</m:t>
                        </m:r>
                        <m:r>
                          <a:rPr lang="en-US">
                            <a:effectLst/>
                            <a:latin typeface="Cambria Math" panose="02040503050406030204" pitchFamily="18" charset="0"/>
                          </a:rPr>
                          <m:t>𝐸</m:t>
                        </m:r>
                      </m:sub>
                      <m:sup/>
                      <m:e>
                        <m:r>
                          <a:rPr lang="en-US">
                            <a:effectLst/>
                            <a:latin typeface="Cambria Math" panose="02040503050406030204" pitchFamily="18" charset="0"/>
                          </a:rPr>
                          <m:t>𝑓</m:t>
                        </m:r>
                        <m:r>
                          <a:rPr lang="en-US">
                            <a:effectLst/>
                            <a:latin typeface="Cambria Math" panose="02040503050406030204" pitchFamily="18" charset="0"/>
                          </a:rPr>
                          <m:t>(</m:t>
                        </m:r>
                        <m:r>
                          <a:rPr lang="en-US">
                            <a:effectLst/>
                            <a:latin typeface="Cambria Math" panose="02040503050406030204" pitchFamily="18" charset="0"/>
                          </a:rPr>
                          <m:t>𝑠</m:t>
                        </m:r>
                        <m:r>
                          <a:rPr lang="en-US">
                            <a:effectLst/>
                            <a:latin typeface="Cambria Math" panose="02040503050406030204" pitchFamily="18" charset="0"/>
                          </a:rPr>
                          <m:t>,</m:t>
                        </m:r>
                        <m:r>
                          <a:rPr lang="en-US">
                            <a:effectLst/>
                            <a:latin typeface="Cambria Math" panose="02040503050406030204" pitchFamily="18" charset="0"/>
                          </a:rPr>
                          <m:t>𝑗</m:t>
                        </m:r>
                        <m:r>
                          <a:rPr lang="en-US">
                            <a:effectLst/>
                            <a:latin typeface="Cambria Math" panose="02040503050406030204" pitchFamily="18" charset="0"/>
                          </a:rPr>
                          <m:t>)=</m:t>
                        </m:r>
                      </m:e>
                    </m:nary>
                    <m:nary>
                      <m:naryPr>
                        <m:chr m:val="∑"/>
                        <m:limLoc m:val="undOvr"/>
                        <m:grow m:val="on"/>
                        <m:supHide m:val="on"/>
                        <m:ctrlPr>
                          <a:rPr lang="en-US" i="1">
                            <a:effectLst/>
                            <a:latin typeface="Cambria Math" panose="02040503050406030204" pitchFamily="18" charset="0"/>
                          </a:rPr>
                        </m:ctrlPr>
                      </m:naryPr>
                      <m:sub>
                        <m:r>
                          <a:rPr lang="en-US">
                            <a:effectLst/>
                            <a:latin typeface="Cambria Math" panose="02040503050406030204" pitchFamily="18" charset="0"/>
                          </a:rPr>
                          <m:t>𝑔</m:t>
                        </m:r>
                        <m:r>
                          <a:rPr lang="en-US">
                            <a:effectLst/>
                            <a:latin typeface="Cambria Math" panose="02040503050406030204" pitchFamily="18" charset="0"/>
                          </a:rPr>
                          <m:t>∈</m:t>
                        </m:r>
                        <m:r>
                          <a:rPr lang="en-US">
                            <a:effectLst/>
                            <a:latin typeface="Cambria Math" panose="02040503050406030204" pitchFamily="18" charset="0"/>
                          </a:rPr>
                          <m:t>𝐺</m:t>
                        </m:r>
                      </m:sub>
                      <m:sup/>
                      <m:e>
                        <m:r>
                          <a:rPr lang="en-US">
                            <a:effectLst/>
                            <a:latin typeface="Cambria Math" panose="02040503050406030204" pitchFamily="18" charset="0"/>
                          </a:rPr>
                          <m:t>𝑔</m:t>
                        </m:r>
                        <m:r>
                          <a:rPr lang="en-US">
                            <a:effectLst/>
                            <a:latin typeface="Cambria Math" panose="02040503050406030204" pitchFamily="18" charset="0"/>
                          </a:rPr>
                          <m:t>.</m:t>
                        </m:r>
                      </m:e>
                    </m:nary>
                  </m:oMath>
                </a14:m>
                <a:endParaRPr lang="en-US" dirty="0">
                  <a:effectLst/>
                  <a:latin typeface="+mj-lt"/>
                </a:endParaRPr>
              </a:p>
              <a:p>
                <a:r>
                  <a:rPr lang="en-US" dirty="0">
                    <a:effectLst/>
                    <a:latin typeface="+mj-lt"/>
                  </a:rPr>
                  <a:t> Sink receives total load: </a:t>
                </a:r>
                <a14:m>
                  <m:oMath xmlns:m="http://schemas.openxmlformats.org/officeDocument/2006/math">
                    <m:nary>
                      <m:naryPr>
                        <m:chr m:val="∑"/>
                        <m:limLoc m:val="undOvr"/>
                        <m:grow m:val="on"/>
                        <m:supHide m:val="on"/>
                        <m:ctrlPr>
                          <a:rPr lang="en-US" i="1">
                            <a:effectLst/>
                            <a:latin typeface="Cambria Math" panose="02040503050406030204" pitchFamily="18" charset="0"/>
                          </a:rPr>
                        </m:ctrlPr>
                      </m:naryPr>
                      <m:sub>
                        <m:r>
                          <a:rPr lang="en-US">
                            <a:effectLst/>
                            <a:latin typeface="Cambria Math" panose="02040503050406030204" pitchFamily="18" charset="0"/>
                          </a:rPr>
                          <m:t>𝑗</m:t>
                        </m:r>
                        <m:r>
                          <a:rPr lang="en-US">
                            <a:effectLst/>
                            <a:latin typeface="Cambria Math" panose="02040503050406030204" pitchFamily="18" charset="0"/>
                          </a:rPr>
                          <m:t>:(</m:t>
                        </m:r>
                        <m:r>
                          <a:rPr lang="en-US">
                            <a:effectLst/>
                            <a:latin typeface="Cambria Math" panose="02040503050406030204" pitchFamily="18" charset="0"/>
                          </a:rPr>
                          <m:t>𝑗</m:t>
                        </m:r>
                        <m:r>
                          <a:rPr lang="en-US">
                            <a:effectLst/>
                            <a:latin typeface="Cambria Math" panose="02040503050406030204" pitchFamily="18" charset="0"/>
                          </a:rPr>
                          <m:t>,</m:t>
                        </m:r>
                        <m:r>
                          <a:rPr lang="en-US">
                            <a:effectLst/>
                            <a:latin typeface="Cambria Math" panose="02040503050406030204" pitchFamily="18" charset="0"/>
                          </a:rPr>
                          <m:t>𝑡</m:t>
                        </m:r>
                        <m:r>
                          <a:rPr lang="en-US">
                            <a:effectLst/>
                            <a:latin typeface="Cambria Math" panose="02040503050406030204" pitchFamily="18" charset="0"/>
                          </a:rPr>
                          <m:t>)∈</m:t>
                        </m:r>
                        <m:r>
                          <a:rPr lang="en-US">
                            <a:effectLst/>
                            <a:latin typeface="Cambria Math" panose="02040503050406030204" pitchFamily="18" charset="0"/>
                          </a:rPr>
                          <m:t>𝐸</m:t>
                        </m:r>
                      </m:sub>
                      <m:sup/>
                      <m:e>
                        <m:r>
                          <a:rPr lang="en-US">
                            <a:effectLst/>
                            <a:latin typeface="Cambria Math" panose="02040503050406030204" pitchFamily="18" charset="0"/>
                          </a:rPr>
                          <m:t>𝑓</m:t>
                        </m:r>
                        <m:r>
                          <a:rPr lang="en-US">
                            <a:effectLst/>
                            <a:latin typeface="Cambria Math" panose="02040503050406030204" pitchFamily="18" charset="0"/>
                          </a:rPr>
                          <m:t>(</m:t>
                        </m:r>
                        <m:r>
                          <a:rPr lang="en-US">
                            <a:effectLst/>
                            <a:latin typeface="Cambria Math" panose="02040503050406030204" pitchFamily="18" charset="0"/>
                          </a:rPr>
                          <m:t>𝑗</m:t>
                        </m:r>
                        <m:r>
                          <a:rPr lang="en-US">
                            <a:effectLst/>
                            <a:latin typeface="Cambria Math" panose="02040503050406030204" pitchFamily="18" charset="0"/>
                          </a:rPr>
                          <m:t>,</m:t>
                        </m:r>
                        <m:r>
                          <a:rPr lang="en-US">
                            <a:effectLst/>
                            <a:latin typeface="Cambria Math" panose="02040503050406030204" pitchFamily="18" charset="0"/>
                          </a:rPr>
                          <m:t>𝑡</m:t>
                        </m:r>
                        <m:r>
                          <a:rPr lang="en-US">
                            <a:effectLst/>
                            <a:latin typeface="Cambria Math" panose="02040503050406030204" pitchFamily="18" charset="0"/>
                          </a:rPr>
                          <m:t>)=</m:t>
                        </m:r>
                      </m:e>
                    </m:nary>
                    <m:nary>
                      <m:naryPr>
                        <m:chr m:val="∑"/>
                        <m:limLoc m:val="undOvr"/>
                        <m:grow m:val="on"/>
                        <m:supHide m:val="on"/>
                        <m:ctrlPr>
                          <a:rPr lang="en-US" i="1">
                            <a:effectLst/>
                            <a:latin typeface="Cambria Math" panose="02040503050406030204" pitchFamily="18" charset="0"/>
                          </a:rPr>
                        </m:ctrlPr>
                      </m:naryPr>
                      <m:sub>
                        <m:r>
                          <a:rPr lang="en-US">
                            <a:effectLst/>
                            <a:latin typeface="Cambria Math" panose="02040503050406030204" pitchFamily="18" charset="0"/>
                          </a:rPr>
                          <m:t>𝑙</m:t>
                        </m:r>
                        <m:r>
                          <a:rPr lang="en-US">
                            <a:effectLst/>
                            <a:latin typeface="Cambria Math" panose="02040503050406030204" pitchFamily="18" charset="0"/>
                          </a:rPr>
                          <m:t>∈</m:t>
                        </m:r>
                        <m:r>
                          <a:rPr lang="en-US">
                            <a:effectLst/>
                            <a:latin typeface="Cambria Math" panose="02040503050406030204" pitchFamily="18" charset="0"/>
                          </a:rPr>
                          <m:t>𝐿</m:t>
                        </m:r>
                      </m:sub>
                      <m:sup/>
                      <m:e>
                        <m:r>
                          <a:rPr lang="en-US">
                            <a:effectLst/>
                            <a:latin typeface="Cambria Math" panose="02040503050406030204" pitchFamily="18" charset="0"/>
                          </a:rPr>
                          <m:t>𝑙</m:t>
                        </m:r>
                        <m:r>
                          <a:rPr lang="en-US">
                            <a:effectLst/>
                            <a:latin typeface="Cambria Math" panose="02040503050406030204" pitchFamily="18" charset="0"/>
                          </a:rPr>
                          <m:t>.</m:t>
                        </m:r>
                      </m:e>
                    </m:nary>
                  </m:oMath>
                </a14:m>
                <a:r>
                  <a:rPr lang="en-US" dirty="0">
                    <a:effectLst/>
                    <a:latin typeface="+mj-lt"/>
                  </a:rPr>
                  <a:t>  The resulting flow must satisfy load demand and remain consistent with Kirchhoff’s laws. However, applying classical network‑flow methods to power systems introduces two challenges: ensuring voltage and current laws are preserved, and managing the large solution space that arises in traditional flow formulations.</a:t>
                </a:r>
              </a:p>
              <a:p>
                <a:pPr algn="just"/>
                <a:r>
                  <a:rPr lang="en-US" sz="2400" b="1" dirty="0">
                    <a:effectLst/>
                    <a:latin typeface="+mj-lt"/>
                  </a:rPr>
                  <a:t>3. Edmonds–Karp Algorithm:</a:t>
                </a:r>
              </a:p>
              <a:p>
                <a:pPr algn="just"/>
                <a:r>
                  <a:rPr lang="en-US" dirty="0">
                    <a:effectLst/>
                    <a:latin typeface="+mj-lt"/>
                  </a:rPr>
                  <a:t>The Edmonds–Karp algorithm is an efficient, BFS‑based implementation of the Ford–Fulkerson method for computing maximum flow. By using breadth‑first search to always select the shortest augmenting path in the residual graph, it guarantees polynomial‑time termination with complexity </a:t>
                </a:r>
                <a14:m>
                  <m:oMath xmlns:m="http://schemas.openxmlformats.org/officeDocument/2006/math">
                    <m:r>
                      <a:rPr lang="en-US">
                        <a:effectLst/>
                        <a:latin typeface="Cambria Math" panose="02040503050406030204" pitchFamily="18" charset="0"/>
                      </a:rPr>
                      <m:t>𝑂</m:t>
                    </m:r>
                    <m:d>
                      <m:dPr>
                        <m:ctrlPr>
                          <a:rPr lang="en-US" i="1">
                            <a:effectLst/>
                            <a:latin typeface="Cambria Math" panose="02040503050406030204" pitchFamily="18" charset="0"/>
                          </a:rPr>
                        </m:ctrlPr>
                      </m:dPr>
                      <m:e>
                        <m:r>
                          <a:rPr lang="en-US">
                            <a:effectLst/>
                            <a:latin typeface="Cambria Math" panose="02040503050406030204" pitchFamily="18" charset="0"/>
                          </a:rPr>
                          <m:t>𝑛</m:t>
                        </m:r>
                        <m:sSup>
                          <m:sSupPr>
                            <m:ctrlPr>
                              <a:rPr lang="en-US" i="1">
                                <a:effectLst/>
                                <a:latin typeface="Cambria Math" panose="02040503050406030204" pitchFamily="18" charset="0"/>
                              </a:rPr>
                            </m:ctrlPr>
                          </m:sSupPr>
                          <m:e>
                            <m:r>
                              <a:rPr lang="en-US">
                                <a:effectLst/>
                                <a:latin typeface="Cambria Math" panose="02040503050406030204" pitchFamily="18" charset="0"/>
                              </a:rPr>
                              <m:t>𝑚</m:t>
                            </m:r>
                          </m:e>
                          <m:sup>
                            <m:r>
                              <a:rPr lang="ar-AE">
                                <a:effectLst/>
                                <a:latin typeface="Cambria Math" panose="02040503050406030204" pitchFamily="18" charset="0"/>
                              </a:rPr>
                              <m:t>2</m:t>
                            </m:r>
                          </m:sup>
                        </m:sSup>
                      </m:e>
                    </m:d>
                  </m:oMath>
                </a14:m>
                <a:r>
                  <a:rPr lang="ar-AE" dirty="0">
                    <a:effectLst/>
                    <a:latin typeface="+mj-lt"/>
                  </a:rPr>
                  <a:t>. </a:t>
                </a:r>
                <a:r>
                  <a:rPr lang="en-US" dirty="0">
                    <a:effectLst/>
                    <a:latin typeface="+mj-lt"/>
                  </a:rPr>
                  <a:t>Unlike general Ford–Fulkerson, which may perform poorly if it chooses inefficient paths, Edmonds–Karp limits how often edges can become bottlenecks, ensuring a predictable and efficient runtime.</a:t>
                </a:r>
              </a:p>
              <a:p>
                <a:pPr algn="just"/>
                <a:r>
                  <a:rPr lang="en-US" b="1" dirty="0">
                    <a:effectLst/>
                    <a:latin typeface="+mj-lt"/>
                  </a:rPr>
                  <a:t>Example:</a:t>
                </a:r>
                <a:r>
                  <a:rPr lang="en-US" dirty="0">
                    <a:effectLst/>
                    <a:latin typeface="+mj-lt"/>
                  </a:rPr>
                  <a:t> Given a network of seven nodes, source </a:t>
                </a:r>
                <a14:m>
                  <m:oMath xmlns:m="http://schemas.openxmlformats.org/officeDocument/2006/math">
                    <m:r>
                      <a:rPr lang="en-US">
                        <a:effectLst/>
                        <a:latin typeface="Cambria Math" panose="02040503050406030204" pitchFamily="18" charset="0"/>
                      </a:rPr>
                      <m:t>𝐴</m:t>
                    </m:r>
                  </m:oMath>
                </a14:m>
                <a:r>
                  <a:rPr lang="en-US" dirty="0">
                    <a:effectLst/>
                    <a:latin typeface="+mj-lt"/>
                  </a:rPr>
                  <a:t>, sink </a:t>
                </a:r>
                <a14:m>
                  <m:oMath xmlns:m="http://schemas.openxmlformats.org/officeDocument/2006/math">
                    <m:r>
                      <a:rPr lang="en-US">
                        <a:effectLst/>
                        <a:latin typeface="Cambria Math" panose="02040503050406030204" pitchFamily="18" charset="0"/>
                      </a:rPr>
                      <m:t>𝐺</m:t>
                    </m:r>
                  </m:oMath>
                </a14:m>
                <a:r>
                  <a:rPr lang="en-US" dirty="0">
                    <a:effectLst/>
                    <a:latin typeface="+mj-lt"/>
                  </a:rPr>
                  <a:t>, and capacities as shown below in figure 6, In the pairs </a:t>
                </a:r>
                <a14:m>
                  <m:oMath xmlns:m="http://schemas.openxmlformats.org/officeDocument/2006/math">
                    <m:r>
                      <a:rPr lang="en-US">
                        <a:effectLst/>
                        <a:latin typeface="Cambria Math" panose="02040503050406030204" pitchFamily="18" charset="0"/>
                      </a:rPr>
                      <m:t>𝑓</m:t>
                    </m:r>
                    <m:r>
                      <a:rPr lang="en-US">
                        <a:effectLst/>
                        <a:latin typeface="Cambria Math" panose="02040503050406030204" pitchFamily="18" charset="0"/>
                      </a:rPr>
                      <m:t>/</m:t>
                    </m:r>
                    <m:r>
                      <a:rPr lang="en-US">
                        <a:effectLst/>
                        <a:latin typeface="Cambria Math" panose="02040503050406030204" pitchFamily="18" charset="0"/>
                      </a:rPr>
                      <m:t>𝑢</m:t>
                    </m:r>
                    <m:r>
                      <a:rPr lang="en-US">
                        <a:effectLst/>
                        <a:latin typeface="Cambria Math" panose="02040503050406030204" pitchFamily="18" charset="0"/>
                      </a:rPr>
                      <m:t> </m:t>
                    </m:r>
                  </m:oMath>
                </a14:m>
                <a:r>
                  <a:rPr lang="en-US" dirty="0">
                    <a:effectLst/>
                    <a:latin typeface="+mj-lt"/>
                  </a:rPr>
                  <a:t>written on the edges, </a:t>
                </a:r>
                <a14:m>
                  <m:oMath xmlns:m="http://schemas.openxmlformats.org/officeDocument/2006/math">
                    <m:r>
                      <a:rPr lang="en-US">
                        <a:effectLst/>
                        <a:latin typeface="Cambria Math" panose="02040503050406030204" pitchFamily="18" charset="0"/>
                      </a:rPr>
                      <m:t>𝑓</m:t>
                    </m:r>
                  </m:oMath>
                </a14:m>
                <a:r>
                  <a:rPr lang="en-US" dirty="0">
                    <a:effectLst/>
                    <a:latin typeface="+mj-lt"/>
                  </a:rPr>
                  <a:t> is the current flow, and </a:t>
                </a:r>
                <a14:m>
                  <m:oMath xmlns:m="http://schemas.openxmlformats.org/officeDocument/2006/math">
                    <m:r>
                      <a:rPr lang="en-US">
                        <a:effectLst/>
                        <a:latin typeface="Cambria Math" panose="02040503050406030204" pitchFamily="18" charset="0"/>
                      </a:rPr>
                      <m:t>𝑢</m:t>
                    </m:r>
                    <m:r>
                      <a:rPr lang="en-US">
                        <a:effectLst/>
                        <a:latin typeface="Cambria Math" panose="02040503050406030204" pitchFamily="18" charset="0"/>
                      </a:rPr>
                      <m:t> </m:t>
                    </m:r>
                  </m:oMath>
                </a14:m>
                <a:r>
                  <a:rPr lang="en-US" dirty="0">
                    <a:effectLst/>
                    <a:latin typeface="+mj-lt"/>
                  </a:rPr>
                  <a:t>is the capacity. The residual capacity from </a:t>
                </a:r>
                <a14:m>
                  <m:oMath xmlns:m="http://schemas.openxmlformats.org/officeDocument/2006/math">
                    <m:r>
                      <a:rPr lang="en-US">
                        <a:effectLst/>
                        <a:latin typeface="Cambria Math" panose="02040503050406030204" pitchFamily="18" charset="0"/>
                      </a:rPr>
                      <m:t>𝑖</m:t>
                    </m:r>
                  </m:oMath>
                </a14:m>
                <a:r>
                  <a:rPr lang="en-US" dirty="0">
                    <a:effectLst/>
                    <a:latin typeface="+mj-lt"/>
                  </a:rPr>
                  <a:t> to </a:t>
                </a:r>
                <a14:m>
                  <m:oMath xmlns:m="http://schemas.openxmlformats.org/officeDocument/2006/math">
                    <m:r>
                      <a:rPr lang="en-US">
                        <a:effectLst/>
                        <a:latin typeface="Cambria Math" panose="02040503050406030204" pitchFamily="18" charset="0"/>
                      </a:rPr>
                      <m:t>𝑗</m:t>
                    </m:r>
                    <m:r>
                      <a:rPr lang="en-US">
                        <a:effectLst/>
                        <a:latin typeface="Cambria Math" panose="02040503050406030204" pitchFamily="18" charset="0"/>
                      </a:rPr>
                      <m:t> </m:t>
                    </m:r>
                    <m:r>
                      <a:rPr lang="en-US">
                        <a:effectLst/>
                        <a:latin typeface="Cambria Math" panose="02040503050406030204" pitchFamily="18" charset="0"/>
                      </a:rPr>
                      <m:t>𝑖</m:t>
                    </m:r>
                  </m:oMath>
                </a14:m>
                <a:r>
                  <a:rPr lang="en-US" dirty="0">
                    <a:effectLst/>
                    <a:latin typeface="+mj-lt"/>
                  </a:rPr>
                  <a:t>s </a:t>
                </a:r>
                <a14:m>
                  <m:oMath xmlns:m="http://schemas.openxmlformats.org/officeDocument/2006/math">
                    <m:sSub>
                      <m:sSubPr>
                        <m:ctrlPr>
                          <a:rPr lang="en-US" i="1">
                            <a:effectLst/>
                            <a:latin typeface="Cambria Math" panose="02040503050406030204" pitchFamily="18" charset="0"/>
                          </a:rPr>
                        </m:ctrlPr>
                      </m:sSubPr>
                      <m:e>
                        <m:r>
                          <a:rPr lang="en-US">
                            <a:effectLst/>
                            <a:latin typeface="Cambria Math" panose="02040503050406030204" pitchFamily="18" charset="0"/>
                          </a:rPr>
                          <m:t>𝑢</m:t>
                        </m:r>
                      </m:e>
                      <m:sub>
                        <m:r>
                          <a:rPr lang="en-US">
                            <a:effectLst/>
                            <a:latin typeface="Cambria Math" panose="02040503050406030204" pitchFamily="18" charset="0"/>
                          </a:rPr>
                          <m:t>𝑓</m:t>
                        </m:r>
                      </m:sub>
                    </m:sSub>
                    <m:r>
                      <a:rPr lang="en-US">
                        <a:effectLst/>
                        <a:latin typeface="Cambria Math" panose="02040503050406030204" pitchFamily="18" charset="0"/>
                      </a:rPr>
                      <m:t>(</m:t>
                    </m:r>
                    <m:r>
                      <a:rPr lang="en-US">
                        <a:effectLst/>
                        <a:latin typeface="Cambria Math" panose="02040503050406030204" pitchFamily="18" charset="0"/>
                      </a:rPr>
                      <m:t>𝑖</m:t>
                    </m:r>
                    <m:r>
                      <a:rPr lang="en-US">
                        <a:effectLst/>
                        <a:latin typeface="Cambria Math" panose="02040503050406030204" pitchFamily="18" charset="0"/>
                      </a:rPr>
                      <m:t>,</m:t>
                    </m:r>
                    <m:r>
                      <a:rPr lang="en-US">
                        <a:effectLst/>
                        <a:latin typeface="Cambria Math" panose="02040503050406030204" pitchFamily="18" charset="0"/>
                      </a:rPr>
                      <m:t>𝑗</m:t>
                    </m:r>
                    <m:r>
                      <a:rPr lang="en-US">
                        <a:effectLst/>
                        <a:latin typeface="Cambria Math" panose="02040503050406030204" pitchFamily="18" charset="0"/>
                      </a:rPr>
                      <m:t>)=</m:t>
                    </m:r>
                    <m:r>
                      <a:rPr lang="en-US">
                        <a:effectLst/>
                        <a:latin typeface="Cambria Math" panose="02040503050406030204" pitchFamily="18" charset="0"/>
                      </a:rPr>
                      <m:t>𝑢</m:t>
                    </m:r>
                    <m:r>
                      <a:rPr lang="en-US">
                        <a:effectLst/>
                        <a:latin typeface="Cambria Math" panose="02040503050406030204" pitchFamily="18" charset="0"/>
                      </a:rPr>
                      <m:t>(</m:t>
                    </m:r>
                    <m:r>
                      <a:rPr lang="en-US">
                        <a:effectLst/>
                        <a:latin typeface="Cambria Math" panose="02040503050406030204" pitchFamily="18" charset="0"/>
                      </a:rPr>
                      <m:t>𝑖</m:t>
                    </m:r>
                    <m:r>
                      <a:rPr lang="en-US">
                        <a:effectLst/>
                        <a:latin typeface="Cambria Math" panose="02040503050406030204" pitchFamily="18" charset="0"/>
                      </a:rPr>
                      <m:t>,</m:t>
                    </m:r>
                    <m:r>
                      <a:rPr lang="en-US">
                        <a:effectLst/>
                        <a:latin typeface="Cambria Math" panose="02040503050406030204" pitchFamily="18" charset="0"/>
                      </a:rPr>
                      <m:t>𝑗</m:t>
                    </m:r>
                    <m:r>
                      <a:rPr lang="en-US">
                        <a:effectLst/>
                        <a:latin typeface="Cambria Math" panose="02040503050406030204" pitchFamily="18" charset="0"/>
                      </a:rPr>
                      <m:t>)−</m:t>
                    </m:r>
                    <m:r>
                      <a:rPr lang="en-US">
                        <a:effectLst/>
                        <a:latin typeface="Cambria Math" panose="02040503050406030204" pitchFamily="18" charset="0"/>
                      </a:rPr>
                      <m:t>𝑓</m:t>
                    </m:r>
                    <m:r>
                      <a:rPr lang="en-US">
                        <a:effectLst/>
                        <a:latin typeface="Cambria Math" panose="02040503050406030204" pitchFamily="18" charset="0"/>
                      </a:rPr>
                      <m:t>(</m:t>
                    </m:r>
                    <m:r>
                      <a:rPr lang="en-US">
                        <a:effectLst/>
                        <a:latin typeface="Cambria Math" panose="02040503050406030204" pitchFamily="18" charset="0"/>
                      </a:rPr>
                      <m:t>𝑖</m:t>
                    </m:r>
                    <m:r>
                      <a:rPr lang="en-US">
                        <a:effectLst/>
                        <a:latin typeface="Cambria Math" panose="02040503050406030204" pitchFamily="18" charset="0"/>
                      </a:rPr>
                      <m:t>,</m:t>
                    </m:r>
                    <m:r>
                      <a:rPr lang="en-US">
                        <a:effectLst/>
                        <a:latin typeface="Cambria Math" panose="02040503050406030204" pitchFamily="18" charset="0"/>
                      </a:rPr>
                      <m:t>𝑗</m:t>
                    </m:r>
                    <m:r>
                      <a:rPr lang="en-US">
                        <a:effectLst/>
                        <a:latin typeface="Cambria Math" panose="02040503050406030204" pitchFamily="18" charset="0"/>
                      </a:rPr>
                      <m:t>)</m:t>
                    </m:r>
                  </m:oMath>
                </a14:m>
                <a:r>
                  <a:rPr lang="en-US" dirty="0">
                    <a:effectLst/>
                    <a:latin typeface="+mj-lt"/>
                  </a:rPr>
                  <a:t>, the total capacity, minus the flow that is already used. [3]</a:t>
                </a:r>
              </a:p>
              <a:p>
                <a:endParaRPr lang="en-US" sz="2400" dirty="0">
                  <a:effectLst/>
                  <a:latin typeface="+mj-lt"/>
                </a:endParaRPr>
              </a:p>
              <a:p>
                <a:endParaRPr lang="en-US" sz="2400" dirty="0">
                  <a:effectLst/>
                  <a:latin typeface="+mj-lt"/>
                </a:endParaRPr>
              </a:p>
              <a:p>
                <a:endParaRPr lang="en-US" sz="2400" dirty="0">
                  <a:effectLst/>
                  <a:latin typeface="+mj-lt"/>
                </a:endParaRPr>
              </a:p>
              <a:p>
                <a:endParaRPr lang="en-US" sz="2400" dirty="0">
                  <a:effectLst/>
                  <a:latin typeface="+mj-lt"/>
                </a:endParaRPr>
              </a:p>
              <a:p>
                <a:pPr algn="ctr"/>
                <a:endParaRPr lang="en-US" sz="2400" dirty="0">
                  <a:effectLst/>
                  <a:latin typeface="+mj-lt"/>
                </a:endParaRPr>
              </a:p>
              <a:p>
                <a:pPr algn="ctr"/>
                <a:endParaRPr lang="en-US" sz="1200" dirty="0">
                  <a:effectLst/>
                  <a:latin typeface="+mj-lt"/>
                </a:endParaRPr>
              </a:p>
              <a:p>
                <a:endParaRPr lang="en-US" b="1" dirty="0">
                  <a:effectLst/>
                </a:endParaRPr>
              </a:p>
              <a:p>
                <a:endParaRPr lang="en-US" b="1" dirty="0">
                  <a:effectLst/>
                </a:endParaRPr>
              </a:p>
              <a:p>
                <a:endParaRPr lang="en-US" b="1" dirty="0">
                  <a:effectLst/>
                </a:endParaRPr>
              </a:p>
              <a:p>
                <a:endParaRPr lang="en-US" b="1" dirty="0">
                  <a:effectLst/>
                </a:endParaRPr>
              </a:p>
              <a:p>
                <a:endParaRPr lang="en-US" b="1" dirty="0">
                  <a:effectLst/>
                </a:endParaRPr>
              </a:p>
              <a:p>
                <a:endParaRPr lang="en-US" b="1" dirty="0">
                  <a:effectLst/>
                </a:endParaRPr>
              </a:p>
              <a:p>
                <a:endParaRPr lang="en-US" b="1" dirty="0">
                  <a:effectLst/>
                </a:endParaRPr>
              </a:p>
              <a:p>
                <a:endParaRPr lang="en-US" b="1" dirty="0">
                  <a:effectLst/>
                </a:endParaRPr>
              </a:p>
              <a:p>
                <a:endParaRPr lang="en-US" b="1" dirty="0">
                  <a:effectLst/>
                </a:endParaRPr>
              </a:p>
              <a:p>
                <a:pPr algn="just"/>
                <a:r>
                  <a:rPr lang="en-US" sz="2400" b="1" dirty="0">
                    <a:effectLst/>
                    <a:latin typeface="+mj-lt"/>
                  </a:rPr>
                  <a:t>4. Power System Design:</a:t>
                </a:r>
              </a:p>
              <a:p>
                <a:pPr algn="just"/>
                <a:r>
                  <a:rPr lang="en-US" sz="2400" dirty="0">
                    <a:effectLst/>
                    <a:latin typeface="+mj-lt"/>
                  </a:rPr>
                  <a:t>Efficient electrical power distribution is a key challenge, as power must move from generators to consumers through capacity‑limited transmission lines. This project models a small distribution system as a flow network and uses maximum‑flow principles to determine how much power can be delivered without violating these limits. The Edmonds–Karp algorithm is applied to compute the optimal flow, ensuring the maximum feasible transfer through the network.</a:t>
                </a:r>
              </a:p>
              <a:p>
                <a:r>
                  <a:rPr lang="en-US" b="1" dirty="0">
                    <a:effectLst/>
                    <a:latin typeface="+mj-lt"/>
                  </a:rPr>
                  <a:t>4.1. Electrical Network Model</a:t>
                </a:r>
              </a:p>
              <a:p>
                <a:pPr algn="just"/>
                <a:r>
                  <a:rPr lang="en-US" dirty="0">
                    <a:effectLst/>
                    <a:latin typeface="+mj-lt"/>
                  </a:rPr>
                  <a:t>The electrical system consists of: One power plant (source), Two substations and Three houses (loads)as shown in figure 7. The transmission lines have the following capacities:</a:t>
                </a:r>
              </a:p>
              <a:p>
                <a:pPr lvl="0" algn="just"/>
                <a:r>
                  <a:rPr lang="en-US" dirty="0">
                    <a:effectLst/>
                    <a:latin typeface="+mj-lt"/>
                  </a:rPr>
                  <a:t>Power Plant → Substation A = 40 MW ,  Power Plant → Substation B = 30 MW </a:t>
                </a:r>
              </a:p>
              <a:p>
                <a:pPr lvl="0" algn="just"/>
                <a:r>
                  <a:rPr lang="en-US" dirty="0">
                    <a:effectLst/>
                    <a:latin typeface="+mj-lt"/>
                  </a:rPr>
                  <a:t>Substation A → House 1 = 20 MW  ,       Substation A → House 2 = 15 MW </a:t>
                </a:r>
              </a:p>
              <a:p>
                <a:pPr lvl="0" algn="just"/>
                <a:r>
                  <a:rPr lang="en-US" dirty="0">
                    <a:effectLst/>
                    <a:latin typeface="+mj-lt"/>
                  </a:rPr>
                  <a:t>Substation B → House 2 = 10 MW ,        Substation B → House 3 = 25 MW </a:t>
                </a:r>
              </a:p>
              <a:p>
                <a:endParaRPr lang="en-US" dirty="0">
                  <a:effectLst/>
                  <a:latin typeface="+mj-lt"/>
                </a:endParaRPr>
              </a:p>
              <a:p>
                <a:pPr algn="just"/>
                <a:endParaRPr lang="en-US" dirty="0">
                  <a:effectLst/>
                  <a:latin typeface="+mj-lt"/>
                </a:endParaRPr>
              </a:p>
              <a:p>
                <a:endParaRPr lang="en-US" dirty="0">
                  <a:effectLst/>
                </a:endParaRPr>
              </a:p>
              <a:p>
                <a:pPr algn="ctr"/>
                <a:endParaRPr lang="en-US" sz="1200" dirty="0">
                  <a:effectLst/>
                  <a:latin typeface="+mj-lt"/>
                </a:endParaRPr>
              </a:p>
              <a:p>
                <a:pPr algn="just"/>
                <a:endParaRPr lang="en-US" sz="2400" dirty="0">
                  <a:effectLst/>
                  <a:latin typeface="+mj-lt"/>
                </a:endParaRPr>
              </a:p>
              <a:p>
                <a:pPr algn="just">
                  <a:lnSpc>
                    <a:spcPct val="110000"/>
                  </a:lnSpc>
                </a:pPr>
                <a:endParaRPr lang="en-US" sz="2400" dirty="0">
                  <a:effectLst/>
                  <a:latin typeface="Quattrocento Sans" panose="020B0502050000020003" pitchFamily="34" charset="0"/>
                  <a:cs typeface="Arial" pitchFamily="34" charset="0"/>
                </a:endParaRPr>
              </a:p>
            </p:txBody>
          </p:sp>
        </mc:Choice>
        <mc:Fallback xmlns="">
          <p:sp>
            <p:nvSpPr>
              <p:cNvPr id="83" name="TextBox 19">
                <a:extLst>
                  <a:ext uri="{FF2B5EF4-FFF2-40B4-BE49-F238E27FC236}">
                    <a16:creationId xmlns:a16="http://schemas.microsoft.com/office/drawing/2014/main" id="{16D6CE1D-7E3F-42CA-A7BD-5FA191CFE645}"/>
                  </a:ext>
                </a:extLst>
              </p:cNvPr>
              <p:cNvSpPr txBox="1">
                <a:spLocks noRot="1" noChangeAspect="1" noMove="1" noResize="1" noEditPoints="1" noAdjustHandles="1" noChangeArrowheads="1" noChangeShapeType="1" noTextEdit="1"/>
              </p:cNvSpPr>
              <p:nvPr/>
            </p:nvSpPr>
            <p:spPr bwMode="auto">
              <a:xfrm>
                <a:off x="22546635" y="8610600"/>
                <a:ext cx="9598176" cy="25524529"/>
              </a:xfrm>
              <a:prstGeom prst="rect">
                <a:avLst/>
              </a:prstGeom>
              <a:blipFill>
                <a:blip r:embed="rId4"/>
                <a:stretch>
                  <a:fillRect l="-1017" t="-215" r="-95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84" name="Rectangle 10">
            <a:extLst>
              <a:ext uri="{FF2B5EF4-FFF2-40B4-BE49-F238E27FC236}">
                <a16:creationId xmlns:a16="http://schemas.microsoft.com/office/drawing/2014/main" id="{3D96BB99-3F6E-4E73-BA6B-A122D83B12A2}"/>
              </a:ext>
            </a:extLst>
          </p:cNvPr>
          <p:cNvSpPr>
            <a:spLocks noChangeArrowheads="1"/>
          </p:cNvSpPr>
          <p:nvPr/>
        </p:nvSpPr>
        <p:spPr bwMode="auto">
          <a:xfrm>
            <a:off x="22316522" y="7471321"/>
            <a:ext cx="10058400" cy="873301"/>
          </a:xfrm>
          <a:prstGeom prst="snipRoundRect">
            <a:avLst>
              <a:gd name="adj1" fmla="val 0"/>
              <a:gd name="adj2" fmla="val 50000"/>
            </a:avLst>
          </a:prstGeom>
          <a:solidFill>
            <a:schemeClr val="accent1">
              <a:lumMod val="75000"/>
            </a:schemeClr>
          </a:solidFill>
          <a:ln w="12700">
            <a:noFill/>
            <a:miter lim="800000"/>
          </a:ln>
        </p:spPr>
        <p:txBody>
          <a:bodyPr wrap="none" lIns="274320" tIns="73152" rIns="274320" bIns="68563" anchor="ctr" anchorCtr="0"/>
          <a:lstStyle>
            <a:defPPr>
              <a:defRPr kern="1200"/>
            </a:defPPr>
          </a:lstStyle>
          <a:p>
            <a:pPr defTabSz="4702588">
              <a:defRPr/>
            </a:pPr>
            <a:r>
              <a:rPr lang="en-US" sz="3600" b="1" dirty="0">
                <a:solidFill>
                  <a:schemeClr val="bg1"/>
                </a:solidFill>
                <a:effectLst/>
                <a:latin typeface="Quattrocento" panose="02020802030000000404" pitchFamily="18" charset="0"/>
              </a:rPr>
              <a:t>Data Analysis</a:t>
            </a:r>
          </a:p>
        </p:txBody>
      </p:sp>
      <p:sp>
        <p:nvSpPr>
          <p:cNvPr id="85" name="Rectangle 84">
            <a:extLst>
              <a:ext uri="{FF2B5EF4-FFF2-40B4-BE49-F238E27FC236}">
                <a16:creationId xmlns:a16="http://schemas.microsoft.com/office/drawing/2014/main" id="{19BFD724-D51D-4DD6-A93A-40ABEA405C90}"/>
              </a:ext>
            </a:extLst>
          </p:cNvPr>
          <p:cNvSpPr/>
          <p:nvPr/>
        </p:nvSpPr>
        <p:spPr>
          <a:xfrm>
            <a:off x="33144541" y="8000999"/>
            <a:ext cx="10058400" cy="11811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dirty="0">
              <a:latin typeface="+mj-lt"/>
            </a:endParaRPr>
          </a:p>
        </p:txBody>
      </p:sp>
      <mc:AlternateContent xmlns:mc="http://schemas.openxmlformats.org/markup-compatibility/2006" xmlns:a14="http://schemas.microsoft.com/office/drawing/2010/main">
        <mc:Choice Requires="a14">
          <p:sp>
            <p:nvSpPr>
              <p:cNvPr id="86" name="TextBox 19">
                <a:extLst>
                  <a:ext uri="{FF2B5EF4-FFF2-40B4-BE49-F238E27FC236}">
                    <a16:creationId xmlns:a16="http://schemas.microsoft.com/office/drawing/2014/main" id="{43D130FF-027B-433C-BF4F-A381B032C858}"/>
                  </a:ext>
                </a:extLst>
              </p:cNvPr>
              <p:cNvSpPr txBox="1">
                <a:spLocks noChangeArrowheads="1"/>
              </p:cNvSpPr>
              <p:nvPr/>
            </p:nvSpPr>
            <p:spPr bwMode="auto">
              <a:xfrm>
                <a:off x="33294205" y="8506580"/>
                <a:ext cx="9598176" cy="1359498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2400" b="1" dirty="0">
                    <a:effectLst/>
                    <a:latin typeface="+mj-lt"/>
                  </a:rPr>
                  <a:t>4.2. Graph Network Model</a:t>
                </a:r>
              </a:p>
              <a:p>
                <a:pPr algn="just"/>
                <a:r>
                  <a:rPr lang="en-US" dirty="0">
                    <a:effectLst/>
                    <a:latin typeface="+mj-lt"/>
                  </a:rPr>
                  <a:t>To apply flow algorithms, the electrical network is converted into a directed flow graph as shown in figure 8, Source node </a:t>
                </a:r>
                <a14:m>
                  <m:oMath xmlns:m="http://schemas.openxmlformats.org/officeDocument/2006/math">
                    <m:r>
                      <a:rPr lang="en-US">
                        <a:effectLst/>
                        <a:latin typeface="Cambria Math" panose="02040503050406030204" pitchFamily="18" charset="0"/>
                      </a:rPr>
                      <m:t>𝑠</m:t>
                    </m:r>
                  </m:oMath>
                </a14:m>
                <a:r>
                  <a:rPr lang="en-US" dirty="0">
                    <a:effectLst/>
                    <a:latin typeface="+mj-lt"/>
                  </a:rPr>
                  <a:t>: Power Plant, Intermediate nodes: Substations A and B and Sink node </a:t>
                </a:r>
                <a14:m>
                  <m:oMath xmlns:m="http://schemas.openxmlformats.org/officeDocument/2006/math">
                    <m:r>
                      <a:rPr lang="en-US">
                        <a:effectLst/>
                        <a:latin typeface="Cambria Math" panose="02040503050406030204" pitchFamily="18" charset="0"/>
                      </a:rPr>
                      <m:t>𝑡</m:t>
                    </m:r>
                  </m:oMath>
                </a14:m>
                <a:r>
                  <a:rPr lang="en-US" dirty="0">
                    <a:effectLst/>
                    <a:latin typeface="+mj-lt"/>
                  </a:rPr>
                  <a:t>: represents total demand. Each house is connected to the sink </a:t>
                </a:r>
                <a14:m>
                  <m:oMath xmlns:m="http://schemas.openxmlformats.org/officeDocument/2006/math">
                    <m:r>
                      <a:rPr lang="en-US">
                        <a:effectLst/>
                        <a:latin typeface="Cambria Math" panose="02040503050406030204" pitchFamily="18" charset="0"/>
                      </a:rPr>
                      <m:t>𝑡</m:t>
                    </m:r>
                    <m:r>
                      <a:rPr lang="en-US">
                        <a:effectLst/>
                        <a:latin typeface="Cambria Math" panose="02040503050406030204" pitchFamily="18" charset="0"/>
                      </a:rPr>
                      <m:t> </m:t>
                    </m:r>
                  </m:oMath>
                </a14:m>
                <a:r>
                  <a:rPr lang="en-US" dirty="0">
                    <a:effectLst/>
                    <a:latin typeface="+mj-lt"/>
                  </a:rPr>
                  <a:t>with a large capacity (e.g., 100 MW), ensuring no restriction at the demand side.</a:t>
                </a:r>
              </a:p>
              <a:p>
                <a:endParaRPr lang="en-US" dirty="0">
                  <a:effectLst/>
                </a:endParaRPr>
              </a:p>
              <a:p>
                <a:endParaRPr lang="en-US" dirty="0">
                  <a:effectLst/>
                </a:endParaRPr>
              </a:p>
              <a:p>
                <a:endParaRPr lang="en-US" dirty="0">
                  <a:effectLst/>
                </a:endParaRPr>
              </a:p>
              <a:p>
                <a:endParaRPr lang="en-US" dirty="0">
                  <a:effectLst/>
                </a:endParaRPr>
              </a:p>
              <a:p>
                <a:endParaRPr lang="en-US" dirty="0">
                  <a:effectLst/>
                </a:endParaRPr>
              </a:p>
              <a:p>
                <a:endParaRPr lang="en-US" dirty="0">
                  <a:effectLst/>
                </a:endParaRPr>
              </a:p>
              <a:p>
                <a:endParaRPr lang="en-US" dirty="0">
                  <a:effectLst/>
                </a:endParaRPr>
              </a:p>
              <a:p>
                <a:endParaRPr lang="en-US" dirty="0">
                  <a:effectLst/>
                </a:endParaRPr>
              </a:p>
              <a:p>
                <a:endParaRPr lang="en-US" dirty="0">
                  <a:effectLst/>
                </a:endParaRPr>
              </a:p>
              <a:p>
                <a:endParaRPr lang="en-US" dirty="0">
                  <a:effectLst/>
                </a:endParaRPr>
              </a:p>
              <a:p>
                <a:r>
                  <a:rPr lang="en-US" sz="2400" b="1" dirty="0">
                    <a:effectLst/>
                    <a:latin typeface="+mj-lt"/>
                  </a:rPr>
                  <a:t>4.3. Edmond–Karp Algorithm</a:t>
                </a:r>
              </a:p>
              <a:p>
                <a:endParaRPr lang="en-US" sz="2400" b="1" dirty="0">
                  <a:effectLst/>
                  <a:latin typeface="+mj-lt"/>
                </a:endParaRPr>
              </a:p>
              <a:p>
                <a:pPr algn="just"/>
                <a:r>
                  <a:rPr lang="en-US" dirty="0">
                    <a:effectLst/>
                    <a:latin typeface="+mj-lt"/>
                  </a:rPr>
                  <a:t>The Edmonds–Karp algorithm is an implementation of the Ford–Fulkerson method that uses Breadth-First Search (BFS) to find the shortest augmenting paths.</a:t>
                </a:r>
              </a:p>
              <a:p>
                <a:pPr marL="342900" lvl="0" indent="-342900" algn="just">
                  <a:buFont typeface="Arial" panose="020B0604020202020204" pitchFamily="34" charset="0"/>
                  <a:buChar char="•"/>
                </a:pPr>
                <a:r>
                  <a:rPr lang="en-US" dirty="0">
                    <a:effectLst/>
                    <a:latin typeface="+mj-lt"/>
                  </a:rPr>
                  <a:t>Start with zero flow. </a:t>
                </a:r>
              </a:p>
              <a:p>
                <a:pPr marL="342900" lvl="0" indent="-342900" algn="just">
                  <a:buFont typeface="Arial" panose="020B0604020202020204" pitchFamily="34" charset="0"/>
                  <a:buChar char="•"/>
                </a:pPr>
                <a:r>
                  <a:rPr lang="en-US" dirty="0">
                    <a:effectLst/>
                    <a:latin typeface="+mj-lt"/>
                  </a:rPr>
                  <a:t>Find a path from source </a:t>
                </a:r>
                <a14:m>
                  <m:oMath xmlns:m="http://schemas.openxmlformats.org/officeDocument/2006/math">
                    <m:r>
                      <a:rPr lang="en-US">
                        <a:effectLst/>
                        <a:latin typeface="Cambria Math" panose="02040503050406030204" pitchFamily="18" charset="0"/>
                      </a:rPr>
                      <m:t>𝑠</m:t>
                    </m:r>
                    <m:r>
                      <a:rPr lang="en-US">
                        <a:effectLst/>
                        <a:latin typeface="Cambria Math" panose="02040503050406030204" pitchFamily="18" charset="0"/>
                      </a:rPr>
                      <m:t> </m:t>
                    </m:r>
                  </m:oMath>
                </a14:m>
                <a:r>
                  <a:rPr lang="en-US" dirty="0">
                    <a:effectLst/>
                    <a:latin typeface="+mj-lt"/>
                  </a:rPr>
                  <a:t>to sink </a:t>
                </a:r>
                <a14:m>
                  <m:oMath xmlns:m="http://schemas.openxmlformats.org/officeDocument/2006/math">
                    <m:r>
                      <a:rPr lang="en-US">
                        <a:effectLst/>
                        <a:latin typeface="Cambria Math" panose="02040503050406030204" pitchFamily="18" charset="0"/>
                      </a:rPr>
                      <m:t>𝑡</m:t>
                    </m:r>
                  </m:oMath>
                </a14:m>
                <a:r>
                  <a:rPr lang="en-US" dirty="0">
                    <a:effectLst/>
                    <a:latin typeface="+mj-lt"/>
                  </a:rPr>
                  <a:t>. </a:t>
                </a:r>
              </a:p>
              <a:p>
                <a:pPr marL="342900" lvl="0" indent="-342900" algn="just">
                  <a:buFont typeface="Arial" panose="020B0604020202020204" pitchFamily="34" charset="0"/>
                  <a:buChar char="•"/>
                </a:pPr>
                <a:r>
                  <a:rPr lang="en-US" dirty="0">
                    <a:effectLst/>
                    <a:latin typeface="+mj-lt"/>
                  </a:rPr>
                  <a:t>Determine the minimum capacity (bottleneck). </a:t>
                </a:r>
              </a:p>
              <a:p>
                <a:pPr marL="342900" lvl="0" indent="-342900" algn="just">
                  <a:buFont typeface="Arial" panose="020B0604020202020204" pitchFamily="34" charset="0"/>
                  <a:buChar char="•"/>
                </a:pPr>
                <a:r>
                  <a:rPr lang="en-US" dirty="0">
                    <a:effectLst/>
                    <a:latin typeface="+mj-lt"/>
                  </a:rPr>
                  <a:t>Send flow along the path. </a:t>
                </a:r>
              </a:p>
              <a:p>
                <a:pPr marL="342900" lvl="0" indent="-342900" algn="just">
                  <a:buFont typeface="Arial" panose="020B0604020202020204" pitchFamily="34" charset="0"/>
                  <a:buChar char="•"/>
                </a:pPr>
                <a:r>
                  <a:rPr lang="en-US" dirty="0">
                    <a:effectLst/>
                    <a:latin typeface="+mj-lt"/>
                  </a:rPr>
                  <a:t>Update residual capacities. </a:t>
                </a:r>
              </a:p>
              <a:p>
                <a:pPr marL="342900" lvl="0" indent="-342900" algn="just">
                  <a:buFont typeface="Arial" panose="020B0604020202020204" pitchFamily="34" charset="0"/>
                  <a:buChar char="•"/>
                </a:pPr>
                <a:r>
                  <a:rPr lang="en-US" dirty="0">
                    <a:effectLst/>
                    <a:latin typeface="+mj-lt"/>
                  </a:rPr>
                  <a:t>Repeat until no path exists. </a:t>
                </a:r>
              </a:p>
              <a:p>
                <a:pPr algn="just"/>
                <a:r>
                  <a:rPr lang="en-US" dirty="0">
                    <a:effectLst/>
                    <a:latin typeface="+mj-lt"/>
                  </a:rPr>
                  <a:t>This guarantees finding the maximum flow in polynomial time. Find augmenting paths one by one.</a:t>
                </a:r>
              </a:p>
              <a:p>
                <a:pPr marL="342900" indent="-342900" algn="just">
                  <a:buFont typeface="Arial" panose="020B0604020202020204" pitchFamily="34" charset="0"/>
                  <a:buChar char="•"/>
                </a:pPr>
                <a:r>
                  <a:rPr lang="en-US" dirty="0">
                    <a:effectLst/>
                    <a:latin typeface="+mj-lt"/>
                  </a:rPr>
                  <a:t>1st path: S → A → H1 → T, Minimum capacity on this path: </a:t>
                </a:r>
                <a14:m>
                  <m:oMath xmlns:m="http://schemas.openxmlformats.org/officeDocument/2006/math">
                    <m:func>
                      <m:funcPr>
                        <m:ctrlPr>
                          <a:rPr lang="en-US" i="1">
                            <a:effectLst/>
                            <a:latin typeface="Cambria Math" panose="02040503050406030204" pitchFamily="18" charset="0"/>
                          </a:rPr>
                        </m:ctrlPr>
                      </m:funcPr>
                      <m:fName>
                        <m:r>
                          <m:rPr>
                            <m:sty m:val="p"/>
                          </m:rPr>
                          <a:rPr lang="en-US">
                            <a:effectLst/>
                            <a:latin typeface="Cambria Math" panose="02040503050406030204" pitchFamily="18" charset="0"/>
                          </a:rPr>
                          <m:t>min</m:t>
                        </m:r>
                      </m:fName>
                      <m:e>
                        <m:d>
                          <m:dPr>
                            <m:ctrlPr>
                              <a:rPr lang="en-US" i="1">
                                <a:effectLst/>
                                <a:latin typeface="Cambria Math" panose="02040503050406030204" pitchFamily="18" charset="0"/>
                              </a:rPr>
                            </m:ctrlPr>
                          </m:dPr>
                          <m:e>
                            <m:r>
                              <a:rPr lang="en-US">
                                <a:effectLst/>
                                <a:latin typeface="Cambria Math" panose="02040503050406030204" pitchFamily="18" charset="0"/>
                              </a:rPr>
                              <m:t>40</m:t>
                            </m:r>
                            <m:r>
                              <a:rPr lang="en-US">
                                <a:effectLst/>
                                <a:latin typeface="Cambria Math" panose="02040503050406030204" pitchFamily="18" charset="0"/>
                              </a:rPr>
                              <m:t>,</m:t>
                            </m:r>
                            <m:r>
                              <a:rPr lang="en-US">
                                <a:effectLst/>
                                <a:latin typeface="Cambria Math" panose="02040503050406030204" pitchFamily="18" charset="0"/>
                              </a:rPr>
                              <m:t>20</m:t>
                            </m:r>
                            <m:r>
                              <a:rPr lang="en-US">
                                <a:effectLst/>
                                <a:latin typeface="Cambria Math" panose="02040503050406030204" pitchFamily="18" charset="0"/>
                              </a:rPr>
                              <m:t>,</m:t>
                            </m:r>
                            <m:r>
                              <a:rPr lang="en-US">
                                <a:effectLst/>
                                <a:latin typeface="Cambria Math" panose="02040503050406030204" pitchFamily="18" charset="0"/>
                              </a:rPr>
                              <m:t>100</m:t>
                            </m:r>
                          </m:e>
                        </m:d>
                      </m:e>
                    </m:func>
                    <m:r>
                      <a:rPr lang="en-US">
                        <a:effectLst/>
                        <a:latin typeface="Cambria Math" panose="02040503050406030204" pitchFamily="18" charset="0"/>
                      </a:rPr>
                      <m:t>=</m:t>
                    </m:r>
                    <m:r>
                      <a:rPr lang="en-US">
                        <a:effectLst/>
                        <a:latin typeface="Cambria Math" panose="02040503050406030204" pitchFamily="18" charset="0"/>
                      </a:rPr>
                      <m:t>20</m:t>
                    </m:r>
                  </m:oMath>
                </a14:m>
                <a:endParaRPr lang="en-US" dirty="0">
                  <a:effectLst/>
                  <a:latin typeface="+mj-lt"/>
                </a:endParaRPr>
              </a:p>
              <a:p>
                <a:pPr algn="just"/>
                <a:r>
                  <a:rPr lang="en-US" dirty="0">
                    <a:effectLst/>
                    <a:latin typeface="+mj-lt"/>
                  </a:rPr>
                  <a:t>So, send 20 MW.</a:t>
                </a:r>
              </a:p>
              <a:p>
                <a:pPr marL="342900" indent="-342900" algn="just">
                  <a:buFont typeface="Arial" panose="020B0604020202020204" pitchFamily="34" charset="0"/>
                  <a:buChar char="•"/>
                </a:pPr>
                <a:r>
                  <a:rPr lang="en-US" dirty="0">
                    <a:effectLst/>
                    <a:latin typeface="+mj-lt"/>
                  </a:rPr>
                  <a:t>2nd path: S → A → H2 → T, </a:t>
                </a:r>
                <a14:m>
                  <m:oMath xmlns:m="http://schemas.openxmlformats.org/officeDocument/2006/math">
                    <m:func>
                      <m:funcPr>
                        <m:ctrlPr>
                          <a:rPr lang="en-US" i="1">
                            <a:effectLst/>
                            <a:latin typeface="Cambria Math" panose="02040503050406030204" pitchFamily="18" charset="0"/>
                          </a:rPr>
                        </m:ctrlPr>
                      </m:funcPr>
                      <m:fName>
                        <m:r>
                          <m:rPr>
                            <m:sty m:val="p"/>
                          </m:rPr>
                          <a:rPr lang="en-US">
                            <a:effectLst/>
                            <a:latin typeface="Cambria Math" panose="02040503050406030204" pitchFamily="18" charset="0"/>
                          </a:rPr>
                          <m:t>min</m:t>
                        </m:r>
                      </m:fName>
                      <m:e>
                        <m:d>
                          <m:dPr>
                            <m:ctrlPr>
                              <a:rPr lang="en-US" i="1">
                                <a:effectLst/>
                                <a:latin typeface="Cambria Math" panose="02040503050406030204" pitchFamily="18" charset="0"/>
                              </a:rPr>
                            </m:ctrlPr>
                          </m:dPr>
                          <m:e>
                            <m:r>
                              <a:rPr lang="en-US">
                                <a:effectLst/>
                                <a:latin typeface="Cambria Math" panose="02040503050406030204" pitchFamily="18" charset="0"/>
                              </a:rPr>
                              <m:t>20</m:t>
                            </m:r>
                            <m:r>
                              <a:rPr lang="en-US">
                                <a:effectLst/>
                                <a:latin typeface="Cambria Math" panose="02040503050406030204" pitchFamily="18" charset="0"/>
                              </a:rPr>
                              <m:t>,</m:t>
                            </m:r>
                            <m:r>
                              <a:rPr lang="en-US">
                                <a:effectLst/>
                                <a:latin typeface="Cambria Math" panose="02040503050406030204" pitchFamily="18" charset="0"/>
                              </a:rPr>
                              <m:t>15</m:t>
                            </m:r>
                            <m:r>
                              <a:rPr lang="en-US">
                                <a:effectLst/>
                                <a:latin typeface="Cambria Math" panose="02040503050406030204" pitchFamily="18" charset="0"/>
                              </a:rPr>
                              <m:t>,</m:t>
                            </m:r>
                            <m:r>
                              <a:rPr lang="en-US">
                                <a:effectLst/>
                                <a:latin typeface="Cambria Math" panose="02040503050406030204" pitchFamily="18" charset="0"/>
                              </a:rPr>
                              <m:t>100</m:t>
                            </m:r>
                          </m:e>
                        </m:d>
                      </m:e>
                    </m:func>
                    <m:r>
                      <a:rPr lang="en-US">
                        <a:effectLst/>
                        <a:latin typeface="Cambria Math" panose="02040503050406030204" pitchFamily="18" charset="0"/>
                      </a:rPr>
                      <m:t>=</m:t>
                    </m:r>
                    <m:r>
                      <a:rPr lang="en-US">
                        <a:effectLst/>
                        <a:latin typeface="Cambria Math" panose="02040503050406030204" pitchFamily="18" charset="0"/>
                      </a:rPr>
                      <m:t>15</m:t>
                    </m:r>
                    <m:r>
                      <a:rPr lang="en-US">
                        <a:effectLst/>
                        <a:latin typeface="Cambria Math" panose="02040503050406030204" pitchFamily="18" charset="0"/>
                      </a:rPr>
                      <m:t>, </m:t>
                    </m:r>
                  </m:oMath>
                </a14:m>
                <a:r>
                  <a:rPr lang="en-US" dirty="0">
                    <a:effectLst/>
                    <a:latin typeface="+mj-lt"/>
                  </a:rPr>
                  <a:t>Send 15 MW.</a:t>
                </a:r>
              </a:p>
              <a:p>
                <a:pPr marL="342900" indent="-342900" algn="just">
                  <a:buFont typeface="Arial" panose="020B0604020202020204" pitchFamily="34" charset="0"/>
                  <a:buChar char="•"/>
                </a:pPr>
                <a:r>
                  <a:rPr lang="en-US" dirty="0">
                    <a:effectLst/>
                    <a:latin typeface="+mj-lt"/>
                  </a:rPr>
                  <a:t>3rd path: S → B → H2 → T, </a:t>
                </a:r>
                <a14:m>
                  <m:oMath xmlns:m="http://schemas.openxmlformats.org/officeDocument/2006/math">
                    <m:func>
                      <m:funcPr>
                        <m:ctrlPr>
                          <a:rPr lang="en-US" i="1">
                            <a:effectLst/>
                            <a:latin typeface="Cambria Math" panose="02040503050406030204" pitchFamily="18" charset="0"/>
                          </a:rPr>
                        </m:ctrlPr>
                      </m:funcPr>
                      <m:fName>
                        <m:r>
                          <m:rPr>
                            <m:sty m:val="p"/>
                          </m:rPr>
                          <a:rPr lang="en-US">
                            <a:effectLst/>
                            <a:latin typeface="Cambria Math" panose="02040503050406030204" pitchFamily="18" charset="0"/>
                          </a:rPr>
                          <m:t>min</m:t>
                        </m:r>
                      </m:fName>
                      <m:e>
                        <m:d>
                          <m:dPr>
                            <m:ctrlPr>
                              <a:rPr lang="en-US" i="1">
                                <a:effectLst/>
                                <a:latin typeface="Cambria Math" panose="02040503050406030204" pitchFamily="18" charset="0"/>
                              </a:rPr>
                            </m:ctrlPr>
                          </m:dPr>
                          <m:e>
                            <m:r>
                              <a:rPr lang="en-US">
                                <a:effectLst/>
                                <a:latin typeface="Cambria Math" panose="02040503050406030204" pitchFamily="18" charset="0"/>
                              </a:rPr>
                              <m:t>30</m:t>
                            </m:r>
                            <m:r>
                              <a:rPr lang="en-US">
                                <a:effectLst/>
                                <a:latin typeface="Cambria Math" panose="02040503050406030204" pitchFamily="18" charset="0"/>
                              </a:rPr>
                              <m:t>,</m:t>
                            </m:r>
                            <m:r>
                              <a:rPr lang="en-US">
                                <a:effectLst/>
                                <a:latin typeface="Cambria Math" panose="02040503050406030204" pitchFamily="18" charset="0"/>
                              </a:rPr>
                              <m:t>10</m:t>
                            </m:r>
                            <m:r>
                              <a:rPr lang="en-US">
                                <a:effectLst/>
                                <a:latin typeface="Cambria Math" panose="02040503050406030204" pitchFamily="18" charset="0"/>
                              </a:rPr>
                              <m:t>,</m:t>
                            </m:r>
                            <m:r>
                              <a:rPr lang="en-US">
                                <a:effectLst/>
                                <a:latin typeface="Cambria Math" panose="02040503050406030204" pitchFamily="18" charset="0"/>
                              </a:rPr>
                              <m:t>100</m:t>
                            </m:r>
                          </m:e>
                        </m:d>
                      </m:e>
                    </m:func>
                    <m:r>
                      <a:rPr lang="en-US">
                        <a:effectLst/>
                        <a:latin typeface="Cambria Math" panose="02040503050406030204" pitchFamily="18" charset="0"/>
                      </a:rPr>
                      <m:t>=</m:t>
                    </m:r>
                    <m:r>
                      <a:rPr lang="en-US">
                        <a:effectLst/>
                        <a:latin typeface="Cambria Math" panose="02040503050406030204" pitchFamily="18" charset="0"/>
                      </a:rPr>
                      <m:t>10</m:t>
                    </m:r>
                    <m:r>
                      <a:rPr lang="en-US">
                        <a:effectLst/>
                        <a:latin typeface="Cambria Math" panose="02040503050406030204" pitchFamily="18" charset="0"/>
                      </a:rPr>
                      <m:t>, </m:t>
                    </m:r>
                  </m:oMath>
                </a14:m>
                <a:r>
                  <a:rPr lang="en-US" dirty="0">
                    <a:effectLst/>
                    <a:latin typeface="+mj-lt"/>
                  </a:rPr>
                  <a:t>Send 10 MW.</a:t>
                </a:r>
              </a:p>
              <a:p>
                <a:pPr marL="342900" indent="-342900" algn="just">
                  <a:buFont typeface="Arial" panose="020B0604020202020204" pitchFamily="34" charset="0"/>
                  <a:buChar char="•"/>
                </a:pPr>
                <a:r>
                  <a:rPr lang="en-US" dirty="0">
                    <a:effectLst/>
                    <a:latin typeface="+mj-lt"/>
                  </a:rPr>
                  <a:t>4th path: S → B → H3 → T, </a:t>
                </a:r>
                <a14:m>
                  <m:oMath xmlns:m="http://schemas.openxmlformats.org/officeDocument/2006/math">
                    <m:func>
                      <m:funcPr>
                        <m:ctrlPr>
                          <a:rPr lang="en-US" i="1">
                            <a:effectLst/>
                            <a:latin typeface="Cambria Math" panose="02040503050406030204" pitchFamily="18" charset="0"/>
                          </a:rPr>
                        </m:ctrlPr>
                      </m:funcPr>
                      <m:fName>
                        <m:r>
                          <m:rPr>
                            <m:sty m:val="p"/>
                          </m:rPr>
                          <a:rPr lang="en-US">
                            <a:effectLst/>
                            <a:latin typeface="Cambria Math" panose="02040503050406030204" pitchFamily="18" charset="0"/>
                          </a:rPr>
                          <m:t>min</m:t>
                        </m:r>
                      </m:fName>
                      <m:e>
                        <m:d>
                          <m:dPr>
                            <m:ctrlPr>
                              <a:rPr lang="en-US" i="1">
                                <a:effectLst/>
                                <a:latin typeface="Cambria Math" panose="02040503050406030204" pitchFamily="18" charset="0"/>
                              </a:rPr>
                            </m:ctrlPr>
                          </m:dPr>
                          <m:e>
                            <m:r>
                              <a:rPr lang="en-US">
                                <a:effectLst/>
                                <a:latin typeface="Cambria Math" panose="02040503050406030204" pitchFamily="18" charset="0"/>
                              </a:rPr>
                              <m:t>30</m:t>
                            </m:r>
                            <m:r>
                              <a:rPr lang="en-US">
                                <a:effectLst/>
                                <a:latin typeface="Cambria Math" panose="02040503050406030204" pitchFamily="18" charset="0"/>
                              </a:rPr>
                              <m:t>,</m:t>
                            </m:r>
                            <m:r>
                              <a:rPr lang="en-US">
                                <a:effectLst/>
                                <a:latin typeface="Cambria Math" panose="02040503050406030204" pitchFamily="18" charset="0"/>
                              </a:rPr>
                              <m:t>25</m:t>
                            </m:r>
                            <m:r>
                              <a:rPr lang="en-US">
                                <a:effectLst/>
                                <a:latin typeface="Cambria Math" panose="02040503050406030204" pitchFamily="18" charset="0"/>
                              </a:rPr>
                              <m:t>,</m:t>
                            </m:r>
                            <m:r>
                              <a:rPr lang="en-US">
                                <a:effectLst/>
                                <a:latin typeface="Cambria Math" panose="02040503050406030204" pitchFamily="18" charset="0"/>
                              </a:rPr>
                              <m:t>100</m:t>
                            </m:r>
                          </m:e>
                        </m:d>
                      </m:e>
                    </m:func>
                    <m:r>
                      <a:rPr lang="en-US">
                        <a:effectLst/>
                        <a:latin typeface="Cambria Math" panose="02040503050406030204" pitchFamily="18" charset="0"/>
                      </a:rPr>
                      <m:t>=</m:t>
                    </m:r>
                    <m:r>
                      <a:rPr lang="en-US">
                        <a:effectLst/>
                        <a:latin typeface="Cambria Math" panose="02040503050406030204" pitchFamily="18" charset="0"/>
                      </a:rPr>
                      <m:t>25</m:t>
                    </m:r>
                    <m:r>
                      <a:rPr lang="en-US">
                        <a:effectLst/>
                        <a:latin typeface="Cambria Math" panose="02040503050406030204" pitchFamily="18" charset="0"/>
                      </a:rPr>
                      <m:t>, </m:t>
                    </m:r>
                  </m:oMath>
                </a14:m>
                <a:r>
                  <a:rPr lang="en-US" dirty="0">
                    <a:effectLst/>
                    <a:latin typeface="+mj-lt"/>
                  </a:rPr>
                  <a:t>Send 25 MW.</a:t>
                </a:r>
              </a:p>
              <a:p>
                <a:pPr algn="just"/>
                <a:r>
                  <a:rPr lang="en-US" dirty="0">
                    <a:effectLst/>
                    <a:latin typeface="+mj-lt"/>
                  </a:rPr>
                  <a:t>Total maximum flow: </a:t>
                </a:r>
                <a14:m>
                  <m:oMath xmlns:m="http://schemas.openxmlformats.org/officeDocument/2006/math">
                    <m:r>
                      <a:rPr lang="en-US">
                        <a:effectLst/>
                        <a:latin typeface="Cambria Math" panose="02040503050406030204" pitchFamily="18" charset="0"/>
                      </a:rPr>
                      <m:t>20</m:t>
                    </m:r>
                    <m:r>
                      <a:rPr lang="en-US">
                        <a:effectLst/>
                        <a:latin typeface="Cambria Math" panose="02040503050406030204" pitchFamily="18" charset="0"/>
                      </a:rPr>
                      <m:t>+</m:t>
                    </m:r>
                    <m:r>
                      <a:rPr lang="en-US">
                        <a:effectLst/>
                        <a:latin typeface="Cambria Math" panose="02040503050406030204" pitchFamily="18" charset="0"/>
                      </a:rPr>
                      <m:t>15</m:t>
                    </m:r>
                    <m:r>
                      <a:rPr lang="en-US">
                        <a:effectLst/>
                        <a:latin typeface="Cambria Math" panose="02040503050406030204" pitchFamily="18" charset="0"/>
                      </a:rPr>
                      <m:t>+</m:t>
                    </m:r>
                    <m:r>
                      <a:rPr lang="en-US">
                        <a:effectLst/>
                        <a:latin typeface="Cambria Math" panose="02040503050406030204" pitchFamily="18" charset="0"/>
                      </a:rPr>
                      <m:t>10</m:t>
                    </m:r>
                    <m:r>
                      <a:rPr lang="en-US">
                        <a:effectLst/>
                        <a:latin typeface="Cambria Math" panose="02040503050406030204" pitchFamily="18" charset="0"/>
                      </a:rPr>
                      <m:t>+</m:t>
                    </m:r>
                    <m:r>
                      <a:rPr lang="en-US">
                        <a:effectLst/>
                        <a:latin typeface="Cambria Math" panose="02040503050406030204" pitchFamily="18" charset="0"/>
                      </a:rPr>
                      <m:t>25</m:t>
                    </m:r>
                    <m:r>
                      <a:rPr lang="en-US">
                        <a:effectLst/>
                        <a:latin typeface="Cambria Math" panose="02040503050406030204" pitchFamily="18" charset="0"/>
                      </a:rPr>
                      <m:t>=</m:t>
                    </m:r>
                    <m:r>
                      <a:rPr lang="en-US">
                        <a:effectLst/>
                        <a:latin typeface="Cambria Math" panose="02040503050406030204" pitchFamily="18" charset="0"/>
                      </a:rPr>
                      <m:t>70</m:t>
                    </m:r>
                    <m:r>
                      <m:rPr>
                        <m:nor/>
                      </m:rPr>
                      <a:rPr lang="en-US">
                        <a:effectLst/>
                        <a:latin typeface="+mj-lt"/>
                      </a:rPr>
                      <m:t> </m:t>
                    </m:r>
                    <m:r>
                      <m:rPr>
                        <m:nor/>
                      </m:rPr>
                      <a:rPr lang="en-US">
                        <a:effectLst/>
                        <a:latin typeface="+mj-lt"/>
                      </a:rPr>
                      <m:t>MW</m:t>
                    </m:r>
                  </m:oMath>
                </a14:m>
                <a:r>
                  <a:rPr lang="en-US" dirty="0">
                    <a:effectLst/>
                    <a:latin typeface="+mj-lt"/>
                  </a:rPr>
                  <a:t>, The maximum power that can be delivered from the power plant to all houses is: </a:t>
                </a:r>
                <a14:m>
                  <m:oMath xmlns:m="http://schemas.openxmlformats.org/officeDocument/2006/math">
                    <m:r>
                      <a:rPr lang="en-US">
                        <a:effectLst/>
                        <a:latin typeface="Cambria Math" panose="02040503050406030204" pitchFamily="18" charset="0"/>
                      </a:rPr>
                      <m:t>70</m:t>
                    </m:r>
                    <m:r>
                      <m:rPr>
                        <m:nor/>
                      </m:rPr>
                      <a:rPr lang="en-US">
                        <a:effectLst/>
                        <a:latin typeface="+mj-lt"/>
                      </a:rPr>
                      <m:t> </m:t>
                    </m:r>
                    <m:r>
                      <m:rPr>
                        <m:nor/>
                      </m:rPr>
                      <a:rPr lang="en-US">
                        <a:effectLst/>
                        <a:latin typeface="+mj-lt"/>
                      </a:rPr>
                      <m:t>MW</m:t>
                    </m:r>
                  </m:oMath>
                </a14:m>
                <a:endParaRPr lang="en-US" dirty="0">
                  <a:effectLst/>
                  <a:latin typeface="+mj-lt"/>
                </a:endParaRPr>
              </a:p>
              <a:p>
                <a:pPr algn="just"/>
                <a:r>
                  <a:rPr lang="en-US" dirty="0">
                    <a:effectLst/>
                    <a:latin typeface="+mj-lt"/>
                  </a:rPr>
                  <a:t>This result satisfies all capacity constraints of the transmission lines.</a:t>
                </a:r>
              </a:p>
              <a:p>
                <a:endParaRPr lang="en-US" b="1" dirty="0">
                  <a:effectLst/>
                </a:endParaRPr>
              </a:p>
              <a:p>
                <a:endParaRPr lang="en-US" b="1" dirty="0">
                  <a:effectLst/>
                </a:endParaRPr>
              </a:p>
              <a:p>
                <a:r>
                  <a:rPr lang="en-US" dirty="0">
                    <a:effectLst/>
                  </a:rPr>
                  <a:t> </a:t>
                </a:r>
              </a:p>
              <a:p>
                <a:endParaRPr lang="en-US" dirty="0">
                  <a:effectLst/>
                </a:endParaRPr>
              </a:p>
              <a:p>
                <a:endParaRPr lang="en-US" dirty="0">
                  <a:effectLst/>
                </a:endParaRPr>
              </a:p>
              <a:p>
                <a:endParaRPr lang="en-US" dirty="0">
                  <a:effectLst/>
                </a:endParaRPr>
              </a:p>
              <a:p>
                <a:endParaRPr lang="en-US" dirty="0">
                  <a:effectLst/>
                </a:endParaRPr>
              </a:p>
              <a:p>
                <a:pPr algn="just">
                  <a:lnSpc>
                    <a:spcPct val="110000"/>
                  </a:lnSpc>
                </a:pPr>
                <a:endParaRPr lang="en-US" sz="2400" dirty="0">
                  <a:effectLst/>
                  <a:latin typeface="Quattrocento Sans" panose="020B0502050000020003" pitchFamily="34" charset="0"/>
                  <a:cs typeface="Arial" pitchFamily="34" charset="0"/>
                </a:endParaRPr>
              </a:p>
            </p:txBody>
          </p:sp>
        </mc:Choice>
        <mc:Fallback xmlns="">
          <p:sp>
            <p:nvSpPr>
              <p:cNvPr id="86" name="TextBox 19">
                <a:extLst>
                  <a:ext uri="{FF2B5EF4-FFF2-40B4-BE49-F238E27FC236}">
                    <a16:creationId xmlns:a16="http://schemas.microsoft.com/office/drawing/2014/main" id="{43D130FF-027B-433C-BF4F-A381B032C858}"/>
                  </a:ext>
                </a:extLst>
              </p:cNvPr>
              <p:cNvSpPr txBox="1">
                <a:spLocks noRot="1" noChangeAspect="1" noMove="1" noResize="1" noEditPoints="1" noAdjustHandles="1" noChangeArrowheads="1" noChangeShapeType="1" noTextEdit="1"/>
              </p:cNvSpPr>
              <p:nvPr/>
            </p:nvSpPr>
            <p:spPr bwMode="auto">
              <a:xfrm>
                <a:off x="33294205" y="8506580"/>
                <a:ext cx="9598176" cy="13594982"/>
              </a:xfrm>
              <a:prstGeom prst="rect">
                <a:avLst/>
              </a:prstGeom>
              <a:blipFill>
                <a:blip r:embed="rId5"/>
                <a:stretch>
                  <a:fillRect l="-1017" t="-359" r="-63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87" name="Rectangle 10">
            <a:extLst>
              <a:ext uri="{FF2B5EF4-FFF2-40B4-BE49-F238E27FC236}">
                <a16:creationId xmlns:a16="http://schemas.microsoft.com/office/drawing/2014/main" id="{0BE282AE-183A-4D49-B152-23A5A101BEA6}"/>
              </a:ext>
            </a:extLst>
          </p:cNvPr>
          <p:cNvSpPr>
            <a:spLocks noChangeArrowheads="1"/>
          </p:cNvSpPr>
          <p:nvPr/>
        </p:nvSpPr>
        <p:spPr bwMode="auto">
          <a:xfrm>
            <a:off x="33144541" y="7471321"/>
            <a:ext cx="10058400" cy="873301"/>
          </a:xfrm>
          <a:prstGeom prst="snipRoundRect">
            <a:avLst>
              <a:gd name="adj1" fmla="val 0"/>
              <a:gd name="adj2" fmla="val 50000"/>
            </a:avLst>
          </a:prstGeom>
          <a:solidFill>
            <a:srgbClr val="3684A0"/>
          </a:solidFill>
          <a:ln w="12700">
            <a:noFill/>
            <a:miter lim="800000"/>
          </a:ln>
        </p:spPr>
        <p:txBody>
          <a:bodyPr wrap="none" lIns="274320" tIns="73152" rIns="274320" bIns="68563" anchor="ctr" anchorCtr="0"/>
          <a:lstStyle>
            <a:defPPr>
              <a:defRPr kern="1200"/>
            </a:defPPr>
          </a:lstStyle>
          <a:p>
            <a:pPr defTabSz="4702588">
              <a:defRPr/>
            </a:pPr>
            <a:r>
              <a:rPr lang="en-US" sz="3600" b="1" dirty="0">
                <a:solidFill>
                  <a:schemeClr val="bg1"/>
                </a:solidFill>
                <a:effectLst/>
                <a:latin typeface="Quattrocento" panose="02020802030000000404" pitchFamily="18" charset="0"/>
              </a:rPr>
              <a:t>System Design</a:t>
            </a:r>
          </a:p>
        </p:txBody>
      </p:sp>
      <p:sp>
        <p:nvSpPr>
          <p:cNvPr id="88" name="Rectangle 87">
            <a:extLst>
              <a:ext uri="{FF2B5EF4-FFF2-40B4-BE49-F238E27FC236}">
                <a16:creationId xmlns:a16="http://schemas.microsoft.com/office/drawing/2014/main" id="{236036AE-C83F-4AC9-800C-C6574727635F}"/>
              </a:ext>
            </a:extLst>
          </p:cNvPr>
          <p:cNvSpPr/>
          <p:nvPr/>
        </p:nvSpPr>
        <p:spPr>
          <a:xfrm>
            <a:off x="660482" y="16459201"/>
            <a:ext cx="10058400" cy="6324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latin typeface="+mj-lt"/>
            </a:endParaRPr>
          </a:p>
        </p:txBody>
      </p:sp>
      <p:sp>
        <p:nvSpPr>
          <p:cNvPr id="89" name="TextBox 19">
            <a:extLst>
              <a:ext uri="{FF2B5EF4-FFF2-40B4-BE49-F238E27FC236}">
                <a16:creationId xmlns:a16="http://schemas.microsoft.com/office/drawing/2014/main" id="{9742DD1E-D7E3-4AB1-8A17-D5B59B6AB38B}"/>
              </a:ext>
            </a:extLst>
          </p:cNvPr>
          <p:cNvSpPr txBox="1">
            <a:spLocks noChangeArrowheads="1"/>
          </p:cNvSpPr>
          <p:nvPr/>
        </p:nvSpPr>
        <p:spPr bwMode="auto">
          <a:xfrm>
            <a:off x="838200" y="16629779"/>
            <a:ext cx="9598176" cy="6001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r>
              <a:rPr lang="en-US" sz="2400" dirty="0">
                <a:effectLst/>
                <a:latin typeface="+mn-lt"/>
              </a:rPr>
              <a:t>Electrical Flow Algorithms are a class of optimization methods in graph theory that interpret network flow as electrical current. A graph is treated like an electrical circuit: edges act as resistors with capacities mapped to resistance, nodes function as junctions where current enters or exits, and flow behaves like electrical current governed by Ohm’s Law and Kirchhoff’s Current Law. These algorithms provide a global view of the network and can be solved in nearly linear time using Laplacian solvers, making them faster than many traditional max‑flow methods for large problems. They also produce diverse, robust routing solutions, useful in applications such as GPS navigation. The goal of optimization is to minimize total energy, yielding flows that are both short and well‑distributed. Electrical flow methods underpin several major applications: approximating maximum flows and minimum cuts through iterative electrical‑flow computations, identifying bottleneck edges in network analysis, and supporting Optimal Power Flow (OPF) in smart grids to manage decentralized energy sources like solar and wind. [1]</a:t>
            </a:r>
          </a:p>
        </p:txBody>
      </p:sp>
      <p:sp>
        <p:nvSpPr>
          <p:cNvPr id="90" name="Rectangle 10">
            <a:extLst>
              <a:ext uri="{FF2B5EF4-FFF2-40B4-BE49-F238E27FC236}">
                <a16:creationId xmlns:a16="http://schemas.microsoft.com/office/drawing/2014/main" id="{8C463412-CC68-4A0F-AE72-68EF99EB2F46}"/>
              </a:ext>
            </a:extLst>
          </p:cNvPr>
          <p:cNvSpPr>
            <a:spLocks noChangeArrowheads="1"/>
          </p:cNvSpPr>
          <p:nvPr/>
        </p:nvSpPr>
        <p:spPr bwMode="auto">
          <a:xfrm>
            <a:off x="660482" y="15621000"/>
            <a:ext cx="10058400" cy="873301"/>
          </a:xfrm>
          <a:prstGeom prst="snipRoundRect">
            <a:avLst>
              <a:gd name="adj1" fmla="val 0"/>
              <a:gd name="adj2" fmla="val 50000"/>
            </a:avLst>
          </a:prstGeom>
          <a:solidFill>
            <a:srgbClr val="664F93"/>
          </a:solidFill>
          <a:ln w="12700">
            <a:noFill/>
            <a:miter lim="800000"/>
          </a:ln>
        </p:spPr>
        <p:txBody>
          <a:bodyPr wrap="none" lIns="274320" tIns="73152" rIns="274320" bIns="68563" anchor="ctr" anchorCtr="0"/>
          <a:lstStyle>
            <a:defPPr>
              <a:defRPr kern="1200"/>
            </a:defPPr>
          </a:lstStyle>
          <a:p>
            <a:pPr defTabSz="4702588">
              <a:defRPr/>
            </a:pPr>
            <a:r>
              <a:rPr lang="en-US" sz="3600" b="1">
                <a:solidFill>
                  <a:schemeClr val="bg1"/>
                </a:solidFill>
                <a:effectLst/>
                <a:latin typeface="Quattrocento" panose="02020802030000000404" pitchFamily="18" charset="0"/>
              </a:rPr>
              <a:t>Introduction</a:t>
            </a:r>
          </a:p>
        </p:txBody>
      </p:sp>
      <p:sp>
        <p:nvSpPr>
          <p:cNvPr id="91" name="Rectangle 90">
            <a:extLst>
              <a:ext uri="{FF2B5EF4-FFF2-40B4-BE49-F238E27FC236}">
                <a16:creationId xmlns:a16="http://schemas.microsoft.com/office/drawing/2014/main" id="{65D5CB20-8752-4D75-A601-0EEB3443D27F}"/>
              </a:ext>
            </a:extLst>
          </p:cNvPr>
          <p:cNvSpPr/>
          <p:nvPr/>
        </p:nvSpPr>
        <p:spPr>
          <a:xfrm>
            <a:off x="33147000" y="27355800"/>
            <a:ext cx="10058400" cy="487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latin typeface="+mj-lt"/>
            </a:endParaRPr>
          </a:p>
        </p:txBody>
      </p:sp>
      <p:sp>
        <p:nvSpPr>
          <p:cNvPr id="92" name="TextBox 19">
            <a:extLst>
              <a:ext uri="{FF2B5EF4-FFF2-40B4-BE49-F238E27FC236}">
                <a16:creationId xmlns:a16="http://schemas.microsoft.com/office/drawing/2014/main" id="{B4F3D693-DA0F-454D-94C0-CEAA07C14AE3}"/>
              </a:ext>
            </a:extLst>
          </p:cNvPr>
          <p:cNvSpPr txBox="1">
            <a:spLocks noChangeArrowheads="1"/>
          </p:cNvSpPr>
          <p:nvPr/>
        </p:nvSpPr>
        <p:spPr bwMode="auto">
          <a:xfrm>
            <a:off x="33377113" y="28041600"/>
            <a:ext cx="9598176" cy="3438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2400" b="1" dirty="0">
                <a:effectLst/>
                <a:latin typeface="+mj-lt"/>
              </a:rPr>
              <a:t>References:</a:t>
            </a:r>
          </a:p>
          <a:p>
            <a:endParaRPr lang="en-US" sz="2400" dirty="0">
              <a:effectLst/>
              <a:latin typeface="+mj-lt"/>
            </a:endParaRPr>
          </a:p>
          <a:p>
            <a:r>
              <a:rPr lang="en-US" sz="2400" dirty="0">
                <a:effectLst/>
                <a:latin typeface="+mj-lt"/>
              </a:rPr>
              <a:t>[1] Graph-Based Power Flow Solution Methods for Electric Power Systems, Ayman M. OTHMAN MOHAMED, Waterloo, Ontario, Canada, 2022.</a:t>
            </a:r>
          </a:p>
          <a:p>
            <a:endParaRPr lang="en-US" sz="2400" dirty="0">
              <a:effectLst/>
              <a:latin typeface="+mj-lt"/>
            </a:endParaRPr>
          </a:p>
          <a:p>
            <a:r>
              <a:rPr lang="en-US" sz="2400" dirty="0">
                <a:effectLst/>
                <a:latin typeface="+mj-lt"/>
              </a:rPr>
              <a:t>[2] Network Flow Algorithm 2019, Davis P. Williamson, Cornell University</a:t>
            </a:r>
          </a:p>
          <a:p>
            <a:endParaRPr lang="en-US" sz="2400" dirty="0">
              <a:effectLst/>
              <a:latin typeface="+mj-lt"/>
            </a:endParaRPr>
          </a:p>
          <a:p>
            <a:r>
              <a:rPr lang="en-US" sz="2400" dirty="0">
                <a:effectLst/>
                <a:latin typeface="+mj-lt"/>
              </a:rPr>
              <a:t>[3] http://en.wikipedia.org/wiki/Edmonds%E2%80%93Karp_algorithm.</a:t>
            </a:r>
          </a:p>
          <a:p>
            <a:pPr algn="just">
              <a:lnSpc>
                <a:spcPct val="110000"/>
              </a:lnSpc>
            </a:pPr>
            <a:endParaRPr lang="en-US" sz="2400" dirty="0">
              <a:effectLst/>
              <a:latin typeface="Quattrocento Sans" panose="020B0502050000020003" pitchFamily="34" charset="0"/>
              <a:cs typeface="Arial" pitchFamily="34" charset="0"/>
            </a:endParaRPr>
          </a:p>
        </p:txBody>
      </p:sp>
      <p:sp>
        <p:nvSpPr>
          <p:cNvPr id="93" name="Rectangle 10">
            <a:extLst>
              <a:ext uri="{FF2B5EF4-FFF2-40B4-BE49-F238E27FC236}">
                <a16:creationId xmlns:a16="http://schemas.microsoft.com/office/drawing/2014/main" id="{5EDC1F28-88BB-4DAD-9112-B4904B4A7E46}"/>
              </a:ext>
            </a:extLst>
          </p:cNvPr>
          <p:cNvSpPr>
            <a:spLocks noChangeArrowheads="1"/>
          </p:cNvSpPr>
          <p:nvPr/>
        </p:nvSpPr>
        <p:spPr bwMode="auto">
          <a:xfrm>
            <a:off x="33147000" y="26913976"/>
            <a:ext cx="10058400" cy="873301"/>
          </a:xfrm>
          <a:prstGeom prst="snipRoundRect">
            <a:avLst>
              <a:gd name="adj1" fmla="val 0"/>
              <a:gd name="adj2" fmla="val 46622"/>
            </a:avLst>
          </a:prstGeom>
          <a:solidFill>
            <a:schemeClr val="accent1"/>
          </a:solidFill>
          <a:ln w="12700">
            <a:noFill/>
            <a:miter lim="800000"/>
          </a:ln>
        </p:spPr>
        <p:txBody>
          <a:bodyPr wrap="none" lIns="274320" tIns="73152" rIns="274320" bIns="68563" anchor="ctr" anchorCtr="0"/>
          <a:lstStyle>
            <a:defPPr>
              <a:defRPr kern="1200"/>
            </a:defPPr>
          </a:lstStyle>
          <a:p>
            <a:pPr defTabSz="4702588">
              <a:defRPr/>
            </a:pPr>
            <a:r>
              <a:rPr lang="en-US" sz="3600" b="1" dirty="0">
                <a:solidFill>
                  <a:schemeClr val="bg1"/>
                </a:solidFill>
                <a:effectLst/>
                <a:latin typeface="Quattrocento" panose="02020802030000000404" pitchFamily="18" charset="0"/>
              </a:rPr>
              <a:t>Bibliography</a:t>
            </a:r>
          </a:p>
        </p:txBody>
      </p:sp>
      <p:sp>
        <p:nvSpPr>
          <p:cNvPr id="2" name="Rectangle 1">
            <a:extLst>
              <a:ext uri="{FF2B5EF4-FFF2-40B4-BE49-F238E27FC236}">
                <a16:creationId xmlns:a16="http://schemas.microsoft.com/office/drawing/2014/main" id="{6E1480F0-EDD2-7390-8689-4E0E8867F6D6}"/>
              </a:ext>
            </a:extLst>
          </p:cNvPr>
          <p:cNvSpPr/>
          <p:nvPr/>
        </p:nvSpPr>
        <p:spPr>
          <a:xfrm>
            <a:off x="696686" y="23809501"/>
            <a:ext cx="10058400" cy="4672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latin typeface="+mj-lt"/>
            </a:endParaRPr>
          </a:p>
        </p:txBody>
      </p:sp>
      <p:sp>
        <p:nvSpPr>
          <p:cNvPr id="3" name="Rectangle 10">
            <a:extLst>
              <a:ext uri="{FF2B5EF4-FFF2-40B4-BE49-F238E27FC236}">
                <a16:creationId xmlns:a16="http://schemas.microsoft.com/office/drawing/2014/main" id="{F4C495F6-34EB-90E2-0BB8-ABA46BCD82A9}"/>
              </a:ext>
            </a:extLst>
          </p:cNvPr>
          <p:cNvSpPr>
            <a:spLocks noChangeArrowheads="1"/>
          </p:cNvSpPr>
          <p:nvPr/>
        </p:nvSpPr>
        <p:spPr bwMode="auto">
          <a:xfrm>
            <a:off x="696686" y="22936200"/>
            <a:ext cx="10058400" cy="1164165"/>
          </a:xfrm>
          <a:prstGeom prst="snipRoundRect">
            <a:avLst>
              <a:gd name="adj1" fmla="val 0"/>
              <a:gd name="adj2" fmla="val 50000"/>
            </a:avLst>
          </a:prstGeom>
          <a:solidFill>
            <a:schemeClr val="accent3"/>
          </a:solidFill>
          <a:ln w="12700">
            <a:solidFill>
              <a:schemeClr val="accent3">
                <a:lumMod val="75000"/>
              </a:schemeClr>
            </a:solidFill>
            <a:miter lim="800000"/>
          </a:ln>
        </p:spPr>
        <p:txBody>
          <a:bodyPr wrap="none" lIns="274320" tIns="73152" rIns="274320" bIns="68563" anchor="ctr" anchorCtr="0"/>
          <a:lstStyle>
            <a:defPPr>
              <a:defRPr kern="1200"/>
            </a:defPPr>
          </a:lstStyle>
          <a:p>
            <a:pPr defTabSz="4702588">
              <a:defRPr/>
            </a:pPr>
            <a:r>
              <a:rPr lang="en-US" sz="3600" b="1" dirty="0">
                <a:solidFill>
                  <a:schemeClr val="bg1"/>
                </a:solidFill>
                <a:effectLst/>
                <a:latin typeface="Quattrocento" panose="02020802030000000404" pitchFamily="18" charset="0"/>
              </a:rPr>
              <a:t>Objective</a:t>
            </a:r>
          </a:p>
        </p:txBody>
      </p:sp>
      <p:sp>
        <p:nvSpPr>
          <p:cNvPr id="4" name="TextBox 19">
            <a:extLst>
              <a:ext uri="{FF2B5EF4-FFF2-40B4-BE49-F238E27FC236}">
                <a16:creationId xmlns:a16="http://schemas.microsoft.com/office/drawing/2014/main" id="{39BF1848-614D-58FD-E26E-4D61E711199F}"/>
              </a:ext>
            </a:extLst>
          </p:cNvPr>
          <p:cNvSpPr txBox="1">
            <a:spLocks noChangeArrowheads="1"/>
          </p:cNvSpPr>
          <p:nvPr/>
        </p:nvSpPr>
        <p:spPr bwMode="auto">
          <a:xfrm>
            <a:off x="901480" y="24105275"/>
            <a:ext cx="9598176" cy="4154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r>
              <a:rPr lang="en-US" sz="2400" dirty="0">
                <a:effectLst/>
                <a:latin typeface="+mn-lt"/>
              </a:rPr>
              <a:t>This project seeks a simplified approach to model and optimize power flow in a small‑scale distribution network using principles of network‑flow theory. The electrical system is represented as a directed flow graph, where nodes denote physical components and edges correspond to transmission lines with defined capacity limits. A super‑sink node aggregates consumer demand, enabling the application of classical maximum‑flow algorithms. The Edmonds–Karp algorithm—an implementation of the Ford–Fulkerson method that employs breadth‑first search (BFS) to identify augmenting paths—is used to determine the maximum feasible power transfer across the network.</a:t>
            </a:r>
          </a:p>
          <a:p>
            <a:endParaRPr lang="en-US" sz="2400" dirty="0">
              <a:effectLst/>
              <a:latin typeface="+mn-lt"/>
            </a:endParaRPr>
          </a:p>
        </p:txBody>
      </p:sp>
      <p:pic>
        <p:nvPicPr>
          <p:cNvPr id="1025" name="Picture 122">
            <a:extLst>
              <a:ext uri="{FF2B5EF4-FFF2-40B4-BE49-F238E27FC236}">
                <a16:creationId xmlns:a16="http://schemas.microsoft.com/office/drawing/2014/main" id="{95BD82EF-1C4E-9BC1-F8F2-1129302CC4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45720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22">
            <a:extLst>
              <a:ext uri="{FF2B5EF4-FFF2-40B4-BE49-F238E27FC236}">
                <a16:creationId xmlns:a16="http://schemas.microsoft.com/office/drawing/2014/main" id="{8DF60B59-A1A1-715B-6078-DE2804D7A5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60960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122">
            <a:extLst>
              <a:ext uri="{FF2B5EF4-FFF2-40B4-BE49-F238E27FC236}">
                <a16:creationId xmlns:a16="http://schemas.microsoft.com/office/drawing/2014/main" id="{4BC0B15F-DF7D-1DD2-AF4A-9D3285EAD4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762000"/>
            <a:ext cx="9525" cy="9525"/>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 25">
            <a:extLst>
              <a:ext uri="{FF2B5EF4-FFF2-40B4-BE49-F238E27FC236}">
                <a16:creationId xmlns:a16="http://schemas.microsoft.com/office/drawing/2014/main" id="{68A57191-D034-252A-7A1F-2421FCBCBAAD}"/>
              </a:ext>
            </a:extLst>
          </p:cNvPr>
          <p:cNvGrpSpPr/>
          <p:nvPr/>
        </p:nvGrpSpPr>
        <p:grpSpPr>
          <a:xfrm>
            <a:off x="12195041" y="15718799"/>
            <a:ext cx="3810000" cy="2411972"/>
            <a:chOff x="12195041" y="15718799"/>
            <a:chExt cx="3810000" cy="2411972"/>
          </a:xfrm>
        </p:grpSpPr>
        <p:pic>
          <p:nvPicPr>
            <p:cNvPr id="6" name="Picture 5">
              <a:extLst>
                <a:ext uri="{FF2B5EF4-FFF2-40B4-BE49-F238E27FC236}">
                  <a16:creationId xmlns:a16="http://schemas.microsoft.com/office/drawing/2014/main" id="{5988EE07-A9E9-5BEA-62A4-61A032B05DA8}"/>
                </a:ext>
              </a:extLst>
            </p:cNvPr>
            <p:cNvPicPr>
              <a:picLocks noChangeAspect="1"/>
            </p:cNvPicPr>
            <p:nvPr/>
          </p:nvPicPr>
          <p:blipFill rotWithShape="1">
            <a:blip r:embed="rId7">
              <a:extLst>
                <a:ext uri="{28A0092B-C50C-407E-A947-70E740481C1C}">
                  <a14:useLocalDpi xmlns:a14="http://schemas.microsoft.com/office/drawing/2010/main" val="0"/>
                </a:ext>
              </a:extLst>
            </a:blip>
            <a:srcRect l="31742" t="8240" r="32509" b="42300"/>
            <a:stretch>
              <a:fillRect/>
            </a:stretch>
          </p:blipFill>
          <p:spPr bwMode="auto">
            <a:xfrm>
              <a:off x="12451920" y="15718799"/>
              <a:ext cx="3505200" cy="1976717"/>
            </a:xfrm>
            <a:prstGeom prst="rect">
              <a:avLst/>
            </a:prstGeom>
            <a:ln>
              <a:noFill/>
            </a:ln>
            <a:extLst>
              <a:ext uri="{53640926-AAD7-44D8-BBD7-CCE9431645EC}">
                <a14:shadowObscured xmlns:a14="http://schemas.microsoft.com/office/drawing/2010/main"/>
              </a:ext>
            </a:extLst>
          </p:spPr>
        </p:pic>
        <p:sp>
          <p:nvSpPr>
            <p:cNvPr id="14" name="TextBox 13">
              <a:extLst>
                <a:ext uri="{FF2B5EF4-FFF2-40B4-BE49-F238E27FC236}">
                  <a16:creationId xmlns:a16="http://schemas.microsoft.com/office/drawing/2014/main" id="{27CA813D-3E48-85D0-A2E5-239663B04C9D}"/>
                </a:ext>
              </a:extLst>
            </p:cNvPr>
            <p:cNvSpPr txBox="1"/>
            <p:nvPr/>
          </p:nvSpPr>
          <p:spPr>
            <a:xfrm>
              <a:off x="12195041" y="17792217"/>
              <a:ext cx="3810000" cy="338554"/>
            </a:xfrm>
            <a:prstGeom prst="rect">
              <a:avLst/>
            </a:prstGeom>
            <a:noFill/>
          </p:spPr>
          <p:txBody>
            <a:bodyPr wrap="square" rtlCol="0">
              <a:spAutoFit/>
            </a:bodyPr>
            <a:lstStyle/>
            <a:p>
              <a:r>
                <a:rPr lang="en-US" sz="1600" dirty="0">
                  <a:effectLst/>
                  <a:latin typeface="+mj-lt"/>
                  <a:ea typeface="ＭＳ Ｐゴシック" pitchFamily="-106" charset="-128"/>
                </a:rPr>
                <a:t>Figure 1: example of an electrical network</a:t>
              </a:r>
            </a:p>
          </p:txBody>
        </p:sp>
      </p:grpSp>
      <p:grpSp>
        <p:nvGrpSpPr>
          <p:cNvPr id="27" name="Group 26">
            <a:extLst>
              <a:ext uri="{FF2B5EF4-FFF2-40B4-BE49-F238E27FC236}">
                <a16:creationId xmlns:a16="http://schemas.microsoft.com/office/drawing/2014/main" id="{55A40A56-04A0-C968-4BE1-FCC66BEDD438}"/>
              </a:ext>
            </a:extLst>
          </p:cNvPr>
          <p:cNvGrpSpPr/>
          <p:nvPr/>
        </p:nvGrpSpPr>
        <p:grpSpPr>
          <a:xfrm>
            <a:off x="16464074" y="15611147"/>
            <a:ext cx="4628990" cy="3210253"/>
            <a:chOff x="16464074" y="15611147"/>
            <a:chExt cx="4628990" cy="3381399"/>
          </a:xfrm>
        </p:grpSpPr>
        <p:pic>
          <p:nvPicPr>
            <p:cNvPr id="12" name="Picture 11">
              <a:extLst>
                <a:ext uri="{FF2B5EF4-FFF2-40B4-BE49-F238E27FC236}">
                  <a16:creationId xmlns:a16="http://schemas.microsoft.com/office/drawing/2014/main" id="{CEF9A0E9-18AE-C3AE-56A5-CC4BC32ADE8D}"/>
                </a:ext>
              </a:extLst>
            </p:cNvPr>
            <p:cNvPicPr>
              <a:picLocks noChangeAspect="1"/>
            </p:cNvPicPr>
            <p:nvPr/>
          </p:nvPicPr>
          <p:blipFill rotWithShape="1">
            <a:blip r:embed="rId8">
              <a:extLst>
                <a:ext uri="{28A0092B-C50C-407E-A947-70E740481C1C}">
                  <a14:useLocalDpi xmlns:a14="http://schemas.microsoft.com/office/drawing/2010/main" val="0"/>
                </a:ext>
              </a:extLst>
            </a:blip>
            <a:srcRect l="29473" r="22561" b="24364"/>
            <a:stretch>
              <a:fillRect/>
            </a:stretch>
          </p:blipFill>
          <p:spPr bwMode="auto">
            <a:xfrm>
              <a:off x="16792007" y="15611147"/>
              <a:ext cx="3726181" cy="2192020"/>
            </a:xfrm>
            <a:prstGeom prst="rect">
              <a:avLst/>
            </a:prstGeom>
            <a:ln>
              <a:noFill/>
            </a:ln>
            <a:extLst>
              <a:ext uri="{53640926-AAD7-44D8-BBD7-CCE9431645EC}">
                <a14:shadowObscured xmlns:a14="http://schemas.microsoft.com/office/drawing/2010/main"/>
              </a:ext>
            </a:extLst>
          </p:spPr>
        </p:pic>
        <p:sp>
          <p:nvSpPr>
            <p:cNvPr id="15" name="TextBox 14">
              <a:extLst>
                <a:ext uri="{FF2B5EF4-FFF2-40B4-BE49-F238E27FC236}">
                  <a16:creationId xmlns:a16="http://schemas.microsoft.com/office/drawing/2014/main" id="{A7B78241-CFFE-6F49-2503-ACCAB5913CE2}"/>
                </a:ext>
              </a:extLst>
            </p:cNvPr>
            <p:cNvSpPr txBox="1"/>
            <p:nvPr/>
          </p:nvSpPr>
          <p:spPr>
            <a:xfrm>
              <a:off x="16464074" y="17792217"/>
              <a:ext cx="4628990" cy="1200329"/>
            </a:xfrm>
            <a:prstGeom prst="rect">
              <a:avLst/>
            </a:prstGeom>
            <a:noFill/>
          </p:spPr>
          <p:txBody>
            <a:bodyPr wrap="square" rtlCol="0">
              <a:spAutoFit/>
            </a:bodyPr>
            <a:lstStyle/>
            <a:p>
              <a:pPr algn="just"/>
              <a:r>
                <a:rPr lang="en-US" sz="1600" dirty="0">
                  <a:effectLst/>
                  <a:latin typeface="+mj-lt"/>
                  <a:ea typeface="ＭＳ Ｐゴシック" pitchFamily="-106" charset="-128"/>
                </a:rPr>
                <a:t>Figure 2: nodes display potential (volts), and edges are labeled with the current flow (amps) through  resistance (ohms).</a:t>
              </a:r>
            </a:p>
            <a:p>
              <a:pPr algn="just"/>
              <a:endParaRPr lang="en-US" dirty="0">
                <a:effectLst/>
              </a:endParaRPr>
            </a:p>
          </p:txBody>
        </p:sp>
      </p:grpSp>
      <p:sp>
        <p:nvSpPr>
          <p:cNvPr id="23" name="Rectangle 22">
            <a:extLst>
              <a:ext uri="{FF2B5EF4-FFF2-40B4-BE49-F238E27FC236}">
                <a16:creationId xmlns:a16="http://schemas.microsoft.com/office/drawing/2014/main" id="{0BBC2049-E8B0-61A8-0F2A-AA4040CE7437}"/>
              </a:ext>
            </a:extLst>
          </p:cNvPr>
          <p:cNvSpPr/>
          <p:nvPr/>
        </p:nvSpPr>
        <p:spPr>
          <a:xfrm>
            <a:off x="685800" y="29541146"/>
            <a:ext cx="10058400" cy="29734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latin typeface="+mj-lt"/>
            </a:endParaRPr>
          </a:p>
        </p:txBody>
      </p:sp>
      <p:sp>
        <p:nvSpPr>
          <p:cNvPr id="24" name="Rectangle 10">
            <a:extLst>
              <a:ext uri="{FF2B5EF4-FFF2-40B4-BE49-F238E27FC236}">
                <a16:creationId xmlns:a16="http://schemas.microsoft.com/office/drawing/2014/main" id="{7F9C11DA-3E41-27F0-69A0-DA714CCF9B2A}"/>
              </a:ext>
            </a:extLst>
          </p:cNvPr>
          <p:cNvSpPr>
            <a:spLocks noChangeArrowheads="1"/>
          </p:cNvSpPr>
          <p:nvPr/>
        </p:nvSpPr>
        <p:spPr bwMode="auto">
          <a:xfrm>
            <a:off x="685800" y="28667845"/>
            <a:ext cx="10058400" cy="1164165"/>
          </a:xfrm>
          <a:prstGeom prst="snipRoundRect">
            <a:avLst>
              <a:gd name="adj1" fmla="val 0"/>
              <a:gd name="adj2" fmla="val 50000"/>
            </a:avLst>
          </a:prstGeom>
          <a:solidFill>
            <a:schemeClr val="accent6">
              <a:lumMod val="60000"/>
              <a:lumOff val="40000"/>
            </a:schemeClr>
          </a:solidFill>
          <a:ln w="12700">
            <a:noFill/>
            <a:miter lim="800000"/>
          </a:ln>
        </p:spPr>
        <p:txBody>
          <a:bodyPr wrap="none" lIns="274320" tIns="73152" rIns="274320" bIns="68563" anchor="ctr" anchorCtr="0"/>
          <a:lstStyle>
            <a:defPPr>
              <a:defRPr kern="1200"/>
            </a:defPPr>
          </a:lstStyle>
          <a:p>
            <a:pPr defTabSz="4702588">
              <a:defRPr/>
            </a:pPr>
            <a:r>
              <a:rPr lang="en-US" sz="3600" b="1" dirty="0">
                <a:solidFill>
                  <a:schemeClr val="bg1"/>
                </a:solidFill>
                <a:effectLst/>
                <a:latin typeface="Quattrocento" panose="02020802030000000404" pitchFamily="18" charset="0"/>
              </a:rPr>
              <a:t>Methodology</a:t>
            </a:r>
          </a:p>
        </p:txBody>
      </p:sp>
      <p:sp>
        <p:nvSpPr>
          <p:cNvPr id="25" name="TextBox 19">
            <a:extLst>
              <a:ext uri="{FF2B5EF4-FFF2-40B4-BE49-F238E27FC236}">
                <a16:creationId xmlns:a16="http://schemas.microsoft.com/office/drawing/2014/main" id="{C53A4F6A-2BCD-446F-2AA7-D54349221F56}"/>
              </a:ext>
            </a:extLst>
          </p:cNvPr>
          <p:cNvSpPr txBox="1">
            <a:spLocks noChangeArrowheads="1"/>
          </p:cNvSpPr>
          <p:nvPr/>
        </p:nvSpPr>
        <p:spPr bwMode="auto">
          <a:xfrm>
            <a:off x="890594" y="29836920"/>
            <a:ext cx="9598176" cy="2677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2400" b="1" dirty="0">
                <a:effectLst/>
                <a:latin typeface="+mn-lt"/>
              </a:rPr>
              <a:t>1. Electrical flow:</a:t>
            </a:r>
          </a:p>
          <a:p>
            <a:pPr algn="just"/>
            <a:r>
              <a:rPr lang="en-US" sz="2400" dirty="0">
                <a:effectLst/>
                <a:latin typeface="+mn-lt"/>
              </a:rPr>
              <a:t>This section explores electrical flows within resistor networks and their connections to graph theory, with applications to computing maximum flows in undirected graphs and graph scarification. It also introduces an algorithm for computing these flows, which shares similarities with the network simplex algorithm.</a:t>
            </a:r>
          </a:p>
          <a:p>
            <a:endParaRPr lang="en-US" sz="2400" dirty="0">
              <a:effectLst/>
              <a:latin typeface="+mn-lt"/>
            </a:endParaRPr>
          </a:p>
        </p:txBody>
      </p:sp>
      <p:grpSp>
        <p:nvGrpSpPr>
          <p:cNvPr id="7" name="Group 6">
            <a:extLst>
              <a:ext uri="{FF2B5EF4-FFF2-40B4-BE49-F238E27FC236}">
                <a16:creationId xmlns:a16="http://schemas.microsoft.com/office/drawing/2014/main" id="{C19D8991-34B0-FFDD-B094-B7BA48B0AAE9}"/>
              </a:ext>
            </a:extLst>
          </p:cNvPr>
          <p:cNvGrpSpPr/>
          <p:nvPr/>
        </p:nvGrpSpPr>
        <p:grpSpPr>
          <a:xfrm>
            <a:off x="22174200" y="13613130"/>
            <a:ext cx="3694731" cy="2007870"/>
            <a:chOff x="22174200" y="13613130"/>
            <a:chExt cx="3694731" cy="2007870"/>
          </a:xfrm>
        </p:grpSpPr>
        <p:pic>
          <p:nvPicPr>
            <p:cNvPr id="29" name="Picture 28">
              <a:extLst>
                <a:ext uri="{FF2B5EF4-FFF2-40B4-BE49-F238E27FC236}">
                  <a16:creationId xmlns:a16="http://schemas.microsoft.com/office/drawing/2014/main" id="{FDD9378D-D033-A627-433C-0FB16565B1F6}"/>
                </a:ext>
              </a:extLst>
            </p:cNvPr>
            <p:cNvPicPr>
              <a:picLocks noChangeAspect="1"/>
            </p:cNvPicPr>
            <p:nvPr/>
          </p:nvPicPr>
          <p:blipFill rotWithShape="1">
            <a:blip r:embed="rId9">
              <a:extLst>
                <a:ext uri="{28A0092B-C50C-407E-A947-70E740481C1C}">
                  <a14:useLocalDpi xmlns:a14="http://schemas.microsoft.com/office/drawing/2010/main" val="0"/>
                </a:ext>
              </a:extLst>
            </a:blip>
            <a:srcRect l="16390" r="11438" b="16107"/>
            <a:stretch>
              <a:fillRect/>
            </a:stretch>
          </p:blipFill>
          <p:spPr bwMode="auto">
            <a:xfrm>
              <a:off x="22555200" y="13613130"/>
              <a:ext cx="3313731" cy="1398270"/>
            </a:xfrm>
            <a:prstGeom prst="rect">
              <a:avLst/>
            </a:prstGeom>
            <a:ln>
              <a:noFill/>
            </a:ln>
            <a:extLst>
              <a:ext uri="{53640926-AAD7-44D8-BBD7-CCE9431645EC}">
                <a14:shadowObscured xmlns:a14="http://schemas.microsoft.com/office/drawing/2010/main"/>
              </a:ext>
            </a:extLst>
          </p:spPr>
        </p:pic>
        <p:sp>
          <p:nvSpPr>
            <p:cNvPr id="32" name="TextBox 31">
              <a:extLst>
                <a:ext uri="{FF2B5EF4-FFF2-40B4-BE49-F238E27FC236}">
                  <a16:creationId xmlns:a16="http://schemas.microsoft.com/office/drawing/2014/main" id="{B7E00574-4114-4C97-5D65-10519145ABD2}"/>
                </a:ext>
              </a:extLst>
            </p:cNvPr>
            <p:cNvSpPr txBox="1"/>
            <p:nvPr/>
          </p:nvSpPr>
          <p:spPr>
            <a:xfrm>
              <a:off x="22174200" y="15036225"/>
              <a:ext cx="3653812" cy="584775"/>
            </a:xfrm>
            <a:prstGeom prst="rect">
              <a:avLst/>
            </a:prstGeom>
            <a:noFill/>
          </p:spPr>
          <p:txBody>
            <a:bodyPr wrap="square" rtlCol="0">
              <a:spAutoFit/>
            </a:bodyPr>
            <a:lstStyle/>
            <a:p>
              <a:pPr algn="ctr"/>
              <a:r>
                <a:rPr lang="en-US" sz="1600" dirty="0">
                  <a:effectLst/>
                </a:rPr>
                <a:t>Figure 3: 4-bus test system one line diagram</a:t>
              </a:r>
              <a:endParaRPr lang="en-US" sz="1600" dirty="0"/>
            </a:p>
          </p:txBody>
        </p:sp>
      </p:grpSp>
      <p:grpSp>
        <p:nvGrpSpPr>
          <p:cNvPr id="8" name="Group 7">
            <a:extLst>
              <a:ext uri="{FF2B5EF4-FFF2-40B4-BE49-F238E27FC236}">
                <a16:creationId xmlns:a16="http://schemas.microsoft.com/office/drawing/2014/main" id="{77BA861A-BB4D-EA30-99AB-69FD4BAA657C}"/>
              </a:ext>
            </a:extLst>
          </p:cNvPr>
          <p:cNvGrpSpPr/>
          <p:nvPr/>
        </p:nvGrpSpPr>
        <p:grpSpPr>
          <a:xfrm>
            <a:off x="25748100" y="13532888"/>
            <a:ext cx="3131700" cy="2037273"/>
            <a:chOff x="25748100" y="13532888"/>
            <a:chExt cx="3131700" cy="2037273"/>
          </a:xfrm>
        </p:grpSpPr>
        <p:pic>
          <p:nvPicPr>
            <p:cNvPr id="30" name="Picture 29">
              <a:extLst>
                <a:ext uri="{FF2B5EF4-FFF2-40B4-BE49-F238E27FC236}">
                  <a16:creationId xmlns:a16="http://schemas.microsoft.com/office/drawing/2014/main" id="{4BB9C3A4-D3A0-2EB2-9959-BEE826F30A30}"/>
                </a:ext>
              </a:extLst>
            </p:cNvPr>
            <p:cNvPicPr>
              <a:picLocks noChangeAspect="1"/>
            </p:cNvPicPr>
            <p:nvPr/>
          </p:nvPicPr>
          <p:blipFill rotWithShape="1">
            <a:blip r:embed="rId10">
              <a:extLst>
                <a:ext uri="{28A0092B-C50C-407E-A947-70E740481C1C}">
                  <a14:useLocalDpi xmlns:a14="http://schemas.microsoft.com/office/drawing/2010/main" val="0"/>
                </a:ext>
              </a:extLst>
            </a:blip>
            <a:srcRect b="19456"/>
            <a:stretch>
              <a:fillRect/>
            </a:stretch>
          </p:blipFill>
          <p:spPr bwMode="auto">
            <a:xfrm>
              <a:off x="25831800" y="13532888"/>
              <a:ext cx="3048000" cy="1412783"/>
            </a:xfrm>
            <a:prstGeom prst="rect">
              <a:avLst/>
            </a:prstGeom>
            <a:ln>
              <a:noFill/>
            </a:ln>
            <a:extLst>
              <a:ext uri="{53640926-AAD7-44D8-BBD7-CCE9431645EC}">
                <a14:shadowObscured xmlns:a14="http://schemas.microsoft.com/office/drawing/2010/main"/>
              </a:ext>
            </a:extLst>
          </p:spPr>
        </p:pic>
        <p:sp>
          <p:nvSpPr>
            <p:cNvPr id="33" name="TextBox 32">
              <a:extLst>
                <a:ext uri="{FF2B5EF4-FFF2-40B4-BE49-F238E27FC236}">
                  <a16:creationId xmlns:a16="http://schemas.microsoft.com/office/drawing/2014/main" id="{11362DC1-1E43-7DF1-0FCF-477D3EBC0855}"/>
                </a:ext>
              </a:extLst>
            </p:cNvPr>
            <p:cNvSpPr txBox="1"/>
            <p:nvPr/>
          </p:nvSpPr>
          <p:spPr>
            <a:xfrm>
              <a:off x="25748100" y="14985386"/>
              <a:ext cx="3026723" cy="584775"/>
            </a:xfrm>
            <a:prstGeom prst="rect">
              <a:avLst/>
            </a:prstGeom>
            <a:noFill/>
          </p:spPr>
          <p:txBody>
            <a:bodyPr wrap="square" rtlCol="0">
              <a:spAutoFit/>
            </a:bodyPr>
            <a:lstStyle/>
            <a:p>
              <a:pPr algn="ctr"/>
              <a:r>
                <a:rPr lang="en-US" sz="1600" dirty="0">
                  <a:effectLst/>
                </a:rPr>
                <a:t>Figure 4: 4-bus test system in graph form</a:t>
              </a:r>
              <a:endParaRPr lang="en-US" sz="1600" dirty="0"/>
            </a:p>
          </p:txBody>
        </p:sp>
      </p:grpSp>
      <p:grpSp>
        <p:nvGrpSpPr>
          <p:cNvPr id="9" name="Group 8">
            <a:extLst>
              <a:ext uri="{FF2B5EF4-FFF2-40B4-BE49-F238E27FC236}">
                <a16:creationId xmlns:a16="http://schemas.microsoft.com/office/drawing/2014/main" id="{B8B97AFA-C5DB-8D74-6FFF-5C528210A424}"/>
              </a:ext>
            </a:extLst>
          </p:cNvPr>
          <p:cNvGrpSpPr/>
          <p:nvPr/>
        </p:nvGrpSpPr>
        <p:grpSpPr>
          <a:xfrm>
            <a:off x="28934923" y="13466305"/>
            <a:ext cx="3145277" cy="2053670"/>
            <a:chOff x="28934923" y="13466305"/>
            <a:chExt cx="3145277" cy="2053670"/>
          </a:xfrm>
        </p:grpSpPr>
        <p:pic>
          <p:nvPicPr>
            <p:cNvPr id="31" name="Picture 30">
              <a:extLst>
                <a:ext uri="{FF2B5EF4-FFF2-40B4-BE49-F238E27FC236}">
                  <a16:creationId xmlns:a16="http://schemas.microsoft.com/office/drawing/2014/main" id="{72EC7C4E-5D6D-114B-46E1-4C4655E3FFB3}"/>
                </a:ext>
              </a:extLst>
            </p:cNvPr>
            <p:cNvPicPr>
              <a:picLocks noChangeAspect="1"/>
            </p:cNvPicPr>
            <p:nvPr/>
          </p:nvPicPr>
          <p:blipFill rotWithShape="1">
            <a:blip r:embed="rId11">
              <a:extLst>
                <a:ext uri="{28A0092B-C50C-407E-A947-70E740481C1C}">
                  <a14:useLocalDpi xmlns:a14="http://schemas.microsoft.com/office/drawing/2010/main" val="0"/>
                </a:ext>
              </a:extLst>
            </a:blip>
            <a:srcRect b="19156"/>
            <a:stretch>
              <a:fillRect/>
            </a:stretch>
          </p:blipFill>
          <p:spPr bwMode="auto">
            <a:xfrm>
              <a:off x="28934923" y="13466305"/>
              <a:ext cx="3145277" cy="1412783"/>
            </a:xfrm>
            <a:prstGeom prst="rect">
              <a:avLst/>
            </a:prstGeom>
            <a:ln>
              <a:noFill/>
            </a:ln>
            <a:extLst>
              <a:ext uri="{53640926-AAD7-44D8-BBD7-CCE9431645EC}">
                <a14:shadowObscured xmlns:a14="http://schemas.microsoft.com/office/drawing/2010/main"/>
              </a:ext>
            </a:extLst>
          </p:spPr>
        </p:pic>
        <p:sp>
          <p:nvSpPr>
            <p:cNvPr id="34" name="TextBox 33">
              <a:extLst>
                <a:ext uri="{FF2B5EF4-FFF2-40B4-BE49-F238E27FC236}">
                  <a16:creationId xmlns:a16="http://schemas.microsoft.com/office/drawing/2014/main" id="{13FF278B-2C51-2028-83F9-17EA1DF2A0B8}"/>
                </a:ext>
              </a:extLst>
            </p:cNvPr>
            <p:cNvSpPr txBox="1"/>
            <p:nvPr/>
          </p:nvSpPr>
          <p:spPr>
            <a:xfrm>
              <a:off x="29108400" y="14935200"/>
              <a:ext cx="2895600" cy="584775"/>
            </a:xfrm>
            <a:prstGeom prst="rect">
              <a:avLst/>
            </a:prstGeom>
            <a:noFill/>
          </p:spPr>
          <p:txBody>
            <a:bodyPr wrap="square" rtlCol="0">
              <a:spAutoFit/>
            </a:bodyPr>
            <a:lstStyle/>
            <a:p>
              <a:pPr algn="ctr"/>
              <a:r>
                <a:rPr lang="en-US" sz="1600" dirty="0">
                  <a:effectLst/>
                </a:rPr>
                <a:t>Figure 5: 4-bus test system in s-t from</a:t>
              </a:r>
            </a:p>
          </p:txBody>
        </p:sp>
      </p:grpSp>
      <p:grpSp>
        <p:nvGrpSpPr>
          <p:cNvPr id="10" name="Group 9">
            <a:extLst>
              <a:ext uri="{FF2B5EF4-FFF2-40B4-BE49-F238E27FC236}">
                <a16:creationId xmlns:a16="http://schemas.microsoft.com/office/drawing/2014/main" id="{B040066B-0BB5-267F-A82B-16418CF78063}"/>
              </a:ext>
            </a:extLst>
          </p:cNvPr>
          <p:cNvGrpSpPr/>
          <p:nvPr/>
        </p:nvGrpSpPr>
        <p:grpSpPr>
          <a:xfrm>
            <a:off x="25156538" y="22698122"/>
            <a:ext cx="4017523" cy="2178527"/>
            <a:chOff x="25156538" y="22698122"/>
            <a:chExt cx="4017523" cy="2178527"/>
          </a:xfrm>
        </p:grpSpPr>
        <p:pic>
          <p:nvPicPr>
            <p:cNvPr id="18" name="Picture 17">
              <a:hlinkClick r:id="rId12"/>
              <a:extLst>
                <a:ext uri="{FF2B5EF4-FFF2-40B4-BE49-F238E27FC236}">
                  <a16:creationId xmlns:a16="http://schemas.microsoft.com/office/drawing/2014/main" id="{2024973B-F1E9-AADF-DAAE-A8328919CB5E}"/>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25222200" y="22698122"/>
              <a:ext cx="3886200" cy="1528445"/>
            </a:xfrm>
            <a:prstGeom prst="rect">
              <a:avLst/>
            </a:prstGeom>
            <a:noFill/>
            <a:ln>
              <a:noFill/>
            </a:ln>
          </p:spPr>
        </p:pic>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27933191-3030-0B3A-6782-F08BE4B07C16}"/>
                    </a:ext>
                  </a:extLst>
                </p:cNvPr>
                <p:cNvSpPr txBox="1"/>
                <p:nvPr/>
              </p:nvSpPr>
              <p:spPr>
                <a:xfrm>
                  <a:off x="25156538" y="24291874"/>
                  <a:ext cx="4017523" cy="584775"/>
                </a:xfrm>
                <a:prstGeom prst="rect">
                  <a:avLst/>
                </a:prstGeom>
                <a:noFill/>
              </p:spPr>
              <p:txBody>
                <a:bodyPr wrap="square" rtlCol="0">
                  <a:spAutoFit/>
                </a:bodyPr>
                <a:lstStyle/>
                <a:p>
                  <a:pPr algn="ctr"/>
                  <a:r>
                    <a:rPr lang="en-US" sz="1600" dirty="0">
                      <a:effectLst/>
                    </a:rPr>
                    <a:t>Figure 6: A network of seven nodes, source </a:t>
                  </a:r>
                  <a14:m>
                    <m:oMath xmlns:m="http://schemas.openxmlformats.org/officeDocument/2006/math">
                      <m:r>
                        <a:rPr lang="en-US" sz="1600">
                          <a:effectLst/>
                          <a:latin typeface="Cambria Math" panose="02040503050406030204" pitchFamily="18" charset="0"/>
                        </a:rPr>
                        <m:t>𝐴</m:t>
                      </m:r>
                    </m:oMath>
                  </a14:m>
                  <a:r>
                    <a:rPr lang="en-US" sz="1600" dirty="0">
                      <a:effectLst/>
                    </a:rPr>
                    <a:t>, sink </a:t>
                  </a:r>
                  <a14:m>
                    <m:oMath xmlns:m="http://schemas.openxmlformats.org/officeDocument/2006/math">
                      <m:r>
                        <a:rPr lang="en-US" sz="1600">
                          <a:effectLst/>
                          <a:latin typeface="Cambria Math" panose="02040503050406030204" pitchFamily="18" charset="0"/>
                        </a:rPr>
                        <m:t>𝐺</m:t>
                      </m:r>
                    </m:oMath>
                  </a14:m>
                  <a:r>
                    <a:rPr lang="en-US" sz="1600" dirty="0"/>
                    <a:t>, </a:t>
                  </a:r>
                  <a:r>
                    <a:rPr lang="en-US" sz="1600" dirty="0">
                      <a:effectLst/>
                    </a:rPr>
                    <a:t>with flow/capacities </a:t>
                  </a:r>
                  <a14:m>
                    <m:oMath xmlns:m="http://schemas.openxmlformats.org/officeDocument/2006/math">
                      <m:r>
                        <a:rPr lang="en-US" sz="1600">
                          <a:effectLst/>
                          <a:latin typeface="Cambria Math" panose="02040503050406030204" pitchFamily="18" charset="0"/>
                        </a:rPr>
                        <m:t>𝑓</m:t>
                      </m:r>
                      <m:r>
                        <a:rPr lang="en-US" sz="1600">
                          <a:effectLst/>
                          <a:latin typeface="Cambria Math" panose="02040503050406030204" pitchFamily="18" charset="0"/>
                        </a:rPr>
                        <m:t>/</m:t>
                      </m:r>
                      <m:r>
                        <a:rPr lang="en-US" sz="1600">
                          <a:effectLst/>
                          <a:latin typeface="Cambria Math" panose="02040503050406030204" pitchFamily="18" charset="0"/>
                        </a:rPr>
                        <m:t>𝑢</m:t>
                      </m:r>
                    </m:oMath>
                  </a14:m>
                  <a:r>
                    <a:rPr lang="en-US" sz="1600" dirty="0">
                      <a:effectLst/>
                    </a:rPr>
                    <a:t> </a:t>
                  </a:r>
                  <a:endParaRPr lang="en-US" sz="1600" dirty="0"/>
                </a:p>
              </p:txBody>
            </p:sp>
          </mc:Choice>
          <mc:Fallback>
            <p:sp>
              <p:nvSpPr>
                <p:cNvPr id="40" name="TextBox 39">
                  <a:extLst>
                    <a:ext uri="{FF2B5EF4-FFF2-40B4-BE49-F238E27FC236}">
                      <a16:creationId xmlns:a16="http://schemas.microsoft.com/office/drawing/2014/main" id="{27933191-3030-0B3A-6782-F08BE4B07C16}"/>
                    </a:ext>
                  </a:extLst>
                </p:cNvPr>
                <p:cNvSpPr txBox="1">
                  <a:spLocks noRot="1" noChangeAspect="1" noMove="1" noResize="1" noEditPoints="1" noAdjustHandles="1" noChangeArrowheads="1" noChangeShapeType="1" noTextEdit="1"/>
                </p:cNvSpPr>
                <p:nvPr/>
              </p:nvSpPr>
              <p:spPr>
                <a:xfrm>
                  <a:off x="25156538" y="24291874"/>
                  <a:ext cx="4017523" cy="584775"/>
                </a:xfrm>
                <a:prstGeom prst="rect">
                  <a:avLst/>
                </a:prstGeom>
                <a:blipFill>
                  <a:blip r:embed="rId14"/>
                  <a:stretch>
                    <a:fillRect t="-3125" r="-1062" b="-16667"/>
                  </a:stretch>
                </a:blipFill>
              </p:spPr>
              <p:txBody>
                <a:bodyPr/>
                <a:lstStyle/>
                <a:p>
                  <a:r>
                    <a:rPr lang="en-US">
                      <a:noFill/>
                    </a:rPr>
                    <a:t> </a:t>
                  </a:r>
                </a:p>
              </p:txBody>
            </p:sp>
          </mc:Fallback>
        </mc:AlternateContent>
      </p:grpSp>
      <p:grpSp>
        <p:nvGrpSpPr>
          <p:cNvPr id="13" name="Group 12">
            <a:extLst>
              <a:ext uri="{FF2B5EF4-FFF2-40B4-BE49-F238E27FC236}">
                <a16:creationId xmlns:a16="http://schemas.microsoft.com/office/drawing/2014/main" id="{8C1B4CE8-1892-40D4-E275-7C2BC5497B14}"/>
              </a:ext>
            </a:extLst>
          </p:cNvPr>
          <p:cNvGrpSpPr/>
          <p:nvPr/>
        </p:nvGrpSpPr>
        <p:grpSpPr>
          <a:xfrm>
            <a:off x="34135120" y="10350889"/>
            <a:ext cx="3662127" cy="2704351"/>
            <a:chOff x="34135120" y="10350889"/>
            <a:chExt cx="3662127" cy="2704351"/>
          </a:xfrm>
        </p:grpSpPr>
        <p:pic>
          <p:nvPicPr>
            <p:cNvPr id="49" name="Picture 48">
              <a:extLst>
                <a:ext uri="{FF2B5EF4-FFF2-40B4-BE49-F238E27FC236}">
                  <a16:creationId xmlns:a16="http://schemas.microsoft.com/office/drawing/2014/main" id="{65FA4771-261C-F6AD-91BA-094976E91548}"/>
                </a:ext>
              </a:extLst>
            </p:cNvPr>
            <p:cNvPicPr>
              <a:picLocks noChangeAspect="1"/>
            </p:cNvPicPr>
            <p:nvPr/>
          </p:nvPicPr>
          <p:blipFill rotWithShape="1">
            <a:blip r:embed="rId15">
              <a:extLst>
                <a:ext uri="{28A0092B-C50C-407E-A947-70E740481C1C}">
                  <a14:useLocalDpi xmlns:a14="http://schemas.microsoft.com/office/drawing/2010/main" val="0"/>
                </a:ext>
              </a:extLst>
            </a:blip>
            <a:srcRect b="11047"/>
            <a:stretch>
              <a:fillRect/>
            </a:stretch>
          </p:blipFill>
          <p:spPr bwMode="auto">
            <a:xfrm>
              <a:off x="34143436" y="10350889"/>
              <a:ext cx="3653811" cy="2018320"/>
            </a:xfrm>
            <a:prstGeom prst="rect">
              <a:avLst/>
            </a:prstGeom>
            <a:ln>
              <a:noFill/>
            </a:ln>
            <a:extLst>
              <a:ext uri="{53640926-AAD7-44D8-BBD7-CCE9431645EC}">
                <a14:shadowObscured xmlns:a14="http://schemas.microsoft.com/office/drawing/2010/main"/>
              </a:ext>
            </a:extLst>
          </p:spPr>
        </p:pic>
        <p:sp>
          <p:nvSpPr>
            <p:cNvPr id="50" name="TextBox 49">
              <a:extLst>
                <a:ext uri="{FF2B5EF4-FFF2-40B4-BE49-F238E27FC236}">
                  <a16:creationId xmlns:a16="http://schemas.microsoft.com/office/drawing/2014/main" id="{67E0A729-4617-33E1-9D5D-4EC656AAA624}"/>
                </a:ext>
              </a:extLst>
            </p:cNvPr>
            <p:cNvSpPr txBox="1"/>
            <p:nvPr/>
          </p:nvSpPr>
          <p:spPr>
            <a:xfrm>
              <a:off x="34135120" y="12470465"/>
              <a:ext cx="3653812" cy="584775"/>
            </a:xfrm>
            <a:prstGeom prst="rect">
              <a:avLst/>
            </a:prstGeom>
            <a:noFill/>
          </p:spPr>
          <p:txBody>
            <a:bodyPr wrap="square" rtlCol="0">
              <a:spAutoFit/>
            </a:bodyPr>
            <a:lstStyle/>
            <a:p>
              <a:pPr algn="ctr"/>
              <a:r>
                <a:rPr lang="en-US" sz="1600" dirty="0">
                  <a:effectLst/>
                </a:rPr>
                <a:t>Figure 8: Electrical network  model with capacities (MW)</a:t>
              </a:r>
            </a:p>
          </p:txBody>
        </p:sp>
      </p:grpSp>
      <p:grpSp>
        <p:nvGrpSpPr>
          <p:cNvPr id="16" name="Group 15">
            <a:extLst>
              <a:ext uri="{FF2B5EF4-FFF2-40B4-BE49-F238E27FC236}">
                <a16:creationId xmlns:a16="http://schemas.microsoft.com/office/drawing/2014/main" id="{40AA49C9-71E2-19B4-BCF9-B1A6589ACED3}"/>
              </a:ext>
            </a:extLst>
          </p:cNvPr>
          <p:cNvGrpSpPr/>
          <p:nvPr/>
        </p:nvGrpSpPr>
        <p:grpSpPr>
          <a:xfrm>
            <a:off x="38089664" y="10372660"/>
            <a:ext cx="3892907" cy="2855590"/>
            <a:chOff x="38089664" y="10372660"/>
            <a:chExt cx="3892907" cy="2855590"/>
          </a:xfrm>
        </p:grpSpPr>
        <p:pic>
          <p:nvPicPr>
            <p:cNvPr id="22" name="Picture 21">
              <a:extLst>
                <a:ext uri="{FF2B5EF4-FFF2-40B4-BE49-F238E27FC236}">
                  <a16:creationId xmlns:a16="http://schemas.microsoft.com/office/drawing/2014/main" id="{F4D75D6C-0BA3-0D19-8C78-4746086AF193}"/>
                </a:ext>
              </a:extLst>
            </p:cNvPr>
            <p:cNvPicPr>
              <a:picLocks noChangeAspect="1"/>
            </p:cNvPicPr>
            <p:nvPr/>
          </p:nvPicPr>
          <p:blipFill rotWithShape="1">
            <a:blip r:embed="rId16">
              <a:extLst>
                <a:ext uri="{28A0092B-C50C-407E-A947-70E740481C1C}">
                  <a14:useLocalDpi xmlns:a14="http://schemas.microsoft.com/office/drawing/2010/main" val="0"/>
                </a:ext>
              </a:extLst>
            </a:blip>
            <a:srcRect l="4575" t="4627" b="8415"/>
            <a:stretch>
              <a:fillRect/>
            </a:stretch>
          </p:blipFill>
          <p:spPr bwMode="auto">
            <a:xfrm>
              <a:off x="38089664" y="10372660"/>
              <a:ext cx="3892907" cy="2063769"/>
            </a:xfrm>
            <a:prstGeom prst="rect">
              <a:avLst/>
            </a:prstGeom>
            <a:ln>
              <a:noFill/>
            </a:ln>
            <a:extLst>
              <a:ext uri="{53640926-AAD7-44D8-BBD7-CCE9431645EC}">
                <a14:shadowObscured xmlns:a14="http://schemas.microsoft.com/office/drawing/2010/main"/>
              </a:ext>
            </a:extLst>
          </p:spPr>
        </p:pic>
        <p:sp>
          <p:nvSpPr>
            <p:cNvPr id="51" name="TextBox 50">
              <a:extLst>
                <a:ext uri="{FF2B5EF4-FFF2-40B4-BE49-F238E27FC236}">
                  <a16:creationId xmlns:a16="http://schemas.microsoft.com/office/drawing/2014/main" id="{917A5ABA-CC05-7F7C-B999-EA99070B7972}"/>
                </a:ext>
              </a:extLst>
            </p:cNvPr>
            <p:cNvSpPr txBox="1"/>
            <p:nvPr/>
          </p:nvSpPr>
          <p:spPr>
            <a:xfrm>
              <a:off x="38089664" y="12397253"/>
              <a:ext cx="3653812" cy="830997"/>
            </a:xfrm>
            <a:prstGeom prst="rect">
              <a:avLst/>
            </a:prstGeom>
            <a:noFill/>
          </p:spPr>
          <p:txBody>
            <a:bodyPr wrap="square" rtlCol="0">
              <a:spAutoFit/>
            </a:bodyPr>
            <a:lstStyle/>
            <a:p>
              <a:pPr algn="ctr"/>
              <a:r>
                <a:rPr lang="en-US" sz="1600" dirty="0">
                  <a:effectLst/>
                </a:rPr>
                <a:t>Figure 9</a:t>
              </a:r>
              <a:r>
                <a:rPr lang="en-US" sz="1600" b="1" dirty="0">
                  <a:effectLst/>
                </a:rPr>
                <a:t> </a:t>
              </a:r>
              <a:r>
                <a:rPr lang="en-US" sz="1600" dirty="0">
                  <a:effectLst/>
                </a:rPr>
                <a:t>Graph Network Model with capacities (MW)</a:t>
              </a:r>
            </a:p>
            <a:p>
              <a:pPr algn="ctr"/>
              <a:endParaRPr lang="en-US" sz="1600" dirty="0">
                <a:effectLst/>
              </a:endParaRPr>
            </a:p>
          </p:txBody>
        </p:sp>
      </p:grpSp>
      <p:sp>
        <p:nvSpPr>
          <p:cNvPr id="52" name="Rectangle 51">
            <a:extLst>
              <a:ext uri="{FF2B5EF4-FFF2-40B4-BE49-F238E27FC236}">
                <a16:creationId xmlns:a16="http://schemas.microsoft.com/office/drawing/2014/main" id="{29721A01-47DC-93E7-38E9-4CD3AA5B8207}"/>
              </a:ext>
            </a:extLst>
          </p:cNvPr>
          <p:cNvSpPr/>
          <p:nvPr/>
        </p:nvSpPr>
        <p:spPr>
          <a:xfrm>
            <a:off x="33144541" y="20591367"/>
            <a:ext cx="10058400" cy="62696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dirty="0">
              <a:latin typeface="+mj-lt"/>
            </a:endParaRPr>
          </a:p>
        </p:txBody>
      </p:sp>
      <p:sp>
        <p:nvSpPr>
          <p:cNvPr id="53" name="TextBox 19">
            <a:extLst>
              <a:ext uri="{FF2B5EF4-FFF2-40B4-BE49-F238E27FC236}">
                <a16:creationId xmlns:a16="http://schemas.microsoft.com/office/drawing/2014/main" id="{60C2B8FE-ED6A-1C53-57F0-8894697F7EB4}"/>
              </a:ext>
            </a:extLst>
          </p:cNvPr>
          <p:cNvSpPr txBox="1">
            <a:spLocks noChangeArrowheads="1"/>
          </p:cNvSpPr>
          <p:nvPr/>
        </p:nvSpPr>
        <p:spPr bwMode="auto">
          <a:xfrm>
            <a:off x="33294205" y="20987910"/>
            <a:ext cx="9598176" cy="5632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r>
              <a:rPr lang="en-US" sz="2400" dirty="0">
                <a:effectLst/>
                <a:latin typeface="+mj-lt"/>
              </a:rPr>
              <a:t>This project focused on applying maximum flow algorithms to a simplified electrical network consisting of a power source, substations, and multiple load nodes. The network was modeled as a directed graph with capacity constraints on each transmission line. A super-sink was introduced to unify the loads into a single destination, enabling the use of standard flow algorithms. The Edmonds–Karp algorithm was used to determine the maximum power that can be transmitted through the network. The process involved identifying augmenting paths using breadth-first search, calculating bottleneck capacities, and updating the residual graph iteratively. Manual calculations were performed to illustrate each step, and the results were verified using MATLAB. The final outcome showed that the maximum achievable power flow is 70 MW, constrained by the capacities of specific transmission paths. The project demonstrates how graph-based optimization techniques can be used to analyze and improve electrical systems, providing a foundation for more advanced applications in power engineering.</a:t>
            </a:r>
          </a:p>
        </p:txBody>
      </p:sp>
      <p:sp>
        <p:nvSpPr>
          <p:cNvPr id="54" name="Rectangle 10">
            <a:extLst>
              <a:ext uri="{FF2B5EF4-FFF2-40B4-BE49-F238E27FC236}">
                <a16:creationId xmlns:a16="http://schemas.microsoft.com/office/drawing/2014/main" id="{BE4C6132-B2BC-076C-0063-D5FFD1AAD6D4}"/>
              </a:ext>
            </a:extLst>
          </p:cNvPr>
          <p:cNvSpPr>
            <a:spLocks noChangeArrowheads="1"/>
          </p:cNvSpPr>
          <p:nvPr/>
        </p:nvSpPr>
        <p:spPr bwMode="auto">
          <a:xfrm>
            <a:off x="33144541" y="20061689"/>
            <a:ext cx="10058400" cy="873301"/>
          </a:xfrm>
          <a:prstGeom prst="snipRoundRect">
            <a:avLst>
              <a:gd name="adj1" fmla="val 0"/>
              <a:gd name="adj2" fmla="val 50000"/>
            </a:avLst>
          </a:prstGeom>
          <a:solidFill>
            <a:schemeClr val="bg2">
              <a:lumMod val="75000"/>
            </a:schemeClr>
          </a:solidFill>
          <a:ln w="12700">
            <a:noFill/>
            <a:miter lim="800000"/>
          </a:ln>
        </p:spPr>
        <p:txBody>
          <a:bodyPr wrap="none" lIns="274320" tIns="73152" rIns="274320" bIns="68563" anchor="ctr" anchorCtr="0"/>
          <a:lstStyle>
            <a:defPPr>
              <a:defRPr kern="1200"/>
            </a:defPPr>
          </a:lstStyle>
          <a:p>
            <a:pPr defTabSz="4702588">
              <a:defRPr/>
            </a:pPr>
            <a:r>
              <a:rPr lang="en-US" sz="3600" b="1" dirty="0">
                <a:solidFill>
                  <a:schemeClr val="bg1"/>
                </a:solidFill>
                <a:effectLst/>
                <a:latin typeface="Quattrocento" panose="02020802030000000404" pitchFamily="18" charset="0"/>
              </a:rPr>
              <a:t>Conclusion</a:t>
            </a:r>
          </a:p>
        </p:txBody>
      </p:sp>
      <p:grpSp>
        <p:nvGrpSpPr>
          <p:cNvPr id="11" name="Group 10">
            <a:extLst>
              <a:ext uri="{FF2B5EF4-FFF2-40B4-BE49-F238E27FC236}">
                <a16:creationId xmlns:a16="http://schemas.microsoft.com/office/drawing/2014/main" id="{72F10015-4D6F-4B0C-8833-350C014EA719}"/>
              </a:ext>
            </a:extLst>
          </p:cNvPr>
          <p:cNvGrpSpPr/>
          <p:nvPr/>
        </p:nvGrpSpPr>
        <p:grpSpPr>
          <a:xfrm>
            <a:off x="22774194" y="24993600"/>
            <a:ext cx="9145905" cy="2161446"/>
            <a:chOff x="22774194" y="24993600"/>
            <a:chExt cx="9145905" cy="2161446"/>
          </a:xfrm>
        </p:grpSpPr>
        <p:grpSp>
          <p:nvGrpSpPr>
            <p:cNvPr id="35" name="Group 34">
              <a:extLst>
                <a:ext uri="{FF2B5EF4-FFF2-40B4-BE49-F238E27FC236}">
                  <a16:creationId xmlns:a16="http://schemas.microsoft.com/office/drawing/2014/main" id="{005DD343-B8DD-130C-1D0C-1EB542DB7E27}"/>
                </a:ext>
              </a:extLst>
            </p:cNvPr>
            <p:cNvGrpSpPr/>
            <p:nvPr/>
          </p:nvGrpSpPr>
          <p:grpSpPr>
            <a:xfrm>
              <a:off x="22774194" y="24993600"/>
              <a:ext cx="9145905" cy="1641274"/>
              <a:chOff x="0" y="0"/>
              <a:chExt cx="7135005" cy="1115910"/>
            </a:xfrm>
          </p:grpSpPr>
          <p:pic>
            <p:nvPicPr>
              <p:cNvPr id="36" name="Picture 35">
                <a:extLst>
                  <a:ext uri="{FF2B5EF4-FFF2-40B4-BE49-F238E27FC236}">
                    <a16:creationId xmlns:a16="http://schemas.microsoft.com/office/drawing/2014/main" id="{278BF1BC-7521-A2D2-EA87-D34DD9984226}"/>
                  </a:ext>
                </a:extLst>
              </p:cNvPr>
              <p:cNvPicPr>
                <a:picLocks noChangeAspect="1"/>
              </p:cNvPicPr>
              <p:nvPr/>
            </p:nvPicPr>
            <p:blipFill rotWithShape="1">
              <a:blip r:embed="rId17">
                <a:extLst>
                  <a:ext uri="{28A0092B-C50C-407E-A947-70E740481C1C}">
                    <a14:useLocalDpi xmlns:a14="http://schemas.microsoft.com/office/drawing/2010/main" val="0"/>
                  </a:ext>
                </a:extLst>
              </a:blip>
              <a:srcRect l="69916" b="61959"/>
              <a:stretch>
                <a:fillRect/>
              </a:stretch>
            </p:blipFill>
            <p:spPr bwMode="auto">
              <a:xfrm>
                <a:off x="0" y="0"/>
                <a:ext cx="1786890" cy="1115695"/>
              </a:xfrm>
              <a:prstGeom prst="rect">
                <a:avLst/>
              </a:prstGeom>
              <a:ln>
                <a:noFill/>
              </a:ln>
              <a:extLst>
                <a:ext uri="{53640926-AAD7-44D8-BBD7-CCE9431645EC}">
                  <a14:shadowObscured xmlns:a14="http://schemas.microsoft.com/office/drawing/2010/main"/>
                </a:ext>
              </a:extLst>
            </p:spPr>
          </p:pic>
          <p:pic>
            <p:nvPicPr>
              <p:cNvPr id="37" name="Picture 36">
                <a:extLst>
                  <a:ext uri="{FF2B5EF4-FFF2-40B4-BE49-F238E27FC236}">
                    <a16:creationId xmlns:a16="http://schemas.microsoft.com/office/drawing/2014/main" id="{DEB7E8BB-1249-2E18-68BF-FB09521BEFB9}"/>
                  </a:ext>
                </a:extLst>
              </p:cNvPr>
              <p:cNvPicPr>
                <a:picLocks noChangeAspect="1"/>
              </p:cNvPicPr>
              <p:nvPr/>
            </p:nvPicPr>
            <p:blipFill rotWithShape="1">
              <a:blip r:embed="rId18">
                <a:extLst>
                  <a:ext uri="{28A0092B-C50C-407E-A947-70E740481C1C}">
                    <a14:useLocalDpi xmlns:a14="http://schemas.microsoft.com/office/drawing/2010/main" val="0"/>
                  </a:ext>
                </a:extLst>
              </a:blip>
              <a:srcRect l="69919" t="759" r="-108" b="-759"/>
              <a:stretch>
                <a:fillRect/>
              </a:stretch>
            </p:blipFill>
            <p:spPr>
              <a:xfrm>
                <a:off x="5342400" y="36000"/>
                <a:ext cx="1792605" cy="1014730"/>
              </a:xfrm>
              <a:prstGeom prst="rect">
                <a:avLst/>
              </a:prstGeom>
            </p:spPr>
          </p:pic>
          <p:pic>
            <p:nvPicPr>
              <p:cNvPr id="38" name="Picture 37">
                <a:extLst>
                  <a:ext uri="{FF2B5EF4-FFF2-40B4-BE49-F238E27FC236}">
                    <a16:creationId xmlns:a16="http://schemas.microsoft.com/office/drawing/2014/main" id="{2833167D-8607-A0BB-6584-5FF5DC35239D}"/>
                  </a:ext>
                </a:extLst>
              </p:cNvPr>
              <p:cNvPicPr>
                <a:picLocks noChangeAspect="1"/>
              </p:cNvPicPr>
              <p:nvPr/>
            </p:nvPicPr>
            <p:blipFill rotWithShape="1">
              <a:blip r:embed="rId17">
                <a:extLst>
                  <a:ext uri="{28A0092B-C50C-407E-A947-70E740481C1C}">
                    <a14:useLocalDpi xmlns:a14="http://schemas.microsoft.com/office/drawing/2010/main" val="0"/>
                  </a:ext>
                </a:extLst>
              </a:blip>
              <a:srcRect l="69916" t="38282" r="5" b="30581"/>
              <a:stretch>
                <a:fillRect/>
              </a:stretch>
            </p:blipFill>
            <p:spPr>
              <a:xfrm>
                <a:off x="1771200" y="7200"/>
                <a:ext cx="1786255" cy="1108710"/>
              </a:xfrm>
              <a:prstGeom prst="rect">
                <a:avLst/>
              </a:prstGeom>
            </p:spPr>
          </p:pic>
          <p:pic>
            <p:nvPicPr>
              <p:cNvPr id="39" name="Picture 38">
                <a:extLst>
                  <a:ext uri="{FF2B5EF4-FFF2-40B4-BE49-F238E27FC236}">
                    <a16:creationId xmlns:a16="http://schemas.microsoft.com/office/drawing/2014/main" id="{98223996-195F-3FAD-1600-333852C264FC}"/>
                  </a:ext>
                </a:extLst>
              </p:cNvPr>
              <p:cNvPicPr>
                <a:picLocks noChangeAspect="1"/>
              </p:cNvPicPr>
              <p:nvPr/>
            </p:nvPicPr>
            <p:blipFill rotWithShape="1">
              <a:blip r:embed="rId17">
                <a:extLst>
                  <a:ext uri="{28A0092B-C50C-407E-A947-70E740481C1C}">
                    <a14:useLocalDpi xmlns:a14="http://schemas.microsoft.com/office/drawing/2010/main" val="0"/>
                  </a:ext>
                </a:extLst>
              </a:blip>
              <a:srcRect l="69916" t="69910"/>
              <a:stretch>
                <a:fillRect/>
              </a:stretch>
            </p:blipFill>
            <p:spPr bwMode="auto">
              <a:xfrm>
                <a:off x="3556800" y="14400"/>
                <a:ext cx="1787525" cy="1065530"/>
              </a:xfrm>
              <a:prstGeom prst="rect">
                <a:avLst/>
              </a:prstGeom>
              <a:ln>
                <a:noFill/>
              </a:ln>
              <a:extLst>
                <a:ext uri="{53640926-AAD7-44D8-BBD7-CCE9431645EC}">
                  <a14:shadowObscured xmlns:a14="http://schemas.microsoft.com/office/drawing/2010/main"/>
                </a:ext>
              </a:extLst>
            </p:spPr>
          </p:pic>
        </p:grpSp>
        <p:sp>
          <p:nvSpPr>
            <p:cNvPr id="5" name="TextBox 4">
              <a:extLst>
                <a:ext uri="{FF2B5EF4-FFF2-40B4-BE49-F238E27FC236}">
                  <a16:creationId xmlns:a16="http://schemas.microsoft.com/office/drawing/2014/main" id="{28C8D112-96DB-6053-7C25-83F73007BE9D}"/>
                </a:ext>
              </a:extLst>
            </p:cNvPr>
            <p:cNvSpPr txBox="1"/>
            <p:nvPr/>
          </p:nvSpPr>
          <p:spPr>
            <a:xfrm>
              <a:off x="24688800" y="26816492"/>
              <a:ext cx="5410200" cy="338554"/>
            </a:xfrm>
            <a:prstGeom prst="rect">
              <a:avLst/>
            </a:prstGeom>
            <a:noFill/>
          </p:spPr>
          <p:txBody>
            <a:bodyPr wrap="square" rtlCol="0">
              <a:spAutoFit/>
            </a:bodyPr>
            <a:lstStyle/>
            <a:p>
              <a:pPr algn="ctr"/>
              <a:r>
                <a:rPr lang="en-US" sz="1600" dirty="0">
                  <a:effectLst/>
                </a:rPr>
                <a:t>Figure 7: Edmond Karp Algorithm is  applied on the network.</a:t>
              </a:r>
              <a:endParaRPr lang="en-US" sz="1600" dirty="0"/>
            </a:p>
          </p:txBody>
        </p:sp>
      </p:gr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onderingpeacock|08-2022"/>
</p:tagLst>
</file>

<file path=ppt/theme/theme1.xml><?xml version="1.0" encoding="utf-8"?>
<a:theme xmlns:a="http://schemas.openxmlformats.org/drawingml/2006/main" name="Default Desig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Default Design">
      <a:majorFont>
        <a:latin typeface="Times New Roman"/>
        <a:ea typeface="Arial"/>
        <a:cs typeface="Arial"/>
      </a:majorFont>
      <a:minorFont>
        <a:latin typeface="Times New Roman"/>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2253</TotalTime>
  <Words>2518</Words>
  <Application>Microsoft Office PowerPoint</Application>
  <PresentationFormat>Custom</PresentationFormat>
  <Paragraphs>147</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Times New Roman</vt:lpstr>
      <vt:lpstr>Cambria Math</vt:lpstr>
      <vt:lpstr>Quattrocento Sans</vt:lpstr>
      <vt:lpstr>Arial</vt:lpstr>
      <vt:lpstr>Quattrocento</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 for a scientific poster</dc:title>
  <dc:subject>Free Poster Presentation Example</dc:subject>
  <dc:creator>Graphicsland/MakeSigns.com</dc:creator>
  <cp:keywords>scientific, research, template, custom, poster, presentation, symposium, printing, PowerPoint, create, design, example, sample, download</cp:keywords>
  <dc:description>This is a free template from MakeSigns.com to help you create the perfect scientific poster.</dc:description>
  <cp:lastModifiedBy>Amdored, Khadija</cp:lastModifiedBy>
  <cp:revision>102</cp:revision>
  <cp:lastPrinted>2000-08-03T00:31:24Z</cp:lastPrinted>
  <dcterms:modified xsi:type="dcterms:W3CDTF">2026-05-01T20:41:29Z</dcterms:modified>
  <cp:category>research posters template</cp:category>
</cp:coreProperties>
</file>